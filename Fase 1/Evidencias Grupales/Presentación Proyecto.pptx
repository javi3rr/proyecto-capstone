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4" d="100"/>
          <a:sy n="124" d="100"/>
        </p:scale>
        <p:origin x="122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5765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2EC"/>
        </a:solidFill>
        <a:effectLst/>
      </p:bgPr>
    </p:bg>
    <p:spTree>
      <p:nvGrpSpPr>
        <p:cNvPr id="1" name=""/>
        <p:cNvGrpSpPr/>
        <p:nvPr/>
      </p:nvGrpSpPr>
      <p:grpSpPr>
        <a:xfrm>
          <a:off x="0" y="0"/>
          <a:ext cx="0" cy="0"/>
          <a:chOff x="0" y="0"/>
          <a:chExt cx="0" cy="0"/>
        </a:xfrm>
      </p:grpSpPr>
      <p:pic>
        <p:nvPicPr>
          <p:cNvPr id="2" name="Image 0" descr="/mnt/data/ppt_media/ppt/media/image2.png"/>
          <p:cNvPicPr>
            <a:picLocks noChangeAspect="1"/>
          </p:cNvPicPr>
          <p:nvPr/>
        </p:nvPicPr>
        <p:blipFill>
          <a:blip r:embed="rId3"/>
          <a:srcRect r="20037"/>
          <a:stretch/>
        </p:blipFill>
        <p:spPr>
          <a:xfrm>
            <a:off x="5486400" y="0"/>
            <a:ext cx="3657600" cy="6858000"/>
          </a:xfrm>
          <a:prstGeom prst="rect">
            <a:avLst/>
          </a:prstGeom>
        </p:spPr>
      </p:pic>
      <p:sp>
        <p:nvSpPr>
          <p:cNvPr id="3" name="Shape 0"/>
          <p:cNvSpPr/>
          <p:nvPr/>
        </p:nvSpPr>
        <p:spPr>
          <a:xfrm>
            <a:off x="548640" y="658368"/>
            <a:ext cx="2011680" cy="274320"/>
          </a:xfrm>
          <a:prstGeom prst="roundRect">
            <a:avLst>
              <a:gd name="adj" fmla="val 26667"/>
            </a:avLst>
          </a:prstGeom>
          <a:solidFill>
            <a:srgbClr val="482816"/>
          </a:solidFill>
          <a:ln w="12700">
            <a:solidFill>
              <a:srgbClr val="482816"/>
            </a:solidFill>
            <a:prstDash val="solid"/>
          </a:ln>
        </p:spPr>
        <p:txBody>
          <a:bodyPr/>
          <a:lstStyle/>
          <a:p>
            <a:endParaRPr lang="es-MX" b="1"/>
          </a:p>
        </p:txBody>
      </p:sp>
      <p:sp>
        <p:nvSpPr>
          <p:cNvPr id="4" name="Text 1"/>
          <p:cNvSpPr/>
          <p:nvPr/>
        </p:nvSpPr>
        <p:spPr>
          <a:xfrm>
            <a:off x="603504" y="708660"/>
            <a:ext cx="1901952" cy="201168"/>
          </a:xfrm>
          <a:prstGeom prst="rect">
            <a:avLst/>
          </a:prstGeom>
          <a:noFill/>
          <a:ln/>
        </p:spPr>
        <p:txBody>
          <a:bodyPr wrap="square" lIns="1016" tIns="1016" rIns="1016" bIns="1016" rtlCol="0" anchor="t">
            <a:normAutofit/>
          </a:bodyPr>
          <a:lstStyle/>
          <a:p>
            <a:pPr marL="0" indent="0" algn="ctr">
              <a:buNone/>
            </a:pPr>
            <a:r>
              <a:rPr lang="en-US" sz="850" b="1" dirty="0">
                <a:solidFill>
                  <a:srgbClr val="FFFFFF"/>
                </a:solidFill>
                <a:latin typeface="Aptos" pitchFamily="34" charset="0"/>
                <a:ea typeface="Aptos" pitchFamily="34" charset="-122"/>
                <a:cs typeface="Aptos" pitchFamily="34" charset="-120"/>
              </a:rPr>
              <a:t>Proyecto Capstone · Fase 1</a:t>
            </a:r>
            <a:endParaRPr lang="en-US" sz="850" b="1" dirty="0"/>
          </a:p>
        </p:txBody>
      </p:sp>
      <p:sp>
        <p:nvSpPr>
          <p:cNvPr id="5" name="Text 2"/>
          <p:cNvSpPr/>
          <p:nvPr/>
        </p:nvSpPr>
        <p:spPr>
          <a:xfrm>
            <a:off x="548640" y="2057400"/>
            <a:ext cx="4572000" cy="1325880"/>
          </a:xfrm>
          <a:prstGeom prst="rect">
            <a:avLst/>
          </a:prstGeom>
          <a:noFill/>
          <a:ln/>
        </p:spPr>
        <p:txBody>
          <a:bodyPr wrap="square" lIns="1016" tIns="1016" rIns="1016" bIns="1016" rtlCol="0" anchor="t">
            <a:normAutofit/>
          </a:bodyPr>
          <a:lstStyle/>
          <a:p>
            <a:pPr marL="0" indent="0" algn="l">
              <a:buNone/>
            </a:pPr>
            <a:r>
              <a:rPr lang="en-US" sz="3100" b="1" dirty="0">
                <a:solidFill>
                  <a:srgbClr val="25211E"/>
                </a:solidFill>
                <a:latin typeface="Aptos Display" pitchFamily="34" charset="0"/>
                <a:ea typeface="Aptos Display" pitchFamily="34" charset="-122"/>
                <a:cs typeface="Aptos Display" pitchFamily="34" charset="-120"/>
              </a:rPr>
              <a:t>Control y trazabilidad de</a:t>
            </a:r>
            <a:endParaRPr lang="en-US" sz="3100" b="1" dirty="0"/>
          </a:p>
          <a:p>
            <a:pPr marL="0" indent="0" algn="l">
              <a:buNone/>
            </a:pPr>
            <a:r>
              <a:rPr lang="en-US" sz="3100" b="1" dirty="0">
                <a:solidFill>
                  <a:srgbClr val="25211E"/>
                </a:solidFill>
                <a:latin typeface="Aptos Display" pitchFamily="34" charset="0"/>
                <a:ea typeface="Aptos Display" pitchFamily="34" charset="-122"/>
                <a:cs typeface="Aptos Display" pitchFamily="34" charset="-120"/>
              </a:rPr>
              <a:t>mercadería en panadería</a:t>
            </a:r>
            <a:endParaRPr lang="en-US" sz="3100" b="1" dirty="0"/>
          </a:p>
        </p:txBody>
      </p:sp>
      <p:sp>
        <p:nvSpPr>
          <p:cNvPr id="6" name="Text 3"/>
          <p:cNvSpPr/>
          <p:nvPr/>
        </p:nvSpPr>
        <p:spPr>
          <a:xfrm>
            <a:off x="566928" y="3529584"/>
            <a:ext cx="4206240" cy="301752"/>
          </a:xfrm>
          <a:prstGeom prst="rect">
            <a:avLst/>
          </a:prstGeom>
          <a:noFill/>
          <a:ln/>
        </p:spPr>
        <p:txBody>
          <a:bodyPr wrap="square" lIns="1016" tIns="1016" rIns="1016" bIns="1016" rtlCol="0" anchor="t">
            <a:normAutofit/>
          </a:bodyPr>
          <a:lstStyle/>
          <a:p>
            <a:pPr marL="0" indent="0" algn="l">
              <a:buNone/>
            </a:pPr>
            <a:r>
              <a:rPr lang="en-US" sz="1400" b="1" i="1" dirty="0">
                <a:solidFill>
                  <a:srgbClr val="635950"/>
                </a:solidFill>
                <a:latin typeface="Aptos" pitchFamily="34" charset="0"/>
                <a:ea typeface="Aptos" pitchFamily="34" charset="-122"/>
                <a:cs typeface="Aptos" pitchFamily="34" charset="-120"/>
              </a:rPr>
              <a:t> Opportunity Canvas</a:t>
            </a:r>
            <a:endParaRPr lang="en-US" sz="1400" b="1" dirty="0"/>
          </a:p>
        </p:txBody>
      </p:sp>
      <p:sp>
        <p:nvSpPr>
          <p:cNvPr id="7" name="Text 4"/>
          <p:cNvSpPr/>
          <p:nvPr/>
        </p:nvSpPr>
        <p:spPr>
          <a:xfrm>
            <a:off x="566928" y="3913632"/>
            <a:ext cx="4480560" cy="274320"/>
          </a:xfrm>
          <a:prstGeom prst="rect">
            <a:avLst/>
          </a:prstGeom>
          <a:noFill/>
          <a:ln/>
        </p:spPr>
        <p:txBody>
          <a:bodyPr wrap="square" lIns="1016" tIns="1016" rIns="1016" bIns="1016" rtlCol="0" anchor="t">
            <a:normAutofit/>
          </a:bodyPr>
          <a:lstStyle/>
          <a:p>
            <a:pPr marL="0" indent="0" algn="l">
              <a:buNone/>
            </a:pPr>
            <a:r>
              <a:rPr lang="en-US" sz="1200" b="1" dirty="0">
                <a:solidFill>
                  <a:srgbClr val="635950"/>
                </a:solidFill>
                <a:latin typeface="Aptos" pitchFamily="34" charset="0"/>
                <a:ea typeface="Aptos" pitchFamily="34" charset="-122"/>
                <a:cs typeface="Aptos" pitchFamily="34" charset="-120"/>
              </a:rPr>
              <a:t>Mauricio Ortega · Javier Molina · Pablo Gonzalez</a:t>
            </a:r>
            <a:endParaRPr lang="en-US" sz="1200" b="1" dirty="0"/>
          </a:p>
        </p:txBody>
      </p:sp>
      <p:sp>
        <p:nvSpPr>
          <p:cNvPr id="8" name="Text 5"/>
          <p:cNvSpPr/>
          <p:nvPr/>
        </p:nvSpPr>
        <p:spPr>
          <a:xfrm>
            <a:off x="566928" y="4224528"/>
            <a:ext cx="4389120" cy="274320"/>
          </a:xfrm>
          <a:prstGeom prst="rect">
            <a:avLst/>
          </a:prstGeom>
          <a:noFill/>
          <a:ln/>
        </p:spPr>
        <p:txBody>
          <a:bodyPr wrap="square" lIns="1016" tIns="1016" rIns="1016" bIns="1016" rtlCol="0" anchor="t">
            <a:normAutofit/>
          </a:bodyPr>
          <a:lstStyle/>
          <a:p>
            <a:pPr marL="0" indent="0" algn="l">
              <a:buNone/>
            </a:pPr>
            <a:r>
              <a:rPr lang="en-US" sz="1100" b="1" dirty="0">
                <a:solidFill>
                  <a:srgbClr val="635950"/>
                </a:solidFill>
                <a:latin typeface="Aptos" pitchFamily="34" charset="0"/>
                <a:ea typeface="Aptos" pitchFamily="34" charset="-122"/>
                <a:cs typeface="Aptos" pitchFamily="34" charset="-120"/>
              </a:rPr>
              <a:t>Ingeniería en Informática · Duoc UC Sede Maipú</a:t>
            </a:r>
            <a:endParaRPr lang="en-US" sz="1100" b="1" dirty="0"/>
          </a:p>
        </p:txBody>
      </p:sp>
      <p:sp>
        <p:nvSpPr>
          <p:cNvPr id="9" name="Shape 6"/>
          <p:cNvSpPr/>
          <p:nvPr/>
        </p:nvSpPr>
        <p:spPr>
          <a:xfrm>
            <a:off x="502920" y="6473952"/>
            <a:ext cx="4572000" cy="0"/>
          </a:xfrm>
          <a:prstGeom prst="line">
            <a:avLst/>
          </a:prstGeom>
          <a:noFill/>
          <a:ln w="7620">
            <a:solidFill>
              <a:srgbClr val="D8CDC2"/>
            </a:solidFill>
            <a:prstDash val="solid"/>
          </a:ln>
        </p:spPr>
        <p:txBody>
          <a:bodyPr/>
          <a:lstStyle/>
          <a:p>
            <a:endParaRPr lang="es-MX" b="1"/>
          </a:p>
        </p:txBody>
      </p:sp>
      <p:sp>
        <p:nvSpPr>
          <p:cNvPr id="10" name="Text 7"/>
          <p:cNvSpPr/>
          <p:nvPr/>
        </p:nvSpPr>
        <p:spPr>
          <a:xfrm>
            <a:off x="502920" y="6556248"/>
            <a:ext cx="4206240" cy="164592"/>
          </a:xfrm>
          <a:prstGeom prst="rect">
            <a:avLst/>
          </a:prstGeom>
          <a:noFill/>
          <a:ln/>
        </p:spPr>
        <p:txBody>
          <a:bodyPr wrap="square" lIns="0" tIns="0" rIns="0" bIns="0" rtlCol="0" anchor="ctr"/>
          <a:lstStyle/>
          <a:p>
            <a:pPr marL="0" indent="0">
              <a:buNone/>
            </a:pPr>
            <a:r>
              <a:rPr lang="en-US" sz="900" b="1"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900" b="1" dirty="0"/>
          </a:p>
        </p:txBody>
      </p:sp>
      <p:sp>
        <p:nvSpPr>
          <p:cNvPr id="11" name="Text 8"/>
          <p:cNvSpPr/>
          <p:nvPr/>
        </p:nvSpPr>
        <p:spPr>
          <a:xfrm>
            <a:off x="493776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01</a:t>
            </a:r>
            <a:endParaRPr lang="en-US" sz="85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Abstract</a:t>
            </a:r>
            <a:endParaRPr lang="en-US" sz="2700" b="1"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050" b="1" dirty="0">
                <a:solidFill>
                  <a:srgbClr val="635950"/>
                </a:solidFill>
                <a:latin typeface="Aptos" pitchFamily="34" charset="0"/>
                <a:ea typeface="Aptos" pitchFamily="34" charset="-122"/>
                <a:cs typeface="Aptos" pitchFamily="34" charset="-120"/>
              </a:rPr>
              <a:t>Executive summary in English, aligned with the updated Opportunity Canvas.</a:t>
            </a:r>
            <a:endParaRPr lang="en-US" sz="1050" b="1"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02</a:t>
            </a:r>
            <a:endParaRPr lang="en-US" sz="850" dirty="0"/>
          </a:p>
        </p:txBody>
      </p:sp>
      <p:sp>
        <p:nvSpPr>
          <p:cNvPr id="7" name="Shape 5"/>
          <p:cNvSpPr/>
          <p:nvPr/>
        </p:nvSpPr>
        <p:spPr>
          <a:xfrm>
            <a:off x="502920" y="1298448"/>
            <a:ext cx="3840480" cy="1261872"/>
          </a:xfrm>
          <a:prstGeom prst="roundRect">
            <a:avLst>
              <a:gd name="adj" fmla="val 4348"/>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800" b="1"/>
          </a:p>
        </p:txBody>
      </p:sp>
      <p:sp>
        <p:nvSpPr>
          <p:cNvPr id="8" name="Shape 6"/>
          <p:cNvSpPr/>
          <p:nvPr/>
        </p:nvSpPr>
        <p:spPr>
          <a:xfrm>
            <a:off x="502920" y="1298448"/>
            <a:ext cx="54864" cy="1261872"/>
          </a:xfrm>
          <a:prstGeom prst="rect">
            <a:avLst/>
          </a:prstGeom>
          <a:solidFill>
            <a:srgbClr val="C87B73"/>
          </a:solidFill>
          <a:ln w="12700">
            <a:solidFill>
              <a:srgbClr val="C87B73"/>
            </a:solidFill>
            <a:prstDash val="solid"/>
          </a:ln>
        </p:spPr>
        <p:txBody>
          <a:bodyPr/>
          <a:lstStyle/>
          <a:p>
            <a:endParaRPr lang="es-MX" sz="2800" b="1"/>
          </a:p>
        </p:txBody>
      </p:sp>
      <p:sp>
        <p:nvSpPr>
          <p:cNvPr id="9" name="Text 7"/>
          <p:cNvSpPr/>
          <p:nvPr/>
        </p:nvSpPr>
        <p:spPr>
          <a:xfrm>
            <a:off x="667512" y="1408176"/>
            <a:ext cx="3584448" cy="219456"/>
          </a:xfrm>
          <a:prstGeom prst="rect">
            <a:avLst/>
          </a:prstGeom>
          <a:noFill/>
          <a:ln/>
        </p:spPr>
        <p:txBody>
          <a:bodyPr wrap="square" lIns="1016" tIns="1016" rIns="1016" bIns="1016" rtlCol="0" anchor="t">
            <a:noAutofit/>
          </a:bodyPr>
          <a:lstStyle/>
          <a:p>
            <a:pPr marL="0" indent="0" algn="l">
              <a:buNone/>
            </a:pPr>
            <a:r>
              <a:rPr lang="en-US" b="1" dirty="0">
                <a:solidFill>
                  <a:srgbClr val="C87B73"/>
                </a:solidFill>
                <a:latin typeface="Aptos" pitchFamily="34" charset="0"/>
                <a:ea typeface="Aptos" pitchFamily="34" charset="-122"/>
                <a:cs typeface="Aptos" pitchFamily="34" charset="-120"/>
              </a:rPr>
              <a:t>Problem</a:t>
            </a:r>
            <a:endParaRPr lang="en-US" b="1" dirty="0"/>
          </a:p>
        </p:txBody>
      </p:sp>
      <p:sp>
        <p:nvSpPr>
          <p:cNvPr id="10" name="Text 8"/>
          <p:cNvSpPr/>
          <p:nvPr/>
        </p:nvSpPr>
        <p:spPr>
          <a:xfrm>
            <a:off x="667512" y="1682496"/>
            <a:ext cx="3584448" cy="768096"/>
          </a:xfrm>
          <a:prstGeom prst="rect">
            <a:avLst/>
          </a:prstGeom>
          <a:noFill/>
          <a:ln/>
        </p:spPr>
        <p:txBody>
          <a:bodyPr wrap="square" lIns="1016" tIns="1016" rIns="1016" bIns="1016" rtlCol="0" anchor="t">
            <a:noAutofit/>
          </a:bodyPr>
          <a:lstStyle/>
          <a:p>
            <a:pPr marL="0" indent="0" algn="l">
              <a:buNone/>
            </a:pPr>
            <a:r>
              <a:rPr lang="en-US" sz="1100" b="1" dirty="0">
                <a:solidFill>
                  <a:srgbClr val="25211E"/>
                </a:solidFill>
                <a:latin typeface="Aptos" pitchFamily="34" charset="0"/>
                <a:ea typeface="Aptos" pitchFamily="34" charset="-122"/>
                <a:cs typeface="Aptos" pitchFamily="34" charset="-120"/>
              </a:rPr>
              <a:t>This project addresses economic losses associated with the lack of control and traceability of goods in a small-to-medium-sized bakery. Current records are manual and fragmented across notebooks, physical invoices, dispatch notes, inventory counts and camera reviews.</a:t>
            </a:r>
            <a:endParaRPr lang="en-US" sz="1100" b="1" dirty="0"/>
          </a:p>
        </p:txBody>
      </p:sp>
      <p:sp>
        <p:nvSpPr>
          <p:cNvPr id="11" name="Shape 9"/>
          <p:cNvSpPr/>
          <p:nvPr/>
        </p:nvSpPr>
        <p:spPr>
          <a:xfrm>
            <a:off x="4617720" y="1298448"/>
            <a:ext cx="4023360" cy="1435608"/>
          </a:xfrm>
          <a:prstGeom prst="roundRect">
            <a:avLst>
              <a:gd name="adj" fmla="val 4348"/>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800" b="1"/>
          </a:p>
        </p:txBody>
      </p:sp>
      <p:sp>
        <p:nvSpPr>
          <p:cNvPr id="12" name="Shape 10"/>
          <p:cNvSpPr/>
          <p:nvPr/>
        </p:nvSpPr>
        <p:spPr>
          <a:xfrm>
            <a:off x="4617720" y="1298448"/>
            <a:ext cx="54864" cy="1261872"/>
          </a:xfrm>
          <a:prstGeom prst="rect">
            <a:avLst/>
          </a:prstGeom>
          <a:solidFill>
            <a:srgbClr val="482816"/>
          </a:solidFill>
          <a:ln w="12700">
            <a:solidFill>
              <a:srgbClr val="482816"/>
            </a:solidFill>
            <a:prstDash val="solid"/>
          </a:ln>
        </p:spPr>
        <p:txBody>
          <a:bodyPr/>
          <a:lstStyle/>
          <a:p>
            <a:endParaRPr lang="es-MX" sz="2800" b="1"/>
          </a:p>
        </p:txBody>
      </p:sp>
      <p:sp>
        <p:nvSpPr>
          <p:cNvPr id="13" name="Text 11"/>
          <p:cNvSpPr/>
          <p:nvPr/>
        </p:nvSpPr>
        <p:spPr>
          <a:xfrm>
            <a:off x="4782312" y="1408176"/>
            <a:ext cx="376732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Solution</a:t>
            </a:r>
            <a:endParaRPr lang="en-US" b="1" dirty="0"/>
          </a:p>
        </p:txBody>
      </p:sp>
      <p:sp>
        <p:nvSpPr>
          <p:cNvPr id="14" name="Text 12"/>
          <p:cNvSpPr/>
          <p:nvPr/>
        </p:nvSpPr>
        <p:spPr>
          <a:xfrm>
            <a:off x="4782312" y="1682496"/>
            <a:ext cx="3767328" cy="768096"/>
          </a:xfrm>
          <a:prstGeom prst="rect">
            <a:avLst/>
          </a:prstGeom>
          <a:noFill/>
          <a:ln/>
        </p:spPr>
        <p:txBody>
          <a:bodyPr wrap="square" lIns="1016" tIns="1016" rIns="1016" bIns="1016" rtlCol="0" anchor="t">
            <a:noAutofit/>
          </a:bodyPr>
          <a:lstStyle/>
          <a:p>
            <a:pPr marL="0" indent="0" algn="l">
              <a:buNone/>
            </a:pPr>
            <a:r>
              <a:rPr lang="en-US" sz="1100" b="1" dirty="0">
                <a:solidFill>
                  <a:srgbClr val="25211E"/>
                </a:solidFill>
                <a:latin typeface="Aptos" pitchFamily="34" charset="0"/>
                <a:ea typeface="Aptos" pitchFamily="34" charset="-122"/>
                <a:cs typeface="Aptos" pitchFamily="34" charset="-120"/>
              </a:rPr>
              <a:t>The proposed solution is a responsive web application for computers and mobile devices that centralizes purchases, inventory, entries, exits, dispatches and movement history. It compares expected stock with physical counts to detect differences and support investigation.</a:t>
            </a:r>
            <a:endParaRPr lang="en-US" sz="1100" b="1" dirty="0"/>
          </a:p>
        </p:txBody>
      </p:sp>
      <p:sp>
        <p:nvSpPr>
          <p:cNvPr id="15" name="Shape 13"/>
          <p:cNvSpPr/>
          <p:nvPr/>
        </p:nvSpPr>
        <p:spPr>
          <a:xfrm>
            <a:off x="502920" y="2852927"/>
            <a:ext cx="3840480" cy="1920239"/>
          </a:xfrm>
          <a:prstGeom prst="roundRect">
            <a:avLst>
              <a:gd name="adj" fmla="val 5000"/>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800" b="1"/>
          </a:p>
        </p:txBody>
      </p:sp>
      <p:sp>
        <p:nvSpPr>
          <p:cNvPr id="16" name="Shape 14"/>
          <p:cNvSpPr/>
          <p:nvPr/>
        </p:nvSpPr>
        <p:spPr>
          <a:xfrm>
            <a:off x="502920" y="2852928"/>
            <a:ext cx="54864" cy="1097280"/>
          </a:xfrm>
          <a:prstGeom prst="rect">
            <a:avLst/>
          </a:prstGeom>
          <a:solidFill>
            <a:srgbClr val="482816"/>
          </a:solidFill>
          <a:ln w="12700">
            <a:solidFill>
              <a:srgbClr val="482816"/>
            </a:solidFill>
            <a:prstDash val="solid"/>
          </a:ln>
        </p:spPr>
        <p:txBody>
          <a:bodyPr/>
          <a:lstStyle/>
          <a:p>
            <a:endParaRPr lang="es-MX" sz="2800" b="1"/>
          </a:p>
        </p:txBody>
      </p:sp>
      <p:sp>
        <p:nvSpPr>
          <p:cNvPr id="17" name="Text 15"/>
          <p:cNvSpPr/>
          <p:nvPr/>
        </p:nvSpPr>
        <p:spPr>
          <a:xfrm>
            <a:off x="667512" y="2962656"/>
            <a:ext cx="358444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Users</a:t>
            </a:r>
            <a:endParaRPr lang="en-US" b="1" dirty="0"/>
          </a:p>
        </p:txBody>
      </p:sp>
      <p:sp>
        <p:nvSpPr>
          <p:cNvPr id="18" name="Text 16"/>
          <p:cNvSpPr/>
          <p:nvPr/>
        </p:nvSpPr>
        <p:spPr>
          <a:xfrm>
            <a:off x="667512" y="3236976"/>
            <a:ext cx="3584448" cy="603504"/>
          </a:xfrm>
          <a:prstGeom prst="rect">
            <a:avLst/>
          </a:prstGeom>
          <a:noFill/>
          <a:ln/>
        </p:spPr>
        <p:txBody>
          <a:bodyPr wrap="square" lIns="1016" tIns="1016" rIns="1016" bIns="1016" rtlCol="0" anchor="t">
            <a:noAutofit/>
          </a:bodyPr>
          <a:lstStyle/>
          <a:p>
            <a:pPr marL="0" indent="0" algn="l">
              <a:buNone/>
            </a:pPr>
            <a:r>
              <a:rPr lang="en-US" sz="1100" b="1" dirty="0">
                <a:solidFill>
                  <a:srgbClr val="25211E"/>
                </a:solidFill>
                <a:latin typeface="Aptos" pitchFamily="34" charset="0"/>
                <a:ea typeface="Aptos" pitchFamily="34" charset="-122"/>
                <a:cs typeface="Aptos" pitchFamily="34" charset="-120"/>
              </a:rPr>
              <a:t>The solution benefits the bakery owner, sales counter staff, dispatcher. The goal is to move from manual, dispersed records to a digital workflow with traceable evidence of movements.</a:t>
            </a:r>
            <a:endParaRPr lang="en-US" sz="1100" b="1" dirty="0"/>
          </a:p>
        </p:txBody>
      </p:sp>
      <p:sp>
        <p:nvSpPr>
          <p:cNvPr id="19" name="Shape 17"/>
          <p:cNvSpPr/>
          <p:nvPr/>
        </p:nvSpPr>
        <p:spPr>
          <a:xfrm>
            <a:off x="4617720" y="2852928"/>
            <a:ext cx="4023360" cy="1920240"/>
          </a:xfrm>
          <a:prstGeom prst="roundRect">
            <a:avLst>
              <a:gd name="adj" fmla="val 2857"/>
            </a:avLst>
          </a:prstGeom>
          <a:solidFill>
            <a:srgbClr val="FFF1B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800" b="1"/>
          </a:p>
        </p:txBody>
      </p:sp>
      <p:sp>
        <p:nvSpPr>
          <p:cNvPr id="20" name="Shape 18"/>
          <p:cNvSpPr/>
          <p:nvPr/>
        </p:nvSpPr>
        <p:spPr>
          <a:xfrm>
            <a:off x="4617720" y="2852928"/>
            <a:ext cx="54864" cy="1920240"/>
          </a:xfrm>
          <a:prstGeom prst="rect">
            <a:avLst/>
          </a:prstGeom>
          <a:solidFill>
            <a:srgbClr val="482816"/>
          </a:solidFill>
          <a:ln w="12700">
            <a:solidFill>
              <a:srgbClr val="482816"/>
            </a:solidFill>
            <a:prstDash val="solid"/>
          </a:ln>
        </p:spPr>
        <p:txBody>
          <a:bodyPr/>
          <a:lstStyle/>
          <a:p>
            <a:endParaRPr lang="es-MX" sz="2800" b="1"/>
          </a:p>
        </p:txBody>
      </p:sp>
      <p:sp>
        <p:nvSpPr>
          <p:cNvPr id="21" name="Text 19"/>
          <p:cNvSpPr/>
          <p:nvPr/>
        </p:nvSpPr>
        <p:spPr>
          <a:xfrm>
            <a:off x="4782312" y="2962656"/>
            <a:ext cx="376732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Metrics &amp; pilot impact</a:t>
            </a:r>
            <a:endParaRPr lang="en-US" b="1" dirty="0"/>
          </a:p>
        </p:txBody>
      </p:sp>
      <p:sp>
        <p:nvSpPr>
          <p:cNvPr id="22" name="Text 20"/>
          <p:cNvSpPr/>
          <p:nvPr/>
        </p:nvSpPr>
        <p:spPr>
          <a:xfrm>
            <a:off x="4782312" y="3236976"/>
            <a:ext cx="3767328" cy="1426464"/>
          </a:xfrm>
          <a:prstGeom prst="rect">
            <a:avLst/>
          </a:prstGeom>
          <a:noFill/>
          <a:ln/>
        </p:spPr>
        <p:txBody>
          <a:bodyPr wrap="square" lIns="1016" tIns="1016" rIns="1016" bIns="1016" rtlCol="0" anchor="t">
            <a:normAutofit lnSpcReduction="10000"/>
          </a:bodyPr>
          <a:lstStyle/>
          <a:p>
            <a:r>
              <a:rPr lang="es-MX" sz="1100" dirty="0"/>
              <a:t>Success </a:t>
            </a:r>
            <a:r>
              <a:rPr lang="es-MX" sz="1100" dirty="0" err="1"/>
              <a:t>will</a:t>
            </a:r>
            <a:r>
              <a:rPr lang="es-MX" sz="1100" dirty="0"/>
              <a:t> be </a:t>
            </a:r>
            <a:r>
              <a:rPr lang="es-MX" sz="1100" dirty="0" err="1"/>
              <a:t>measured</a:t>
            </a:r>
            <a:r>
              <a:rPr lang="es-MX" sz="1100" dirty="0"/>
              <a:t> </a:t>
            </a:r>
            <a:r>
              <a:rPr lang="es-MX" sz="1100" dirty="0" err="1"/>
              <a:t>through</a:t>
            </a:r>
            <a:r>
              <a:rPr lang="es-MX" sz="1100" dirty="0"/>
              <a:t> </a:t>
            </a:r>
            <a:r>
              <a:rPr lang="es-MX" sz="1100" dirty="0" err="1"/>
              <a:t>five</a:t>
            </a:r>
            <a:r>
              <a:rPr lang="es-MX" sz="1100" dirty="0"/>
              <a:t> </a:t>
            </a:r>
            <a:r>
              <a:rPr lang="es-MX" sz="1100" dirty="0" err="1"/>
              <a:t>main</a:t>
            </a:r>
            <a:r>
              <a:rPr lang="es-MX" sz="1100" dirty="0"/>
              <a:t> </a:t>
            </a:r>
            <a:r>
              <a:rPr lang="es-MX" sz="1100" dirty="0" err="1"/>
              <a:t>indicators</a:t>
            </a:r>
            <a:r>
              <a:rPr lang="es-MX" sz="1100" dirty="0"/>
              <a:t>: </a:t>
            </a:r>
            <a:r>
              <a:rPr lang="es-MX" sz="1100" dirty="0" err="1"/>
              <a:t>units</a:t>
            </a:r>
            <a:r>
              <a:rPr lang="es-MX" sz="1100" dirty="0"/>
              <a:t> </a:t>
            </a:r>
            <a:r>
              <a:rPr lang="es-MX" sz="1100" dirty="0" err="1"/>
              <a:t>sold</a:t>
            </a:r>
            <a:r>
              <a:rPr lang="es-MX" sz="1100" dirty="0"/>
              <a:t> </a:t>
            </a:r>
            <a:r>
              <a:rPr lang="es-MX" sz="1100" dirty="0" err="1"/>
              <a:t>by</a:t>
            </a:r>
            <a:r>
              <a:rPr lang="es-MX" sz="1100" dirty="0"/>
              <a:t> </a:t>
            </a:r>
            <a:r>
              <a:rPr lang="es-MX" sz="1100" dirty="0" err="1"/>
              <a:t>category</a:t>
            </a:r>
            <a:r>
              <a:rPr lang="es-MX" sz="1100" dirty="0"/>
              <a:t> per </a:t>
            </a:r>
            <a:r>
              <a:rPr lang="es-MX" sz="1100" dirty="0" err="1"/>
              <a:t>day</a:t>
            </a:r>
            <a:r>
              <a:rPr lang="es-MX" sz="1100" dirty="0"/>
              <a:t>, </a:t>
            </a:r>
            <a:r>
              <a:rPr lang="es-MX" sz="1100" dirty="0" err="1"/>
              <a:t>units</a:t>
            </a:r>
            <a:r>
              <a:rPr lang="es-MX" sz="1100" dirty="0"/>
              <a:t> </a:t>
            </a:r>
            <a:r>
              <a:rPr lang="es-MX" sz="1100" dirty="0" err="1"/>
              <a:t>with</a:t>
            </a:r>
            <a:r>
              <a:rPr lang="es-MX" sz="1100" dirty="0"/>
              <a:t> </a:t>
            </a:r>
            <a:r>
              <a:rPr lang="es-MX" sz="1100" dirty="0" err="1"/>
              <a:t>differences</a:t>
            </a:r>
            <a:r>
              <a:rPr lang="es-MX" sz="1100" dirty="0"/>
              <a:t> </a:t>
            </a:r>
            <a:r>
              <a:rPr lang="es-MX" sz="1100" dirty="0" err="1"/>
              <a:t>between</a:t>
            </a:r>
            <a:r>
              <a:rPr lang="es-MX" sz="1100" dirty="0"/>
              <a:t> </a:t>
            </a:r>
            <a:r>
              <a:rPr lang="es-MX" sz="1100" dirty="0" err="1"/>
              <a:t>expected</a:t>
            </a:r>
            <a:r>
              <a:rPr lang="es-MX" sz="1100" dirty="0"/>
              <a:t> and </a:t>
            </a:r>
            <a:r>
              <a:rPr lang="es-MX" sz="1100" dirty="0" err="1"/>
              <a:t>physical</a:t>
            </a:r>
            <a:r>
              <a:rPr lang="es-MX" sz="1100" dirty="0"/>
              <a:t> stock per </a:t>
            </a:r>
            <a:r>
              <a:rPr lang="es-MX" sz="1100" dirty="0" err="1"/>
              <a:t>inventory</a:t>
            </a:r>
            <a:r>
              <a:rPr lang="es-MX" sz="1100" dirty="0"/>
              <a:t> </a:t>
            </a:r>
            <a:r>
              <a:rPr lang="es-MX" sz="1100" dirty="0" err="1"/>
              <a:t>count</a:t>
            </a:r>
            <a:r>
              <a:rPr lang="es-MX" sz="1100" dirty="0"/>
              <a:t>, </a:t>
            </a:r>
            <a:r>
              <a:rPr lang="es-MX" sz="1100" dirty="0" err="1"/>
              <a:t>inventory</a:t>
            </a:r>
            <a:r>
              <a:rPr lang="es-MX" sz="1100" dirty="0"/>
              <a:t> </a:t>
            </a:r>
            <a:r>
              <a:rPr lang="es-MX" sz="1100" dirty="0" err="1"/>
              <a:t>counts</a:t>
            </a:r>
            <a:r>
              <a:rPr lang="es-MX" sz="1100" dirty="0"/>
              <a:t> </a:t>
            </a:r>
            <a:r>
              <a:rPr lang="es-MX" sz="1100" dirty="0" err="1"/>
              <a:t>performed</a:t>
            </a:r>
            <a:r>
              <a:rPr lang="es-MX" sz="1100" dirty="0"/>
              <a:t> per </a:t>
            </a:r>
            <a:r>
              <a:rPr lang="es-MX" sz="1100" dirty="0" err="1"/>
              <a:t>month</a:t>
            </a:r>
            <a:r>
              <a:rPr lang="es-MX" sz="1100" dirty="0"/>
              <a:t>, </a:t>
            </a:r>
            <a:r>
              <a:rPr lang="es-MX" sz="1100" dirty="0" err="1"/>
              <a:t>monetary</a:t>
            </a:r>
            <a:r>
              <a:rPr lang="es-MX" sz="1100" dirty="0"/>
              <a:t> </a:t>
            </a:r>
            <a:r>
              <a:rPr lang="es-MX" sz="1100" dirty="0" err="1"/>
              <a:t>value</a:t>
            </a:r>
            <a:r>
              <a:rPr lang="es-MX" sz="1100" dirty="0"/>
              <a:t> </a:t>
            </a:r>
            <a:r>
              <a:rPr lang="es-MX" sz="1100" dirty="0" err="1"/>
              <a:t>of</a:t>
            </a:r>
            <a:r>
              <a:rPr lang="es-MX" sz="1100" dirty="0"/>
              <a:t> </a:t>
            </a:r>
            <a:r>
              <a:rPr lang="es-MX" sz="1100" dirty="0" err="1"/>
              <a:t>unjustified</a:t>
            </a:r>
            <a:r>
              <a:rPr lang="es-MX" sz="1100" dirty="0"/>
              <a:t> </a:t>
            </a:r>
            <a:r>
              <a:rPr lang="es-MX" sz="1100" dirty="0" err="1"/>
              <a:t>inventory</a:t>
            </a:r>
            <a:r>
              <a:rPr lang="es-MX" sz="1100" dirty="0"/>
              <a:t> </a:t>
            </a:r>
            <a:r>
              <a:rPr lang="es-MX" sz="1100" dirty="0" err="1"/>
              <a:t>differences</a:t>
            </a:r>
            <a:r>
              <a:rPr lang="es-MX" sz="1100" dirty="0"/>
              <a:t> per </a:t>
            </a:r>
            <a:r>
              <a:rPr lang="es-MX" sz="1100" dirty="0" err="1"/>
              <a:t>month</a:t>
            </a:r>
            <a:r>
              <a:rPr lang="es-MX" sz="1100" dirty="0"/>
              <a:t>, and </a:t>
            </a:r>
            <a:r>
              <a:rPr lang="es-MX" sz="1100" dirty="0" err="1"/>
              <a:t>monetary</a:t>
            </a:r>
            <a:r>
              <a:rPr lang="es-MX" sz="1100" dirty="0"/>
              <a:t> </a:t>
            </a:r>
            <a:r>
              <a:rPr lang="es-MX" sz="1100" dirty="0" err="1"/>
              <a:t>value</a:t>
            </a:r>
            <a:r>
              <a:rPr lang="es-MX" sz="1100" dirty="0"/>
              <a:t> </a:t>
            </a:r>
            <a:r>
              <a:rPr lang="es-MX" sz="1100" dirty="0" err="1"/>
              <a:t>of</a:t>
            </a:r>
            <a:r>
              <a:rPr lang="es-MX" sz="1100" dirty="0"/>
              <a:t> </a:t>
            </a:r>
            <a:r>
              <a:rPr lang="es-MX" sz="1100" dirty="0" err="1"/>
              <a:t>differences</a:t>
            </a:r>
            <a:r>
              <a:rPr lang="es-MX" sz="1100" dirty="0"/>
              <a:t> </a:t>
            </a:r>
            <a:r>
              <a:rPr lang="es-MX" sz="1100" dirty="0" err="1"/>
              <a:t>between</a:t>
            </a:r>
            <a:r>
              <a:rPr lang="es-MX" sz="1100" dirty="0"/>
              <a:t> bread </a:t>
            </a:r>
            <a:r>
              <a:rPr lang="es-MX" sz="1100" dirty="0" err="1"/>
              <a:t>dispatched</a:t>
            </a:r>
            <a:r>
              <a:rPr lang="es-MX" sz="1100" dirty="0"/>
              <a:t> and </a:t>
            </a:r>
            <a:r>
              <a:rPr lang="es-MX" sz="1100" dirty="0" err="1"/>
              <a:t>received</a:t>
            </a:r>
            <a:r>
              <a:rPr lang="es-MX" sz="1100" dirty="0"/>
              <a:t> per </a:t>
            </a:r>
            <a:r>
              <a:rPr lang="es-MX" sz="1100" dirty="0" err="1"/>
              <a:t>month</a:t>
            </a:r>
            <a:r>
              <a:rPr lang="es-MX" sz="1100" dirty="0"/>
              <a:t>. Pilot </a:t>
            </a:r>
            <a:r>
              <a:rPr lang="es-MX" sz="1100" dirty="0" err="1"/>
              <a:t>impact</a:t>
            </a:r>
            <a:r>
              <a:rPr lang="es-MX" sz="1100" dirty="0"/>
              <a:t> </a:t>
            </a:r>
            <a:r>
              <a:rPr lang="es-MX" sz="1100" dirty="0" err="1"/>
              <a:t>will</a:t>
            </a:r>
            <a:r>
              <a:rPr lang="es-MX" sz="1100" dirty="0"/>
              <a:t> be </a:t>
            </a:r>
            <a:r>
              <a:rPr lang="es-MX" sz="1100" dirty="0" err="1"/>
              <a:t>evaluated</a:t>
            </a:r>
            <a:r>
              <a:rPr lang="es-MX" sz="1100" dirty="0"/>
              <a:t> </a:t>
            </a:r>
            <a:r>
              <a:rPr lang="es-MX" sz="1100" dirty="0" err="1"/>
              <a:t>against</a:t>
            </a:r>
            <a:r>
              <a:rPr lang="es-MX" sz="1100" dirty="0"/>
              <a:t> </a:t>
            </a:r>
            <a:r>
              <a:rPr lang="es-MX" sz="1100" dirty="0" err="1"/>
              <a:t>an</a:t>
            </a:r>
            <a:r>
              <a:rPr lang="es-MX" sz="1100" dirty="0"/>
              <a:t> </a:t>
            </a:r>
            <a:r>
              <a:rPr lang="es-MX" sz="1100" dirty="0" err="1"/>
              <a:t>initial</a:t>
            </a:r>
            <a:r>
              <a:rPr lang="es-MX" sz="1100" dirty="0"/>
              <a:t> </a:t>
            </a:r>
            <a:r>
              <a:rPr lang="es-MX" sz="1100" dirty="0" err="1"/>
              <a:t>baseline</a:t>
            </a:r>
            <a:r>
              <a:rPr lang="es-MX" sz="1100" dirty="0"/>
              <a:t>, </a:t>
            </a:r>
            <a:r>
              <a:rPr lang="es-MX" sz="1100" dirty="0" err="1"/>
              <a:t>including</a:t>
            </a:r>
            <a:r>
              <a:rPr lang="es-MX" sz="1100" dirty="0"/>
              <a:t> a </a:t>
            </a:r>
            <a:r>
              <a:rPr lang="es-MX" sz="1100" dirty="0" err="1"/>
              <a:t>proposed</a:t>
            </a:r>
            <a:r>
              <a:rPr lang="es-MX" sz="1100" dirty="0"/>
              <a:t> target </a:t>
            </a:r>
            <a:r>
              <a:rPr lang="es-MX" sz="1100" dirty="0" err="1"/>
              <a:t>of</a:t>
            </a:r>
            <a:r>
              <a:rPr lang="es-MX" sz="1100" dirty="0"/>
              <a:t> </a:t>
            </a:r>
            <a:r>
              <a:rPr lang="es-MX" sz="1100" dirty="0" err="1"/>
              <a:t>reducing</a:t>
            </a:r>
            <a:r>
              <a:rPr lang="es-MX" sz="1100" dirty="0"/>
              <a:t> </a:t>
            </a:r>
            <a:r>
              <a:rPr lang="es-MX" sz="1100" dirty="0" err="1"/>
              <a:t>inventory</a:t>
            </a:r>
            <a:r>
              <a:rPr lang="es-MX" sz="1100" dirty="0"/>
              <a:t> </a:t>
            </a:r>
            <a:r>
              <a:rPr lang="es-MX" sz="1100" dirty="0" err="1"/>
              <a:t>units</a:t>
            </a:r>
            <a:r>
              <a:rPr lang="es-MX" sz="1100" dirty="0"/>
              <a:t> </a:t>
            </a:r>
            <a:r>
              <a:rPr lang="es-MX" sz="1100" dirty="0" err="1"/>
              <a:t>with</a:t>
            </a:r>
            <a:r>
              <a:rPr lang="es-MX" sz="1100" dirty="0"/>
              <a:t> </a:t>
            </a:r>
            <a:r>
              <a:rPr lang="es-MX" sz="1100" dirty="0" err="1"/>
              <a:t>differences</a:t>
            </a:r>
            <a:r>
              <a:rPr lang="es-MX" sz="1100" dirty="0"/>
              <a:t> </a:t>
            </a:r>
            <a:r>
              <a:rPr lang="es-MX" sz="1100" dirty="0" err="1"/>
              <a:t>by</a:t>
            </a:r>
            <a:r>
              <a:rPr lang="es-MX" sz="1100" dirty="0"/>
              <a:t> at </a:t>
            </a:r>
            <a:r>
              <a:rPr lang="es-MX" sz="1100" dirty="0" err="1"/>
              <a:t>least</a:t>
            </a:r>
            <a:r>
              <a:rPr lang="es-MX" sz="1100" dirty="0"/>
              <a:t> 15%.</a:t>
            </a:r>
          </a:p>
        </p:txBody>
      </p:sp>
      <p:sp>
        <p:nvSpPr>
          <p:cNvPr id="23" name="Shape 21"/>
          <p:cNvSpPr/>
          <p:nvPr/>
        </p:nvSpPr>
        <p:spPr>
          <a:xfrm>
            <a:off x="594360" y="5074919"/>
            <a:ext cx="7955280" cy="374903"/>
          </a:xfrm>
          <a:prstGeom prst="roundRect">
            <a:avLst>
              <a:gd name="adj" fmla="val 25000"/>
            </a:avLst>
          </a:prstGeom>
          <a:solidFill>
            <a:srgbClr val="482816"/>
          </a:solidFill>
          <a:ln w="12700">
            <a:solidFill>
              <a:srgbClr val="482816"/>
            </a:solidFill>
            <a:prstDash val="solid"/>
          </a:ln>
        </p:spPr>
        <p:txBody>
          <a:bodyPr/>
          <a:lstStyle/>
          <a:p>
            <a:endParaRPr lang="es-MX" sz="2800" b="1"/>
          </a:p>
        </p:txBody>
      </p:sp>
      <p:sp>
        <p:nvSpPr>
          <p:cNvPr id="24" name="Text 22"/>
          <p:cNvSpPr/>
          <p:nvPr/>
        </p:nvSpPr>
        <p:spPr>
          <a:xfrm>
            <a:off x="925802" y="5125211"/>
            <a:ext cx="7239790" cy="281177"/>
          </a:xfrm>
          <a:prstGeom prst="rect">
            <a:avLst/>
          </a:prstGeom>
          <a:noFill/>
          <a:ln/>
        </p:spPr>
        <p:txBody>
          <a:bodyPr wrap="square" lIns="1016" tIns="1016" rIns="1016" bIns="1016" rtlCol="0" anchor="t">
            <a:normAutofit/>
          </a:bodyPr>
          <a:lstStyle/>
          <a:p>
            <a:pPr algn="ctr"/>
            <a:r>
              <a:rPr lang="es-MX" sz="1200" b="1" dirty="0">
                <a:solidFill>
                  <a:schemeClr val="bg1"/>
                </a:solidFill>
              </a:rPr>
              <a:t>The 15% target </a:t>
            </a:r>
            <a:r>
              <a:rPr lang="es-MX" sz="1200" b="1" dirty="0" err="1">
                <a:solidFill>
                  <a:schemeClr val="bg1"/>
                </a:solidFill>
              </a:rPr>
              <a:t>is</a:t>
            </a:r>
            <a:r>
              <a:rPr lang="es-MX" sz="1200" b="1" dirty="0">
                <a:solidFill>
                  <a:schemeClr val="bg1"/>
                </a:solidFill>
              </a:rPr>
              <a:t> </a:t>
            </a:r>
            <a:r>
              <a:rPr lang="es-MX" sz="1200" b="1" dirty="0" err="1">
                <a:solidFill>
                  <a:schemeClr val="bg1"/>
                </a:solidFill>
              </a:rPr>
              <a:t>proposed</a:t>
            </a:r>
            <a:r>
              <a:rPr lang="es-MX" sz="1200" b="1" dirty="0">
                <a:solidFill>
                  <a:schemeClr val="bg1"/>
                </a:solidFill>
              </a:rPr>
              <a:t> </a:t>
            </a:r>
            <a:r>
              <a:rPr lang="es-MX" sz="1200" b="1" dirty="0" err="1">
                <a:solidFill>
                  <a:schemeClr val="bg1"/>
                </a:solidFill>
              </a:rPr>
              <a:t>for</a:t>
            </a:r>
            <a:r>
              <a:rPr lang="es-MX" sz="1200" b="1" dirty="0">
                <a:solidFill>
                  <a:schemeClr val="bg1"/>
                </a:solidFill>
              </a:rPr>
              <a:t> </a:t>
            </a:r>
            <a:r>
              <a:rPr lang="es-MX" sz="1400" b="1" dirty="0" err="1">
                <a:solidFill>
                  <a:schemeClr val="bg1"/>
                </a:solidFill>
              </a:rPr>
              <a:t>the</a:t>
            </a:r>
            <a:r>
              <a:rPr lang="es-MX" sz="1200" b="1" dirty="0">
                <a:solidFill>
                  <a:schemeClr val="bg1"/>
                </a:solidFill>
              </a:rPr>
              <a:t> </a:t>
            </a:r>
            <a:r>
              <a:rPr lang="es-MX" sz="1200" b="1" dirty="0" err="1">
                <a:solidFill>
                  <a:schemeClr val="bg1"/>
                </a:solidFill>
              </a:rPr>
              <a:t>pilot</a:t>
            </a:r>
            <a:r>
              <a:rPr lang="es-MX" sz="1200" b="1" dirty="0">
                <a:solidFill>
                  <a:schemeClr val="bg1"/>
                </a:solidFill>
              </a:rPr>
              <a:t>; </a:t>
            </a:r>
            <a:r>
              <a:rPr lang="es-MX" sz="1200" b="1" dirty="0" err="1">
                <a:solidFill>
                  <a:schemeClr val="bg1"/>
                </a:solidFill>
              </a:rPr>
              <a:t>all</a:t>
            </a:r>
            <a:r>
              <a:rPr lang="es-MX" sz="1200" b="1" dirty="0">
                <a:solidFill>
                  <a:schemeClr val="bg1"/>
                </a:solidFill>
              </a:rPr>
              <a:t> </a:t>
            </a:r>
            <a:r>
              <a:rPr lang="es-MX" sz="1200" b="1" dirty="0" err="1">
                <a:solidFill>
                  <a:schemeClr val="bg1"/>
                </a:solidFill>
              </a:rPr>
              <a:t>other</a:t>
            </a:r>
            <a:r>
              <a:rPr lang="es-MX" sz="1200" b="1" dirty="0">
                <a:solidFill>
                  <a:schemeClr val="bg1"/>
                </a:solidFill>
              </a:rPr>
              <a:t> </a:t>
            </a:r>
            <a:r>
              <a:rPr lang="es-MX" sz="1200" b="1" dirty="0" err="1">
                <a:solidFill>
                  <a:schemeClr val="bg1"/>
                </a:solidFill>
              </a:rPr>
              <a:t>results</a:t>
            </a:r>
            <a:r>
              <a:rPr lang="es-MX" sz="1200" b="1" dirty="0">
                <a:solidFill>
                  <a:schemeClr val="bg1"/>
                </a:solidFill>
              </a:rPr>
              <a:t> </a:t>
            </a:r>
            <a:r>
              <a:rPr lang="es-MX" sz="1200" b="1" dirty="0" err="1">
                <a:solidFill>
                  <a:schemeClr val="bg1"/>
                </a:solidFill>
              </a:rPr>
              <a:t>will</a:t>
            </a:r>
            <a:r>
              <a:rPr lang="es-MX" sz="1200" b="1" dirty="0">
                <a:solidFill>
                  <a:schemeClr val="bg1"/>
                </a:solidFill>
              </a:rPr>
              <a:t> be </a:t>
            </a:r>
            <a:r>
              <a:rPr lang="es-MX" sz="1200" b="1" dirty="0" err="1">
                <a:solidFill>
                  <a:schemeClr val="bg1"/>
                </a:solidFill>
              </a:rPr>
              <a:t>evaluated</a:t>
            </a:r>
            <a:r>
              <a:rPr lang="es-MX" sz="1200" b="1" dirty="0">
                <a:solidFill>
                  <a:schemeClr val="bg1"/>
                </a:solidFill>
              </a:rPr>
              <a:t> </a:t>
            </a:r>
            <a:r>
              <a:rPr lang="es-MX" sz="1200" b="1" dirty="0" err="1">
                <a:solidFill>
                  <a:schemeClr val="bg1"/>
                </a:solidFill>
              </a:rPr>
              <a:t>against</a:t>
            </a:r>
            <a:r>
              <a:rPr lang="es-MX" sz="1200" b="1" dirty="0">
                <a:solidFill>
                  <a:schemeClr val="bg1"/>
                </a:solidFill>
              </a:rPr>
              <a:t> </a:t>
            </a:r>
            <a:r>
              <a:rPr lang="es-MX" sz="1200" b="1" dirty="0" err="1">
                <a:solidFill>
                  <a:schemeClr val="bg1"/>
                </a:solidFill>
              </a:rPr>
              <a:t>the</a:t>
            </a:r>
            <a:r>
              <a:rPr lang="es-MX" sz="1200" b="1" dirty="0">
                <a:solidFill>
                  <a:schemeClr val="bg1"/>
                </a:solidFill>
              </a:rPr>
              <a:t> </a:t>
            </a:r>
            <a:r>
              <a:rPr lang="es-MX" sz="1200" b="1" dirty="0" err="1">
                <a:solidFill>
                  <a:schemeClr val="bg1"/>
                </a:solidFill>
              </a:rPr>
              <a:t>initial</a:t>
            </a:r>
            <a:r>
              <a:rPr lang="es-MX" sz="1200" b="1" dirty="0">
                <a:solidFill>
                  <a:schemeClr val="bg1"/>
                </a:solidFill>
              </a:rPr>
              <a:t> </a:t>
            </a:r>
            <a:r>
              <a:rPr lang="es-MX" sz="1200" b="1" dirty="0" err="1">
                <a:solidFill>
                  <a:schemeClr val="bg1"/>
                </a:solidFill>
              </a:rPr>
              <a:t>baseline</a:t>
            </a:r>
            <a:endParaRPr lang="en-US" sz="1200" b="1" dirty="0">
              <a:solidFill>
                <a:schemeClr val="bg1"/>
              </a:solidFill>
            </a:endParaRPr>
          </a:p>
        </p:txBody>
      </p:sp>
      <p:sp>
        <p:nvSpPr>
          <p:cNvPr id="25" name="Text 23"/>
          <p:cNvSpPr/>
          <p:nvPr/>
        </p:nvSpPr>
        <p:spPr>
          <a:xfrm>
            <a:off x="594360" y="5486400"/>
            <a:ext cx="7680960" cy="502920"/>
          </a:xfrm>
          <a:prstGeom prst="rect">
            <a:avLst/>
          </a:prstGeom>
          <a:noFill/>
          <a:ln/>
        </p:spPr>
        <p:txBody>
          <a:bodyPr wrap="square" lIns="1016" tIns="1016" rIns="1016" bIns="1016" rtlCol="0" anchor="t">
            <a:normAutofit/>
          </a:bodyPr>
          <a:lstStyle/>
          <a:p>
            <a:r>
              <a:rPr lang="es-MX" sz="1200" b="1" dirty="0"/>
              <a:t>The </a:t>
            </a:r>
            <a:r>
              <a:rPr lang="es-MX" sz="1200" b="1" dirty="0" err="1"/>
              <a:t>main</a:t>
            </a:r>
            <a:r>
              <a:rPr lang="es-MX" sz="1200" b="1" dirty="0"/>
              <a:t> MVP </a:t>
            </a:r>
            <a:r>
              <a:rPr lang="es-MX" sz="1200" b="1" dirty="0" err="1"/>
              <a:t>development</a:t>
            </a:r>
            <a:r>
              <a:rPr lang="es-MX" sz="1200" b="1" dirty="0"/>
              <a:t> </a:t>
            </a:r>
            <a:r>
              <a:rPr lang="es-MX" sz="1200" b="1" dirty="0" err="1"/>
              <a:t>is</a:t>
            </a:r>
            <a:r>
              <a:rPr lang="es-MX" sz="1200" b="1" dirty="0"/>
              <a:t> </a:t>
            </a:r>
            <a:r>
              <a:rPr lang="es-MX" sz="1200" b="1" dirty="0" err="1"/>
              <a:t>planned</a:t>
            </a:r>
            <a:r>
              <a:rPr lang="es-MX" sz="1200" b="1" dirty="0"/>
              <a:t> </a:t>
            </a:r>
            <a:r>
              <a:rPr lang="es-MX" sz="1200" b="1" dirty="0" err="1"/>
              <a:t>for</a:t>
            </a:r>
            <a:r>
              <a:rPr lang="es-MX" sz="1200" b="1" dirty="0"/>
              <a:t> </a:t>
            </a:r>
            <a:r>
              <a:rPr lang="es-MX" sz="1200" b="1" dirty="0" err="1"/>
              <a:t>approximately</a:t>
            </a:r>
            <a:r>
              <a:rPr lang="es-MX" sz="1200" b="1" dirty="0"/>
              <a:t> </a:t>
            </a:r>
            <a:r>
              <a:rPr lang="es-MX" sz="1200" b="1" dirty="0" err="1"/>
              <a:t>three</a:t>
            </a:r>
            <a:r>
              <a:rPr lang="es-MX" sz="1200" b="1" dirty="0"/>
              <a:t> </a:t>
            </a:r>
            <a:r>
              <a:rPr lang="es-MX" sz="1200" b="1" dirty="0" err="1"/>
              <a:t>months</a:t>
            </a:r>
            <a:r>
              <a:rPr lang="es-MX" sz="1200" b="1" dirty="0"/>
              <a:t>, </a:t>
            </a:r>
            <a:r>
              <a:rPr lang="es-MX" sz="1200" b="1" dirty="0" err="1"/>
              <a:t>followed</a:t>
            </a:r>
            <a:r>
              <a:rPr lang="es-MX" sz="1200" b="1" dirty="0"/>
              <a:t> </a:t>
            </a:r>
            <a:r>
              <a:rPr lang="es-MX" sz="1200" b="1" dirty="0" err="1"/>
              <a:t>by</a:t>
            </a:r>
            <a:r>
              <a:rPr lang="es-MX" sz="1200" b="1" dirty="0"/>
              <a:t> </a:t>
            </a:r>
            <a:r>
              <a:rPr lang="es-MX" sz="1200" b="1" dirty="0" err="1"/>
              <a:t>validation</a:t>
            </a:r>
            <a:r>
              <a:rPr lang="es-MX" sz="1200" b="1" dirty="0"/>
              <a:t>, </a:t>
            </a:r>
            <a:r>
              <a:rPr lang="es-MX" sz="1200" b="1" dirty="0" err="1"/>
              <a:t>adjustments</a:t>
            </a:r>
            <a:r>
              <a:rPr lang="es-MX" sz="1200" b="1" dirty="0"/>
              <a:t> and </a:t>
            </a:r>
            <a:r>
              <a:rPr lang="es-MX" sz="1200" b="1" dirty="0" err="1"/>
              <a:t>project</a:t>
            </a:r>
            <a:r>
              <a:rPr lang="es-MX" sz="1200" b="1" dirty="0"/>
              <a:t> </a:t>
            </a:r>
            <a:r>
              <a:rPr lang="es-MX" sz="1200" b="1" dirty="0" err="1"/>
              <a:t>closure</a:t>
            </a:r>
            <a:r>
              <a:rPr lang="es-MX" sz="1200" b="1" dirty="0"/>
              <a:t> </a:t>
            </a:r>
            <a:r>
              <a:rPr lang="es-MX" sz="1200" b="1" dirty="0" err="1"/>
              <a:t>within</a:t>
            </a:r>
            <a:r>
              <a:rPr lang="es-MX" sz="1200" b="1" dirty="0"/>
              <a:t> </a:t>
            </a:r>
            <a:r>
              <a:rPr lang="es-MX" sz="1200" b="1" dirty="0" err="1"/>
              <a:t>the</a:t>
            </a:r>
            <a:r>
              <a:rPr lang="es-MX" sz="1200" b="1" dirty="0"/>
              <a:t> </a:t>
            </a:r>
            <a:r>
              <a:rPr lang="es-MX" sz="1200" b="1" dirty="0" err="1"/>
              <a:t>academic</a:t>
            </a:r>
            <a:r>
              <a:rPr lang="es-MX" sz="1200" b="1" dirty="0"/>
              <a:t> </a:t>
            </a:r>
            <a:r>
              <a:rPr lang="es-MX" sz="1200" b="1" dirty="0" err="1"/>
              <a:t>period</a:t>
            </a:r>
            <a:r>
              <a:rPr lang="es-MX" sz="1200" b="1" dirty="0"/>
              <a:t>.</a:t>
            </a:r>
            <a:endParaRPr lang="en-US" sz="1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Descripción del problema y dimensionamiento</a:t>
            </a:r>
            <a:endParaRPr lang="en-US" sz="2700" b="1"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050" b="1" dirty="0">
                <a:solidFill>
                  <a:srgbClr val="635950"/>
                </a:solidFill>
                <a:latin typeface="Aptos" pitchFamily="34" charset="0"/>
                <a:ea typeface="Aptos" pitchFamily="34" charset="-122"/>
                <a:cs typeface="Aptos" pitchFamily="34" charset="-120"/>
              </a:rPr>
              <a:t>El problema de negocio no es solo “hacer inventario”: el impacto es económico.</a:t>
            </a:r>
            <a:endParaRPr lang="en-US" sz="1050" b="1"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03</a:t>
            </a:r>
            <a:endParaRPr lang="en-US" sz="850" dirty="0"/>
          </a:p>
        </p:txBody>
      </p:sp>
      <p:sp>
        <p:nvSpPr>
          <p:cNvPr id="7" name="Shape 5"/>
          <p:cNvSpPr/>
          <p:nvPr/>
        </p:nvSpPr>
        <p:spPr>
          <a:xfrm>
            <a:off x="502920" y="1234440"/>
            <a:ext cx="2834640" cy="1051560"/>
          </a:xfrm>
          <a:prstGeom prst="roundRect">
            <a:avLst>
              <a:gd name="adj" fmla="val 5217"/>
            </a:avLst>
          </a:prstGeom>
          <a:solidFill>
            <a:srgbClr val="F3D1C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b="1"/>
          </a:p>
        </p:txBody>
      </p:sp>
      <p:sp>
        <p:nvSpPr>
          <p:cNvPr id="8" name="Shape 6"/>
          <p:cNvSpPr/>
          <p:nvPr/>
        </p:nvSpPr>
        <p:spPr>
          <a:xfrm>
            <a:off x="502920" y="1234440"/>
            <a:ext cx="54864" cy="1051560"/>
          </a:xfrm>
          <a:prstGeom prst="rect">
            <a:avLst/>
          </a:prstGeom>
          <a:solidFill>
            <a:srgbClr val="C87B73"/>
          </a:solidFill>
          <a:ln w="12700">
            <a:solidFill>
              <a:srgbClr val="C87B73"/>
            </a:solidFill>
            <a:prstDash val="solid"/>
          </a:ln>
        </p:spPr>
        <p:txBody>
          <a:bodyPr/>
          <a:lstStyle/>
          <a:p>
            <a:endParaRPr lang="es-MX" b="1"/>
          </a:p>
        </p:txBody>
      </p:sp>
      <p:sp>
        <p:nvSpPr>
          <p:cNvPr id="9" name="Text 7"/>
          <p:cNvSpPr/>
          <p:nvPr/>
        </p:nvSpPr>
        <p:spPr>
          <a:xfrm>
            <a:off x="667512" y="1344168"/>
            <a:ext cx="2578608" cy="219456"/>
          </a:xfrm>
          <a:prstGeom prst="rect">
            <a:avLst/>
          </a:prstGeom>
          <a:noFill/>
          <a:ln/>
        </p:spPr>
        <p:txBody>
          <a:bodyPr wrap="square" lIns="1016" tIns="1016" rIns="1016" bIns="1016" rtlCol="0" anchor="t">
            <a:normAutofit/>
          </a:bodyPr>
          <a:lstStyle/>
          <a:p>
            <a:pPr marL="0" indent="0" algn="l">
              <a:buNone/>
            </a:pPr>
            <a:r>
              <a:rPr lang="en-US" sz="1300" b="1" dirty="0">
                <a:solidFill>
                  <a:srgbClr val="C87B73"/>
                </a:solidFill>
                <a:latin typeface="Aptos" pitchFamily="34" charset="0"/>
                <a:ea typeface="Aptos" pitchFamily="34" charset="-122"/>
                <a:cs typeface="Aptos" pitchFamily="34" charset="-120"/>
              </a:rPr>
              <a:t>Problema principal</a:t>
            </a:r>
            <a:endParaRPr lang="en-US" sz="1300" b="1" dirty="0"/>
          </a:p>
        </p:txBody>
      </p:sp>
      <p:sp>
        <p:nvSpPr>
          <p:cNvPr id="10" name="Text 8"/>
          <p:cNvSpPr/>
          <p:nvPr/>
        </p:nvSpPr>
        <p:spPr>
          <a:xfrm>
            <a:off x="667512" y="1618488"/>
            <a:ext cx="2578608" cy="557784"/>
          </a:xfrm>
          <a:prstGeom prst="rect">
            <a:avLst/>
          </a:prstGeom>
          <a:noFill/>
          <a:ln/>
        </p:spPr>
        <p:txBody>
          <a:bodyPr wrap="square" lIns="1016" tIns="1016" rIns="1016" bIns="1016" rtlCol="0" anchor="t">
            <a:normAutofit/>
          </a:bodyPr>
          <a:lstStyle/>
          <a:p>
            <a:pPr marL="0" indent="0" algn="l">
              <a:buNone/>
            </a:pPr>
            <a:r>
              <a:rPr lang="en-US" sz="1150" b="1" dirty="0">
                <a:solidFill>
                  <a:srgbClr val="25211E"/>
                </a:solidFill>
                <a:latin typeface="Aptos" pitchFamily="34" charset="0"/>
                <a:ea typeface="Aptos" pitchFamily="34" charset="-122"/>
                <a:cs typeface="Aptos" pitchFamily="34" charset="-120"/>
              </a:rPr>
              <a:t>Pérdidas económicas asociadas a la falta de control, </a:t>
            </a:r>
            <a:r>
              <a:rPr lang="en-US" sz="1150" b="1" dirty="0" err="1">
                <a:solidFill>
                  <a:srgbClr val="25211E"/>
                </a:solidFill>
                <a:latin typeface="Aptos" pitchFamily="34" charset="0"/>
                <a:ea typeface="Aptos" pitchFamily="34" charset="-122"/>
                <a:cs typeface="Aptos" pitchFamily="34" charset="-120"/>
              </a:rPr>
              <a:t>trazabilidad</a:t>
            </a:r>
            <a:r>
              <a:rPr lang="en-US" sz="1150" b="1" dirty="0">
                <a:solidFill>
                  <a:srgbClr val="25211E"/>
                </a:solidFill>
                <a:latin typeface="Aptos" pitchFamily="34" charset="0"/>
                <a:ea typeface="Aptos" pitchFamily="34" charset="-122"/>
                <a:cs typeface="Aptos" pitchFamily="34" charset="-120"/>
              </a:rPr>
              <a:t> de la </a:t>
            </a:r>
            <a:r>
              <a:rPr lang="en-US" sz="1150" b="1" dirty="0" err="1">
                <a:solidFill>
                  <a:srgbClr val="25211E"/>
                </a:solidFill>
                <a:latin typeface="Aptos" pitchFamily="34" charset="0"/>
                <a:ea typeface="Aptos" pitchFamily="34" charset="-122"/>
                <a:cs typeface="Aptos" pitchFamily="34" charset="-120"/>
              </a:rPr>
              <a:t>mercadería</a:t>
            </a:r>
            <a:r>
              <a:rPr lang="en-US" sz="1150" b="1" dirty="0">
                <a:solidFill>
                  <a:srgbClr val="25211E"/>
                </a:solidFill>
                <a:latin typeface="Aptos" pitchFamily="34" charset="0"/>
                <a:ea typeface="Aptos" pitchFamily="34" charset="-122"/>
                <a:cs typeface="Aptos" pitchFamily="34" charset="-120"/>
              </a:rPr>
              <a:t> y </a:t>
            </a:r>
            <a:r>
              <a:rPr lang="en-US" sz="1150" b="1" dirty="0" err="1">
                <a:solidFill>
                  <a:srgbClr val="25211E"/>
                </a:solidFill>
                <a:latin typeface="Aptos" pitchFamily="34" charset="0"/>
                <a:ea typeface="Aptos" pitchFamily="34" charset="-122"/>
                <a:cs typeface="Aptos" pitchFamily="34" charset="-120"/>
              </a:rPr>
              <a:t>despacho</a:t>
            </a:r>
            <a:r>
              <a:rPr lang="en-US" sz="1150" b="1" dirty="0">
                <a:solidFill>
                  <a:srgbClr val="25211E"/>
                </a:solidFill>
                <a:latin typeface="Aptos" pitchFamily="34" charset="0"/>
                <a:ea typeface="Aptos" pitchFamily="34" charset="-122"/>
                <a:cs typeface="Aptos" pitchFamily="34" charset="-120"/>
              </a:rPr>
              <a:t> del pan.</a:t>
            </a:r>
            <a:endParaRPr lang="en-US" sz="1150" b="1" dirty="0"/>
          </a:p>
        </p:txBody>
      </p:sp>
      <p:sp>
        <p:nvSpPr>
          <p:cNvPr id="12" name="Text 10"/>
          <p:cNvSpPr/>
          <p:nvPr/>
        </p:nvSpPr>
        <p:spPr>
          <a:xfrm>
            <a:off x="3749040" y="1335024"/>
            <a:ext cx="1234440" cy="411480"/>
          </a:xfrm>
          <a:prstGeom prst="rect">
            <a:avLst/>
          </a:prstGeom>
          <a:noFill/>
          <a:ln/>
        </p:spPr>
        <p:txBody>
          <a:bodyPr wrap="square" lIns="1016" tIns="1016" rIns="1016" bIns="1016" rtlCol="0" anchor="t">
            <a:normAutofit/>
          </a:bodyPr>
          <a:lstStyle/>
          <a:p>
            <a:pPr marL="0" indent="0" algn="ctr">
              <a:buNone/>
            </a:pPr>
            <a:endParaRPr lang="en-US" sz="2400" b="1" dirty="0"/>
          </a:p>
        </p:txBody>
      </p:sp>
      <p:sp>
        <p:nvSpPr>
          <p:cNvPr id="14" name="Shape 12"/>
          <p:cNvSpPr/>
          <p:nvPr/>
        </p:nvSpPr>
        <p:spPr>
          <a:xfrm>
            <a:off x="4061460" y="1234440"/>
            <a:ext cx="1711452" cy="1508760"/>
          </a:xfrm>
          <a:prstGeom prst="roundRect">
            <a:avLst>
              <a:gd name="adj" fmla="val 5161"/>
            </a:avLst>
          </a:prstGeom>
          <a:solidFill>
            <a:srgbClr val="E7F3DE"/>
          </a:solidFill>
          <a:ln w="12700">
            <a:solidFill>
              <a:srgbClr val="E7F3DE"/>
            </a:solidFill>
            <a:prstDash val="solid"/>
          </a:ln>
        </p:spPr>
        <p:txBody>
          <a:bodyPr/>
          <a:lstStyle/>
          <a:p>
            <a:endParaRPr lang="es-MX" b="1"/>
          </a:p>
        </p:txBody>
      </p:sp>
      <p:sp>
        <p:nvSpPr>
          <p:cNvPr id="15" name="Text 13"/>
          <p:cNvSpPr/>
          <p:nvPr/>
        </p:nvSpPr>
        <p:spPr>
          <a:xfrm>
            <a:off x="4274820" y="1327404"/>
            <a:ext cx="1234440" cy="411480"/>
          </a:xfrm>
          <a:prstGeom prst="rect">
            <a:avLst/>
          </a:prstGeom>
          <a:noFill/>
          <a:ln/>
        </p:spPr>
        <p:txBody>
          <a:bodyPr wrap="square" lIns="1016" tIns="1016" rIns="1016" bIns="1016" rtlCol="0" anchor="t">
            <a:normAutofit/>
          </a:bodyPr>
          <a:lstStyle/>
          <a:p>
            <a:pPr marL="0" indent="0" algn="ctr">
              <a:buNone/>
            </a:pPr>
            <a:r>
              <a:rPr lang="en-US" sz="2400" b="1" dirty="0">
                <a:solidFill>
                  <a:srgbClr val="482816"/>
                </a:solidFill>
                <a:latin typeface="Aptos" pitchFamily="34" charset="0"/>
                <a:ea typeface="Aptos" pitchFamily="34" charset="-122"/>
                <a:cs typeface="Aptos" pitchFamily="34" charset="-120"/>
              </a:rPr>
              <a:t>4</a:t>
            </a:r>
            <a:endParaRPr lang="en-US" sz="2400" b="1" dirty="0"/>
          </a:p>
        </p:txBody>
      </p:sp>
      <p:sp>
        <p:nvSpPr>
          <p:cNvPr id="16" name="Text 14"/>
          <p:cNvSpPr/>
          <p:nvPr/>
        </p:nvSpPr>
        <p:spPr>
          <a:xfrm>
            <a:off x="4318254" y="1755648"/>
            <a:ext cx="1197864" cy="731520"/>
          </a:xfrm>
          <a:prstGeom prst="rect">
            <a:avLst/>
          </a:prstGeom>
          <a:noFill/>
          <a:ln/>
        </p:spPr>
        <p:txBody>
          <a:bodyPr wrap="square" lIns="1016" tIns="1016" rIns="1016" bIns="1016" rtlCol="0" anchor="t">
            <a:normAutofit/>
          </a:bodyPr>
          <a:lstStyle/>
          <a:p>
            <a:pPr marL="0" indent="0" algn="ctr">
              <a:buNone/>
            </a:pPr>
            <a:r>
              <a:rPr lang="en-US" sz="1050" b="1" dirty="0">
                <a:solidFill>
                  <a:srgbClr val="25211E"/>
                </a:solidFill>
                <a:latin typeface="Aptos" pitchFamily="34" charset="0"/>
                <a:ea typeface="Aptos" pitchFamily="34" charset="-122"/>
                <a:cs typeface="Aptos" pitchFamily="34" charset="-120"/>
              </a:rPr>
              <a:t>procesos manuales críticos: </a:t>
            </a:r>
            <a:r>
              <a:rPr lang="en-US" sz="1050" b="1" dirty="0" err="1">
                <a:solidFill>
                  <a:srgbClr val="25211E"/>
                </a:solidFill>
                <a:latin typeface="Aptos" pitchFamily="34" charset="0"/>
                <a:ea typeface="Aptos" pitchFamily="34" charset="-122"/>
                <a:cs typeface="Aptos" pitchFamily="34" charset="-120"/>
              </a:rPr>
              <a:t>compras</a:t>
            </a:r>
            <a:r>
              <a:rPr lang="en-US" sz="1050" b="1" dirty="0">
                <a:solidFill>
                  <a:srgbClr val="25211E"/>
                </a:solidFill>
                <a:latin typeface="Aptos" pitchFamily="34" charset="0"/>
                <a:ea typeface="Aptos" pitchFamily="34" charset="-122"/>
                <a:cs typeface="Aptos" pitchFamily="34" charset="-120"/>
              </a:rPr>
              <a:t>, venta, despacho y control</a:t>
            </a:r>
            <a:endParaRPr lang="en-US" sz="1050" b="1" dirty="0"/>
          </a:p>
        </p:txBody>
      </p:sp>
      <p:sp>
        <p:nvSpPr>
          <p:cNvPr id="17" name="Shape 15"/>
          <p:cNvSpPr/>
          <p:nvPr/>
        </p:nvSpPr>
        <p:spPr>
          <a:xfrm>
            <a:off x="6382512" y="1225296"/>
            <a:ext cx="1610868" cy="1508760"/>
          </a:xfrm>
          <a:prstGeom prst="roundRect">
            <a:avLst>
              <a:gd name="adj" fmla="val 5161"/>
            </a:avLst>
          </a:prstGeom>
          <a:solidFill>
            <a:srgbClr val="E7F3DE"/>
          </a:solidFill>
          <a:ln w="12700">
            <a:solidFill>
              <a:srgbClr val="E7F3DE"/>
            </a:solidFill>
            <a:prstDash val="solid"/>
          </a:ln>
        </p:spPr>
        <p:txBody>
          <a:bodyPr/>
          <a:lstStyle/>
          <a:p>
            <a:endParaRPr lang="es-MX" b="1"/>
          </a:p>
        </p:txBody>
      </p:sp>
      <p:sp>
        <p:nvSpPr>
          <p:cNvPr id="18" name="Text 16"/>
          <p:cNvSpPr/>
          <p:nvPr/>
        </p:nvSpPr>
        <p:spPr>
          <a:xfrm>
            <a:off x="6547866" y="1327404"/>
            <a:ext cx="1234440" cy="411480"/>
          </a:xfrm>
          <a:prstGeom prst="rect">
            <a:avLst/>
          </a:prstGeom>
          <a:noFill/>
          <a:ln/>
        </p:spPr>
        <p:txBody>
          <a:bodyPr wrap="square" lIns="1016" tIns="1016" rIns="1016" bIns="1016" rtlCol="0" anchor="t">
            <a:normAutofit/>
          </a:bodyPr>
          <a:lstStyle/>
          <a:p>
            <a:pPr marL="0" indent="0" algn="ctr">
              <a:buNone/>
            </a:pPr>
            <a:r>
              <a:rPr lang="en-US" sz="2400" b="1" dirty="0">
                <a:solidFill>
                  <a:srgbClr val="482816"/>
                </a:solidFill>
                <a:latin typeface="Aptos" pitchFamily="34" charset="0"/>
                <a:ea typeface="Aptos" pitchFamily="34" charset="-122"/>
                <a:cs typeface="Aptos" pitchFamily="34" charset="-120"/>
              </a:rPr>
              <a:t>8</a:t>
            </a:r>
            <a:endParaRPr lang="en-US" sz="2400" b="1" dirty="0"/>
          </a:p>
        </p:txBody>
      </p:sp>
      <p:sp>
        <p:nvSpPr>
          <p:cNvPr id="19" name="Text 17"/>
          <p:cNvSpPr/>
          <p:nvPr/>
        </p:nvSpPr>
        <p:spPr>
          <a:xfrm>
            <a:off x="6566154" y="1783080"/>
            <a:ext cx="1197864" cy="731520"/>
          </a:xfrm>
          <a:prstGeom prst="rect">
            <a:avLst/>
          </a:prstGeom>
          <a:noFill/>
          <a:ln/>
        </p:spPr>
        <p:txBody>
          <a:bodyPr wrap="square" lIns="1016" tIns="1016" rIns="1016" bIns="1016" rtlCol="0" anchor="t">
            <a:normAutofit/>
          </a:bodyPr>
          <a:lstStyle/>
          <a:p>
            <a:pPr marL="0" indent="0" algn="ctr">
              <a:buNone/>
            </a:pPr>
            <a:r>
              <a:rPr lang="en-US" sz="1050" b="1" dirty="0">
                <a:solidFill>
                  <a:srgbClr val="25211E"/>
                </a:solidFill>
                <a:latin typeface="Aptos" pitchFamily="34" charset="0"/>
                <a:ea typeface="Aptos" pitchFamily="34" charset="-122"/>
                <a:cs typeface="Aptos" pitchFamily="34" charset="-120"/>
              </a:rPr>
              <a:t>métricas para medir el piloto con variables y tiempo</a:t>
            </a:r>
            <a:endParaRPr lang="en-US" sz="1050" b="1" dirty="0"/>
          </a:p>
        </p:txBody>
      </p:sp>
      <p:sp>
        <p:nvSpPr>
          <p:cNvPr id="20" name="Text 18"/>
          <p:cNvSpPr/>
          <p:nvPr/>
        </p:nvSpPr>
        <p:spPr>
          <a:xfrm>
            <a:off x="548640" y="2944368"/>
            <a:ext cx="2926080" cy="256032"/>
          </a:xfrm>
          <a:prstGeom prst="rect">
            <a:avLst/>
          </a:prstGeom>
          <a:noFill/>
          <a:ln/>
        </p:spPr>
        <p:txBody>
          <a:bodyPr wrap="square" lIns="1016" tIns="1016" rIns="1016" bIns="1016" rtlCol="0" anchor="t">
            <a:normAutofit/>
          </a:bodyPr>
          <a:lstStyle/>
          <a:p>
            <a:pPr marL="0" indent="0" algn="l">
              <a:buNone/>
            </a:pPr>
            <a:r>
              <a:rPr lang="en-US" sz="1600" b="1" dirty="0">
                <a:solidFill>
                  <a:srgbClr val="482816"/>
                </a:solidFill>
                <a:latin typeface="Aptos" pitchFamily="34" charset="0"/>
                <a:ea typeface="Aptos" pitchFamily="34" charset="-122"/>
                <a:cs typeface="Aptos" pitchFamily="34" charset="-120"/>
              </a:rPr>
              <a:t>Principales causas</a:t>
            </a:r>
            <a:endParaRPr lang="en-US" sz="1600" b="1" dirty="0"/>
          </a:p>
        </p:txBody>
      </p:sp>
      <p:sp>
        <p:nvSpPr>
          <p:cNvPr id="21" name="Shape 19"/>
          <p:cNvSpPr/>
          <p:nvPr/>
        </p:nvSpPr>
        <p:spPr>
          <a:xfrm>
            <a:off x="548640" y="3355848"/>
            <a:ext cx="2514600" cy="566928"/>
          </a:xfrm>
          <a:prstGeom prst="roundRect">
            <a:avLst>
              <a:gd name="adj" fmla="val 12903"/>
            </a:avLst>
          </a:prstGeom>
          <a:solidFill>
            <a:srgbClr val="FFFFFF"/>
          </a:solidFill>
          <a:ln w="12700">
            <a:solidFill>
              <a:srgbClr val="D8CDC2">
                <a:alpha val="85000"/>
              </a:srgbClr>
            </a:solidFill>
            <a:prstDash val="solid"/>
          </a:ln>
        </p:spPr>
        <p:txBody>
          <a:bodyPr/>
          <a:lstStyle/>
          <a:p>
            <a:endParaRPr lang="es-MX" sz="2400" b="1"/>
          </a:p>
        </p:txBody>
      </p:sp>
      <p:sp>
        <p:nvSpPr>
          <p:cNvPr id="22" name="Text 20"/>
          <p:cNvSpPr/>
          <p:nvPr/>
        </p:nvSpPr>
        <p:spPr>
          <a:xfrm>
            <a:off x="621792" y="3419856"/>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3" name="Text 21"/>
          <p:cNvSpPr/>
          <p:nvPr/>
        </p:nvSpPr>
        <p:spPr>
          <a:xfrm>
            <a:off x="896112" y="3438144"/>
            <a:ext cx="2075688" cy="429768"/>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Diferencias entre stock registrado y stock físico.</a:t>
            </a:r>
            <a:endParaRPr lang="en-US" sz="1050" b="1" dirty="0"/>
          </a:p>
        </p:txBody>
      </p:sp>
      <p:sp>
        <p:nvSpPr>
          <p:cNvPr id="24" name="Shape 22"/>
          <p:cNvSpPr/>
          <p:nvPr/>
        </p:nvSpPr>
        <p:spPr>
          <a:xfrm>
            <a:off x="3291840" y="3355848"/>
            <a:ext cx="2514600" cy="566928"/>
          </a:xfrm>
          <a:prstGeom prst="roundRect">
            <a:avLst>
              <a:gd name="adj" fmla="val 12903"/>
            </a:avLst>
          </a:prstGeom>
          <a:solidFill>
            <a:srgbClr val="FFFFFF"/>
          </a:solidFill>
          <a:ln w="12700">
            <a:solidFill>
              <a:srgbClr val="D8CDC2">
                <a:alpha val="85000"/>
              </a:srgbClr>
            </a:solidFill>
            <a:prstDash val="solid"/>
          </a:ln>
        </p:spPr>
        <p:txBody>
          <a:bodyPr/>
          <a:lstStyle/>
          <a:p>
            <a:endParaRPr lang="es-MX" sz="2400" b="1"/>
          </a:p>
        </p:txBody>
      </p:sp>
      <p:sp>
        <p:nvSpPr>
          <p:cNvPr id="25" name="Text 23"/>
          <p:cNvSpPr/>
          <p:nvPr/>
        </p:nvSpPr>
        <p:spPr>
          <a:xfrm>
            <a:off x="3364992" y="3419856"/>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6" name="Text 24"/>
          <p:cNvSpPr/>
          <p:nvPr/>
        </p:nvSpPr>
        <p:spPr>
          <a:xfrm>
            <a:off x="3639312" y="3438144"/>
            <a:ext cx="2075688" cy="429768"/>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Errores en el registro manual de mercadería.</a:t>
            </a:r>
            <a:endParaRPr lang="en-US" sz="1050" b="1" dirty="0"/>
          </a:p>
        </p:txBody>
      </p:sp>
      <p:sp>
        <p:nvSpPr>
          <p:cNvPr id="27" name="Shape 25"/>
          <p:cNvSpPr/>
          <p:nvPr/>
        </p:nvSpPr>
        <p:spPr>
          <a:xfrm>
            <a:off x="6035040" y="3355848"/>
            <a:ext cx="2514600" cy="566928"/>
          </a:xfrm>
          <a:prstGeom prst="roundRect">
            <a:avLst>
              <a:gd name="adj" fmla="val 12903"/>
            </a:avLst>
          </a:prstGeom>
          <a:solidFill>
            <a:srgbClr val="FFFFFF"/>
          </a:solidFill>
          <a:ln w="12700">
            <a:solidFill>
              <a:srgbClr val="D8CDC2">
                <a:alpha val="85000"/>
              </a:srgbClr>
            </a:solidFill>
            <a:prstDash val="solid"/>
          </a:ln>
        </p:spPr>
        <p:txBody>
          <a:bodyPr/>
          <a:lstStyle/>
          <a:p>
            <a:endParaRPr lang="es-MX" sz="2000" b="1"/>
          </a:p>
        </p:txBody>
      </p:sp>
      <p:sp>
        <p:nvSpPr>
          <p:cNvPr id="28" name="Text 26"/>
          <p:cNvSpPr/>
          <p:nvPr/>
        </p:nvSpPr>
        <p:spPr>
          <a:xfrm>
            <a:off x="6108192" y="3419856"/>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9" name="Text 27"/>
          <p:cNvSpPr/>
          <p:nvPr/>
        </p:nvSpPr>
        <p:spPr>
          <a:xfrm>
            <a:off x="6382512" y="3438144"/>
            <a:ext cx="2075688" cy="429768"/>
          </a:xfrm>
          <a:prstGeom prst="rect">
            <a:avLst/>
          </a:prstGeom>
          <a:noFill/>
          <a:ln/>
        </p:spPr>
        <p:txBody>
          <a:bodyPr wrap="square" lIns="1016" tIns="1016" rIns="1016" bIns="1016" rtlCol="0" anchor="t">
            <a:normAutofit/>
          </a:bodyPr>
          <a:lstStyle/>
          <a:p>
            <a:pPr marL="0" indent="0" algn="l">
              <a:buNone/>
            </a:pPr>
            <a:r>
              <a:rPr lang="en-US" sz="1000" b="1" dirty="0">
                <a:solidFill>
                  <a:srgbClr val="25211E"/>
                </a:solidFill>
                <a:latin typeface="Aptos" pitchFamily="34" charset="0"/>
                <a:ea typeface="Aptos" pitchFamily="34" charset="-122"/>
                <a:cs typeface="Aptos" pitchFamily="34" charset="-120"/>
              </a:rPr>
              <a:t>Diferencias entre cantidades despachadas y recibidas.</a:t>
            </a:r>
            <a:endParaRPr lang="en-US" sz="1000" b="1" dirty="0"/>
          </a:p>
        </p:txBody>
      </p:sp>
      <p:sp>
        <p:nvSpPr>
          <p:cNvPr id="33" name="Shape 31"/>
          <p:cNvSpPr/>
          <p:nvPr/>
        </p:nvSpPr>
        <p:spPr>
          <a:xfrm>
            <a:off x="525780" y="4142232"/>
            <a:ext cx="3749040" cy="658368"/>
          </a:xfrm>
          <a:prstGeom prst="roundRect">
            <a:avLst>
              <a:gd name="adj" fmla="val 11111"/>
            </a:avLst>
          </a:prstGeom>
          <a:solidFill>
            <a:srgbClr val="FFFFFF"/>
          </a:solidFill>
          <a:ln w="12700">
            <a:solidFill>
              <a:srgbClr val="D8CDC2">
                <a:alpha val="85000"/>
              </a:srgbClr>
            </a:solidFill>
            <a:prstDash val="solid"/>
          </a:ln>
        </p:spPr>
        <p:txBody>
          <a:bodyPr/>
          <a:lstStyle/>
          <a:p>
            <a:endParaRPr lang="es-MX" sz="2000" b="1"/>
          </a:p>
        </p:txBody>
      </p:sp>
      <p:sp>
        <p:nvSpPr>
          <p:cNvPr id="34" name="Text 32"/>
          <p:cNvSpPr/>
          <p:nvPr/>
        </p:nvSpPr>
        <p:spPr>
          <a:xfrm>
            <a:off x="598932" y="4206240"/>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35" name="Text 33"/>
          <p:cNvSpPr/>
          <p:nvPr/>
        </p:nvSpPr>
        <p:spPr>
          <a:xfrm>
            <a:off x="873252" y="4224528"/>
            <a:ext cx="3310128" cy="521208"/>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Información distribuida entre cuadernos, facturas y controles manuales.</a:t>
            </a:r>
            <a:endParaRPr lang="en-US" sz="1100" b="1" dirty="0"/>
          </a:p>
        </p:txBody>
      </p:sp>
      <p:sp>
        <p:nvSpPr>
          <p:cNvPr id="36" name="Shape 34"/>
          <p:cNvSpPr/>
          <p:nvPr/>
        </p:nvSpPr>
        <p:spPr>
          <a:xfrm>
            <a:off x="548640" y="5257800"/>
            <a:ext cx="1417320" cy="365760"/>
          </a:xfrm>
          <a:prstGeom prst="roundRect">
            <a:avLst>
              <a:gd name="adj" fmla="val 26667"/>
            </a:avLst>
          </a:prstGeom>
          <a:solidFill>
            <a:srgbClr val="C87B73"/>
          </a:solidFill>
          <a:ln w="12700">
            <a:solidFill>
              <a:srgbClr val="C87B73"/>
            </a:solidFill>
            <a:prstDash val="solid"/>
          </a:ln>
        </p:spPr>
        <p:txBody>
          <a:bodyPr/>
          <a:lstStyle/>
          <a:p>
            <a:endParaRPr lang="es-MX" sz="3200" b="1"/>
          </a:p>
        </p:txBody>
      </p:sp>
      <p:sp>
        <p:nvSpPr>
          <p:cNvPr id="37" name="Text 35"/>
          <p:cNvSpPr/>
          <p:nvPr/>
        </p:nvSpPr>
        <p:spPr>
          <a:xfrm>
            <a:off x="603504" y="5263909"/>
            <a:ext cx="1307592" cy="201168"/>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Dato crítico pendiente</a:t>
            </a:r>
            <a:endParaRPr lang="en-US" sz="1100" b="1" dirty="0"/>
          </a:p>
        </p:txBody>
      </p:sp>
      <p:sp>
        <p:nvSpPr>
          <p:cNvPr id="38" name="Text 36"/>
          <p:cNvSpPr/>
          <p:nvPr/>
        </p:nvSpPr>
        <p:spPr>
          <a:xfrm>
            <a:off x="2057400" y="5257800"/>
            <a:ext cx="6355080" cy="475488"/>
          </a:xfrm>
          <a:prstGeom prst="rect">
            <a:avLst/>
          </a:prstGeom>
          <a:noFill/>
          <a:ln/>
        </p:spPr>
        <p:txBody>
          <a:bodyPr wrap="square" lIns="1016" tIns="1016" rIns="1016" bIns="1016" rtlCol="0" anchor="t">
            <a:normAutofit/>
          </a:bodyPr>
          <a:lstStyle/>
          <a:p>
            <a:r>
              <a:rPr lang="es-MX" sz="1200" b="1" dirty="0"/>
              <a:t>No se inventa un monto histórico de pérdidas: se levantará una línea base inicial para comparar las diferencias de inventario y despacho durante el piloto.</a:t>
            </a:r>
            <a:endParaRPr lang="en-US" sz="12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Proceso actual</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050" dirty="0">
                <a:solidFill>
                  <a:srgbClr val="635950"/>
                </a:solidFill>
                <a:latin typeface="Aptos" pitchFamily="34" charset="0"/>
                <a:ea typeface="Aptos" pitchFamily="34" charset="-122"/>
                <a:cs typeface="Aptos" pitchFamily="34" charset="-120"/>
              </a:rPr>
              <a:t>La información se registra y valida manualmente en distintos puntos del flujo.</a:t>
            </a:r>
            <a:endParaRPr lang="en-US" sz="1050" dirty="0"/>
          </a:p>
        </p:txBody>
      </p:sp>
      <p:sp>
        <p:nvSpPr>
          <p:cNvPr id="4" name="Shape 2"/>
          <p:cNvSpPr/>
          <p:nvPr/>
        </p:nvSpPr>
        <p:spPr>
          <a:xfrm>
            <a:off x="438912" y="73883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438912" y="74706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19872" y="74523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04</a:t>
            </a:r>
            <a:endParaRPr lang="en-US" sz="850" dirty="0"/>
          </a:p>
        </p:txBody>
      </p:sp>
      <p:sp>
        <p:nvSpPr>
          <p:cNvPr id="7" name="Shape 5"/>
          <p:cNvSpPr/>
          <p:nvPr/>
        </p:nvSpPr>
        <p:spPr>
          <a:xfrm>
            <a:off x="1516380" y="1776980"/>
            <a:ext cx="960120" cy="960120"/>
          </a:xfrm>
          <a:prstGeom prst="ellipse">
            <a:avLst/>
          </a:prstGeom>
          <a:solidFill>
            <a:srgbClr val="FFFFFF"/>
          </a:solidFill>
          <a:ln w="25400">
            <a:solidFill>
              <a:srgbClr val="482816"/>
            </a:solidFill>
            <a:prstDash val="solid"/>
          </a:ln>
        </p:spPr>
        <p:txBody>
          <a:bodyPr/>
          <a:lstStyle/>
          <a:p>
            <a:endParaRPr lang="es-MX"/>
          </a:p>
        </p:txBody>
      </p:sp>
      <p:pic>
        <p:nvPicPr>
          <p:cNvPr id="8" name="Image 0" descr="/mnt/data/ppt_media/ppt/media/image8.png"/>
          <p:cNvPicPr>
            <a:picLocks noChangeAspect="1"/>
          </p:cNvPicPr>
          <p:nvPr/>
        </p:nvPicPr>
        <p:blipFill>
          <a:blip r:embed="rId3"/>
          <a:stretch>
            <a:fillRect/>
          </a:stretch>
        </p:blipFill>
        <p:spPr>
          <a:xfrm>
            <a:off x="1726692" y="1987292"/>
            <a:ext cx="530352" cy="530352"/>
          </a:xfrm>
          <a:prstGeom prst="rect">
            <a:avLst/>
          </a:prstGeom>
        </p:spPr>
      </p:pic>
      <p:sp>
        <p:nvSpPr>
          <p:cNvPr id="9" name="Shape 6"/>
          <p:cNvSpPr/>
          <p:nvPr/>
        </p:nvSpPr>
        <p:spPr>
          <a:xfrm>
            <a:off x="2558796" y="2252468"/>
            <a:ext cx="384048" cy="0"/>
          </a:xfrm>
          <a:prstGeom prst="line">
            <a:avLst/>
          </a:prstGeom>
          <a:noFill/>
          <a:ln w="17780">
            <a:solidFill>
              <a:srgbClr val="482816"/>
            </a:solidFill>
            <a:prstDash val="solid"/>
            <a:tailEnd type="triangle"/>
          </a:ln>
        </p:spPr>
        <p:txBody>
          <a:bodyPr/>
          <a:lstStyle/>
          <a:p>
            <a:endParaRPr lang="es-MX"/>
          </a:p>
        </p:txBody>
      </p:sp>
      <p:sp>
        <p:nvSpPr>
          <p:cNvPr id="10" name="Text 7"/>
          <p:cNvSpPr/>
          <p:nvPr/>
        </p:nvSpPr>
        <p:spPr>
          <a:xfrm>
            <a:off x="1242060" y="2851400"/>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Compras</a:t>
            </a:r>
            <a:endParaRPr lang="en-US" sz="1400" dirty="0"/>
          </a:p>
        </p:txBody>
      </p:sp>
      <p:sp>
        <p:nvSpPr>
          <p:cNvPr id="11" name="Text 8"/>
          <p:cNvSpPr/>
          <p:nvPr/>
        </p:nvSpPr>
        <p:spPr>
          <a:xfrm>
            <a:off x="1208532" y="3238496"/>
            <a:ext cx="1508760" cy="365760"/>
          </a:xfrm>
          <a:prstGeom prst="rect">
            <a:avLst/>
          </a:prstGeom>
          <a:noFill/>
          <a:ln/>
        </p:spPr>
        <p:txBody>
          <a:bodyPr wrap="square" lIns="1016" tIns="1016" rIns="1016" bIns="1016" rtlCol="0" anchor="t">
            <a:normAutofit/>
          </a:bodyPr>
          <a:lstStyle/>
          <a:p>
            <a:pPr algn="ctr"/>
            <a:r>
              <a:rPr lang="es-MX" sz="1100" dirty="0"/>
              <a:t>Facturas físicas de mercadería.</a:t>
            </a:r>
            <a:endParaRPr lang="en-US" sz="1100" dirty="0"/>
          </a:p>
        </p:txBody>
      </p:sp>
      <p:sp>
        <p:nvSpPr>
          <p:cNvPr id="14" name="Shape 10"/>
          <p:cNvSpPr/>
          <p:nvPr/>
        </p:nvSpPr>
        <p:spPr>
          <a:xfrm>
            <a:off x="4223004" y="2252468"/>
            <a:ext cx="384048" cy="0"/>
          </a:xfrm>
          <a:prstGeom prst="line">
            <a:avLst/>
          </a:prstGeom>
          <a:noFill/>
          <a:ln w="17780">
            <a:solidFill>
              <a:srgbClr val="482816"/>
            </a:solidFill>
            <a:prstDash val="solid"/>
            <a:tailEnd type="triangle"/>
          </a:ln>
        </p:spPr>
        <p:txBody>
          <a:bodyPr/>
          <a:lstStyle/>
          <a:p>
            <a:endParaRPr lang="es-MX"/>
          </a:p>
        </p:txBody>
      </p:sp>
      <p:sp>
        <p:nvSpPr>
          <p:cNvPr id="17" name="Shape 13"/>
          <p:cNvSpPr/>
          <p:nvPr/>
        </p:nvSpPr>
        <p:spPr>
          <a:xfrm>
            <a:off x="4844796" y="1776980"/>
            <a:ext cx="960120" cy="960120"/>
          </a:xfrm>
          <a:prstGeom prst="ellipse">
            <a:avLst/>
          </a:prstGeom>
          <a:solidFill>
            <a:srgbClr val="FFFFFF"/>
          </a:solidFill>
          <a:ln w="25400">
            <a:solidFill>
              <a:srgbClr val="482816"/>
            </a:solidFill>
            <a:prstDash val="solid"/>
          </a:ln>
        </p:spPr>
        <p:txBody>
          <a:bodyPr/>
          <a:lstStyle/>
          <a:p>
            <a:endParaRPr lang="es-MX"/>
          </a:p>
        </p:txBody>
      </p:sp>
      <p:pic>
        <p:nvPicPr>
          <p:cNvPr id="18" name="Image 2" descr="/mnt/data/ppt_media/ppt/media/image10.png"/>
          <p:cNvPicPr>
            <a:picLocks noChangeAspect="1"/>
          </p:cNvPicPr>
          <p:nvPr/>
        </p:nvPicPr>
        <p:blipFill>
          <a:blip r:embed="rId4"/>
          <a:stretch>
            <a:fillRect/>
          </a:stretch>
        </p:blipFill>
        <p:spPr>
          <a:xfrm>
            <a:off x="5055108" y="1987292"/>
            <a:ext cx="530352" cy="530352"/>
          </a:xfrm>
          <a:prstGeom prst="rect">
            <a:avLst/>
          </a:prstGeom>
        </p:spPr>
      </p:pic>
      <p:sp>
        <p:nvSpPr>
          <p:cNvPr id="19" name="Shape 14"/>
          <p:cNvSpPr/>
          <p:nvPr/>
        </p:nvSpPr>
        <p:spPr>
          <a:xfrm>
            <a:off x="6073140" y="2252468"/>
            <a:ext cx="384048" cy="0"/>
          </a:xfrm>
          <a:prstGeom prst="line">
            <a:avLst/>
          </a:prstGeom>
          <a:noFill/>
          <a:ln w="17780">
            <a:solidFill>
              <a:srgbClr val="482816"/>
            </a:solidFill>
            <a:prstDash val="solid"/>
            <a:tailEnd type="triangle"/>
          </a:ln>
        </p:spPr>
        <p:txBody>
          <a:bodyPr/>
          <a:lstStyle/>
          <a:p>
            <a:endParaRPr lang="es-MX"/>
          </a:p>
        </p:txBody>
      </p:sp>
      <p:sp>
        <p:nvSpPr>
          <p:cNvPr id="20" name="Text 15"/>
          <p:cNvSpPr/>
          <p:nvPr/>
        </p:nvSpPr>
        <p:spPr>
          <a:xfrm>
            <a:off x="4570476" y="2851400"/>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Venta</a:t>
            </a:r>
            <a:endParaRPr lang="en-US" sz="1400" dirty="0"/>
          </a:p>
        </p:txBody>
      </p:sp>
      <p:sp>
        <p:nvSpPr>
          <p:cNvPr id="21" name="Text 16"/>
          <p:cNvSpPr/>
          <p:nvPr/>
        </p:nvSpPr>
        <p:spPr>
          <a:xfrm>
            <a:off x="4637532" y="3253735"/>
            <a:ext cx="1508760" cy="377202"/>
          </a:xfrm>
          <a:prstGeom prst="rect">
            <a:avLst/>
          </a:prstGeom>
          <a:noFill/>
          <a:ln/>
        </p:spPr>
        <p:txBody>
          <a:bodyPr wrap="square" lIns="1016" tIns="1016" rIns="1016" bIns="1016" rtlCol="0" anchor="t">
            <a:normAutofit fontScale="92500" lnSpcReduction="20000"/>
          </a:bodyPr>
          <a:lstStyle/>
          <a:p>
            <a:pPr algn="ctr"/>
            <a:r>
              <a:rPr lang="es-MX" sz="1100" dirty="0"/>
              <a:t>Venta de pan y mercadería con registro manual de salidas.</a:t>
            </a:r>
            <a:endParaRPr lang="en-US" sz="1100" dirty="0"/>
          </a:p>
        </p:txBody>
      </p:sp>
      <p:sp>
        <p:nvSpPr>
          <p:cNvPr id="27" name="Shape 21"/>
          <p:cNvSpPr/>
          <p:nvPr/>
        </p:nvSpPr>
        <p:spPr>
          <a:xfrm>
            <a:off x="6658356" y="1760978"/>
            <a:ext cx="960120" cy="960120"/>
          </a:xfrm>
          <a:prstGeom prst="ellipse">
            <a:avLst/>
          </a:prstGeom>
          <a:solidFill>
            <a:srgbClr val="FFFFFF"/>
          </a:solidFill>
          <a:ln w="25400">
            <a:solidFill>
              <a:srgbClr val="482816"/>
            </a:solidFill>
            <a:prstDash val="solid"/>
          </a:ln>
        </p:spPr>
        <p:txBody>
          <a:bodyPr/>
          <a:lstStyle/>
          <a:p>
            <a:endParaRPr lang="es-MX"/>
          </a:p>
        </p:txBody>
      </p:sp>
      <p:pic>
        <p:nvPicPr>
          <p:cNvPr id="28" name="Image 4" descr="/mnt/data/ppt_media/ppt/media/image12.png"/>
          <p:cNvPicPr>
            <a:picLocks noChangeAspect="1"/>
          </p:cNvPicPr>
          <p:nvPr/>
        </p:nvPicPr>
        <p:blipFill>
          <a:blip r:embed="rId5"/>
          <a:stretch>
            <a:fillRect/>
          </a:stretch>
        </p:blipFill>
        <p:spPr>
          <a:xfrm>
            <a:off x="6868668" y="1971290"/>
            <a:ext cx="530352" cy="530352"/>
          </a:xfrm>
          <a:prstGeom prst="rect">
            <a:avLst/>
          </a:prstGeom>
        </p:spPr>
      </p:pic>
      <p:sp>
        <p:nvSpPr>
          <p:cNvPr id="29" name="Text 22"/>
          <p:cNvSpPr/>
          <p:nvPr/>
        </p:nvSpPr>
        <p:spPr>
          <a:xfrm>
            <a:off x="6384036" y="2835398"/>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Control</a:t>
            </a:r>
            <a:endParaRPr lang="en-US" sz="1400" dirty="0"/>
          </a:p>
        </p:txBody>
      </p:sp>
      <p:sp>
        <p:nvSpPr>
          <p:cNvPr id="30" name="Text 23"/>
          <p:cNvSpPr/>
          <p:nvPr/>
        </p:nvSpPr>
        <p:spPr>
          <a:xfrm>
            <a:off x="6516624" y="3198872"/>
            <a:ext cx="1508760" cy="365760"/>
          </a:xfrm>
          <a:prstGeom prst="rect">
            <a:avLst/>
          </a:prstGeom>
          <a:noFill/>
          <a:ln/>
        </p:spPr>
        <p:txBody>
          <a:bodyPr wrap="square" lIns="1016" tIns="1016" rIns="1016" bIns="1016" rtlCol="0" anchor="t">
            <a:normAutofit/>
          </a:bodyPr>
          <a:lstStyle/>
          <a:p>
            <a:pPr marL="0" indent="0" algn="ctr">
              <a:buNone/>
            </a:pPr>
            <a:r>
              <a:rPr lang="en-US" sz="1100" dirty="0" err="1">
                <a:solidFill>
                  <a:srgbClr val="25211E"/>
                </a:solidFill>
                <a:latin typeface="Aptos" pitchFamily="34" charset="0"/>
                <a:ea typeface="Aptos" pitchFamily="34" charset="-122"/>
                <a:cs typeface="Aptos" pitchFamily="34" charset="-120"/>
              </a:rPr>
              <a:t>Conteos</a:t>
            </a:r>
            <a:r>
              <a:rPr lang="en-US" sz="1100" dirty="0">
                <a:solidFill>
                  <a:srgbClr val="25211E"/>
                </a:solidFill>
                <a:latin typeface="Aptos" pitchFamily="34" charset="0"/>
                <a:ea typeface="Aptos" pitchFamily="34" charset="-122"/>
                <a:cs typeface="Aptos" pitchFamily="34" charset="-120"/>
              </a:rPr>
              <a:t> </a:t>
            </a:r>
            <a:r>
              <a:rPr lang="en-US" sz="1100" dirty="0" err="1">
                <a:solidFill>
                  <a:srgbClr val="25211E"/>
                </a:solidFill>
                <a:latin typeface="Aptos" pitchFamily="34" charset="0"/>
                <a:ea typeface="Aptos" pitchFamily="34" charset="-122"/>
                <a:cs typeface="Aptos" pitchFamily="34" charset="-120"/>
              </a:rPr>
              <a:t>manuales</a:t>
            </a:r>
            <a:r>
              <a:rPr lang="en-US" sz="1100" dirty="0">
                <a:solidFill>
                  <a:srgbClr val="25211E"/>
                </a:solidFill>
                <a:latin typeface="Aptos" pitchFamily="34" charset="0"/>
                <a:ea typeface="Aptos" pitchFamily="34" charset="-122"/>
                <a:cs typeface="Aptos" pitchFamily="34" charset="-120"/>
              </a:rPr>
              <a:t> y </a:t>
            </a:r>
            <a:r>
              <a:rPr lang="en-US" sz="1100" dirty="0" err="1">
                <a:solidFill>
                  <a:srgbClr val="25211E"/>
                </a:solidFill>
                <a:latin typeface="Aptos" pitchFamily="34" charset="0"/>
                <a:ea typeface="Aptos" pitchFamily="34" charset="-122"/>
                <a:cs typeface="Aptos" pitchFamily="34" charset="-120"/>
              </a:rPr>
              <a:t>revisión</a:t>
            </a:r>
            <a:r>
              <a:rPr lang="en-US" sz="1100" dirty="0">
                <a:solidFill>
                  <a:srgbClr val="25211E"/>
                </a:solidFill>
                <a:latin typeface="Aptos" pitchFamily="34" charset="0"/>
                <a:ea typeface="Aptos" pitchFamily="34" charset="-122"/>
                <a:cs typeface="Aptos" pitchFamily="34" charset="-120"/>
              </a:rPr>
              <a:t> de </a:t>
            </a:r>
            <a:r>
              <a:rPr lang="en-US" sz="1100" dirty="0" err="1">
                <a:solidFill>
                  <a:srgbClr val="25211E"/>
                </a:solidFill>
                <a:latin typeface="Aptos" pitchFamily="34" charset="0"/>
                <a:ea typeface="Aptos" pitchFamily="34" charset="-122"/>
                <a:cs typeface="Aptos" pitchFamily="34" charset="-120"/>
              </a:rPr>
              <a:t>cámaras</a:t>
            </a:r>
            <a:r>
              <a:rPr lang="en-US" sz="1100" dirty="0">
                <a:solidFill>
                  <a:srgbClr val="25211E"/>
                </a:solidFill>
                <a:latin typeface="Aptos" pitchFamily="34" charset="0"/>
                <a:ea typeface="Aptos" pitchFamily="34" charset="-122"/>
                <a:cs typeface="Aptos" pitchFamily="34" charset="-120"/>
              </a:rPr>
              <a:t>.</a:t>
            </a:r>
            <a:endParaRPr lang="en-US" sz="1100" dirty="0"/>
          </a:p>
        </p:txBody>
      </p:sp>
      <p:sp>
        <p:nvSpPr>
          <p:cNvPr id="65" name="Shape 17">
            <a:extLst>
              <a:ext uri="{FF2B5EF4-FFF2-40B4-BE49-F238E27FC236}">
                <a16:creationId xmlns:a16="http://schemas.microsoft.com/office/drawing/2014/main" id="{E7DDF7C2-C8F0-57C3-96F9-AD33D3F25C83}"/>
              </a:ext>
            </a:extLst>
          </p:cNvPr>
          <p:cNvSpPr/>
          <p:nvPr/>
        </p:nvSpPr>
        <p:spPr>
          <a:xfrm>
            <a:off x="3211068" y="4104886"/>
            <a:ext cx="960120" cy="960120"/>
          </a:xfrm>
          <a:prstGeom prst="ellipse">
            <a:avLst/>
          </a:prstGeom>
          <a:solidFill>
            <a:srgbClr val="FFFFFF"/>
          </a:solidFill>
          <a:ln w="25400">
            <a:solidFill>
              <a:srgbClr val="482816"/>
            </a:solidFill>
            <a:prstDash val="solid"/>
          </a:ln>
        </p:spPr>
        <p:txBody>
          <a:bodyPr/>
          <a:lstStyle/>
          <a:p>
            <a:endParaRPr lang="es-MX"/>
          </a:p>
        </p:txBody>
      </p:sp>
      <p:pic>
        <p:nvPicPr>
          <p:cNvPr id="67" name="Image 3" descr="/mnt/data/ppt_media/ppt/media/image11.png">
            <a:extLst>
              <a:ext uri="{FF2B5EF4-FFF2-40B4-BE49-F238E27FC236}">
                <a16:creationId xmlns:a16="http://schemas.microsoft.com/office/drawing/2014/main" id="{3ABA2EC9-F0FD-D4F0-9986-561F7B8CC9F0}"/>
              </a:ext>
            </a:extLst>
          </p:cNvPr>
          <p:cNvPicPr>
            <a:picLocks noChangeAspect="1"/>
          </p:cNvPicPr>
          <p:nvPr/>
        </p:nvPicPr>
        <p:blipFill>
          <a:blip r:embed="rId6"/>
          <a:stretch>
            <a:fillRect/>
          </a:stretch>
        </p:blipFill>
        <p:spPr>
          <a:xfrm>
            <a:off x="3421380" y="4315198"/>
            <a:ext cx="530352" cy="530352"/>
          </a:xfrm>
          <a:prstGeom prst="rect">
            <a:avLst/>
          </a:prstGeom>
        </p:spPr>
      </p:pic>
      <p:sp>
        <p:nvSpPr>
          <p:cNvPr id="69" name="Shape 18">
            <a:extLst>
              <a:ext uri="{FF2B5EF4-FFF2-40B4-BE49-F238E27FC236}">
                <a16:creationId xmlns:a16="http://schemas.microsoft.com/office/drawing/2014/main" id="{FF66D103-7095-28A5-C5D8-1C18BE59C179}"/>
              </a:ext>
            </a:extLst>
          </p:cNvPr>
          <p:cNvSpPr/>
          <p:nvPr/>
        </p:nvSpPr>
        <p:spPr>
          <a:xfrm>
            <a:off x="4253484" y="4580374"/>
            <a:ext cx="384048" cy="0"/>
          </a:xfrm>
          <a:prstGeom prst="line">
            <a:avLst/>
          </a:prstGeom>
          <a:noFill/>
          <a:ln w="17780">
            <a:solidFill>
              <a:srgbClr val="482816"/>
            </a:solidFill>
            <a:prstDash val="solid"/>
            <a:tailEnd type="triangle"/>
          </a:ln>
        </p:spPr>
        <p:txBody>
          <a:bodyPr/>
          <a:lstStyle/>
          <a:p>
            <a:endParaRPr lang="es-MX"/>
          </a:p>
        </p:txBody>
      </p:sp>
      <p:sp>
        <p:nvSpPr>
          <p:cNvPr id="71" name="Text 19">
            <a:extLst>
              <a:ext uri="{FF2B5EF4-FFF2-40B4-BE49-F238E27FC236}">
                <a16:creationId xmlns:a16="http://schemas.microsoft.com/office/drawing/2014/main" id="{691F4DC8-4302-1CE2-BE1A-97F5C0301970}"/>
              </a:ext>
            </a:extLst>
          </p:cNvPr>
          <p:cNvSpPr/>
          <p:nvPr/>
        </p:nvSpPr>
        <p:spPr>
          <a:xfrm>
            <a:off x="2900172" y="5339326"/>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Despacho</a:t>
            </a:r>
            <a:endParaRPr lang="en-US" sz="1400" dirty="0"/>
          </a:p>
        </p:txBody>
      </p:sp>
      <p:sp>
        <p:nvSpPr>
          <p:cNvPr id="73" name="Text 20">
            <a:extLst>
              <a:ext uri="{FF2B5EF4-FFF2-40B4-BE49-F238E27FC236}">
                <a16:creationId xmlns:a16="http://schemas.microsoft.com/office/drawing/2014/main" id="{7A7B5E45-7821-34F1-B24A-F9429F59C9DA}"/>
              </a:ext>
            </a:extLst>
          </p:cNvPr>
          <p:cNvSpPr/>
          <p:nvPr/>
        </p:nvSpPr>
        <p:spPr>
          <a:xfrm>
            <a:off x="2900172" y="5750806"/>
            <a:ext cx="1508760" cy="640080"/>
          </a:xfrm>
          <a:prstGeom prst="rect">
            <a:avLst/>
          </a:prstGeom>
          <a:noFill/>
          <a:ln/>
        </p:spPr>
        <p:txBody>
          <a:bodyPr wrap="square" lIns="1016" tIns="1016" rIns="1016" bIns="1016" rtlCol="0" anchor="t">
            <a:normAutofit/>
          </a:bodyPr>
          <a:lstStyle/>
          <a:p>
            <a:r>
              <a:rPr lang="es-MX" sz="1050" dirty="0"/>
              <a:t>Cantidad de pan enviada anotada manualmente.</a:t>
            </a:r>
          </a:p>
        </p:txBody>
      </p:sp>
      <p:sp>
        <p:nvSpPr>
          <p:cNvPr id="75" name="Shape 21">
            <a:extLst>
              <a:ext uri="{FF2B5EF4-FFF2-40B4-BE49-F238E27FC236}">
                <a16:creationId xmlns:a16="http://schemas.microsoft.com/office/drawing/2014/main" id="{19387CB7-6761-BCBB-1661-E1B32AA720BD}"/>
              </a:ext>
            </a:extLst>
          </p:cNvPr>
          <p:cNvSpPr/>
          <p:nvPr/>
        </p:nvSpPr>
        <p:spPr>
          <a:xfrm>
            <a:off x="4875276" y="4104886"/>
            <a:ext cx="960120" cy="960120"/>
          </a:xfrm>
          <a:prstGeom prst="ellipse">
            <a:avLst/>
          </a:prstGeom>
          <a:solidFill>
            <a:srgbClr val="FFFFFF"/>
          </a:solidFill>
          <a:ln w="25400">
            <a:solidFill>
              <a:srgbClr val="482816"/>
            </a:solidFill>
            <a:prstDash val="solid"/>
          </a:ln>
        </p:spPr>
        <p:txBody>
          <a:bodyPr/>
          <a:lstStyle/>
          <a:p>
            <a:endParaRPr lang="es-MX"/>
          </a:p>
        </p:txBody>
      </p:sp>
      <p:pic>
        <p:nvPicPr>
          <p:cNvPr id="77" name="Image 4" descr="/mnt/data/ppt_media/ppt/media/image12.png">
            <a:extLst>
              <a:ext uri="{FF2B5EF4-FFF2-40B4-BE49-F238E27FC236}">
                <a16:creationId xmlns:a16="http://schemas.microsoft.com/office/drawing/2014/main" id="{C7706240-B0ED-A212-DECA-D7684ED9D4FA}"/>
              </a:ext>
            </a:extLst>
          </p:cNvPr>
          <p:cNvPicPr>
            <a:picLocks noChangeAspect="1"/>
          </p:cNvPicPr>
          <p:nvPr/>
        </p:nvPicPr>
        <p:blipFill>
          <a:blip r:embed="rId5"/>
          <a:stretch>
            <a:fillRect/>
          </a:stretch>
        </p:blipFill>
        <p:spPr>
          <a:xfrm>
            <a:off x="5085588" y="4315198"/>
            <a:ext cx="530352" cy="530352"/>
          </a:xfrm>
          <a:prstGeom prst="rect">
            <a:avLst/>
          </a:prstGeom>
        </p:spPr>
      </p:pic>
      <p:sp>
        <p:nvSpPr>
          <p:cNvPr id="79" name="Text 22">
            <a:extLst>
              <a:ext uri="{FF2B5EF4-FFF2-40B4-BE49-F238E27FC236}">
                <a16:creationId xmlns:a16="http://schemas.microsoft.com/office/drawing/2014/main" id="{E2A42682-C752-1E52-394F-23C6407BB106}"/>
              </a:ext>
            </a:extLst>
          </p:cNvPr>
          <p:cNvSpPr/>
          <p:nvPr/>
        </p:nvSpPr>
        <p:spPr>
          <a:xfrm>
            <a:off x="4564380" y="5339326"/>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Control</a:t>
            </a:r>
            <a:endParaRPr lang="en-US" sz="1400" dirty="0"/>
          </a:p>
        </p:txBody>
      </p:sp>
      <p:sp>
        <p:nvSpPr>
          <p:cNvPr id="81" name="Text 23">
            <a:extLst>
              <a:ext uri="{FF2B5EF4-FFF2-40B4-BE49-F238E27FC236}">
                <a16:creationId xmlns:a16="http://schemas.microsoft.com/office/drawing/2014/main" id="{8D1FF110-DB94-8C3F-ABC7-E432346227B2}"/>
              </a:ext>
            </a:extLst>
          </p:cNvPr>
          <p:cNvSpPr/>
          <p:nvPr/>
        </p:nvSpPr>
        <p:spPr>
          <a:xfrm>
            <a:off x="4564380" y="5750806"/>
            <a:ext cx="1508760" cy="640080"/>
          </a:xfrm>
          <a:prstGeom prst="rect">
            <a:avLst/>
          </a:prstGeom>
          <a:noFill/>
          <a:ln/>
        </p:spPr>
        <p:txBody>
          <a:bodyPr wrap="square" lIns="1016" tIns="1016" rIns="1016" bIns="1016" rtlCol="0" anchor="t">
            <a:normAutofit lnSpcReduction="10000"/>
          </a:bodyPr>
          <a:lstStyle/>
          <a:p>
            <a:pPr algn="ctr"/>
            <a:r>
              <a:rPr lang="es-MX" sz="1050" dirty="0"/>
              <a:t>Comparación manual entre cantidades enviadas y recibidas y revisión ante diferencias.</a:t>
            </a:r>
            <a:endParaRPr lang="en-US" sz="1050" dirty="0"/>
          </a:p>
        </p:txBody>
      </p:sp>
      <p:sp>
        <p:nvSpPr>
          <p:cNvPr id="83" name="Shape 21">
            <a:extLst>
              <a:ext uri="{FF2B5EF4-FFF2-40B4-BE49-F238E27FC236}">
                <a16:creationId xmlns:a16="http://schemas.microsoft.com/office/drawing/2014/main" id="{39DC3909-7544-C192-25A9-8773C5D22F48}"/>
              </a:ext>
            </a:extLst>
          </p:cNvPr>
          <p:cNvSpPr/>
          <p:nvPr/>
        </p:nvSpPr>
        <p:spPr>
          <a:xfrm>
            <a:off x="3084576" y="1772408"/>
            <a:ext cx="960120" cy="960120"/>
          </a:xfrm>
          <a:prstGeom prst="ellipse">
            <a:avLst/>
          </a:prstGeom>
          <a:solidFill>
            <a:srgbClr val="FFFFFF"/>
          </a:solidFill>
          <a:ln w="25400">
            <a:solidFill>
              <a:srgbClr val="482816"/>
            </a:solidFill>
            <a:prstDash val="solid"/>
          </a:ln>
        </p:spPr>
        <p:txBody>
          <a:bodyPr/>
          <a:lstStyle/>
          <a:p>
            <a:endParaRPr lang="es-MX"/>
          </a:p>
        </p:txBody>
      </p:sp>
      <p:pic>
        <p:nvPicPr>
          <p:cNvPr id="85" name="Image 4" descr="/mnt/data/ppt_media/ppt/media/image12.png">
            <a:extLst>
              <a:ext uri="{FF2B5EF4-FFF2-40B4-BE49-F238E27FC236}">
                <a16:creationId xmlns:a16="http://schemas.microsoft.com/office/drawing/2014/main" id="{DE0518A4-A4BD-5215-6A67-D1EFA2C29E74}"/>
              </a:ext>
            </a:extLst>
          </p:cNvPr>
          <p:cNvPicPr>
            <a:picLocks noChangeAspect="1"/>
          </p:cNvPicPr>
          <p:nvPr/>
        </p:nvPicPr>
        <p:blipFill>
          <a:blip r:embed="rId5"/>
          <a:stretch>
            <a:fillRect/>
          </a:stretch>
        </p:blipFill>
        <p:spPr>
          <a:xfrm>
            <a:off x="3298698" y="1977387"/>
            <a:ext cx="530352" cy="530352"/>
          </a:xfrm>
          <a:prstGeom prst="rect">
            <a:avLst/>
          </a:prstGeom>
        </p:spPr>
      </p:pic>
      <p:sp>
        <p:nvSpPr>
          <p:cNvPr id="87" name="Text 22">
            <a:extLst>
              <a:ext uri="{FF2B5EF4-FFF2-40B4-BE49-F238E27FC236}">
                <a16:creationId xmlns:a16="http://schemas.microsoft.com/office/drawing/2014/main" id="{202E8DE9-55D3-3C2E-4FB2-960095989BAE}"/>
              </a:ext>
            </a:extLst>
          </p:cNvPr>
          <p:cNvSpPr/>
          <p:nvPr/>
        </p:nvSpPr>
        <p:spPr>
          <a:xfrm>
            <a:off x="2727960" y="2895597"/>
            <a:ext cx="1508760" cy="320040"/>
          </a:xfrm>
          <a:prstGeom prst="rect">
            <a:avLst/>
          </a:prstGeom>
          <a:noFill/>
          <a:ln/>
        </p:spPr>
        <p:txBody>
          <a:bodyPr wrap="square" lIns="1016" tIns="1016" rIns="1016" bIns="1016" rtlCol="0" anchor="t">
            <a:normAutofit/>
          </a:bodyPr>
          <a:lstStyle/>
          <a:p>
            <a:pPr marL="0" indent="0" algn="ctr">
              <a:buNone/>
            </a:pPr>
            <a:r>
              <a:rPr lang="en-US" sz="1400" b="1" dirty="0">
                <a:solidFill>
                  <a:srgbClr val="482816"/>
                </a:solidFill>
                <a:latin typeface="Aptos" pitchFamily="34" charset="0"/>
                <a:ea typeface="Aptos" pitchFamily="34" charset="-122"/>
                <a:cs typeface="Aptos" pitchFamily="34" charset="-120"/>
              </a:rPr>
              <a:t>Control</a:t>
            </a:r>
            <a:endParaRPr lang="en-US" sz="1400" dirty="0"/>
          </a:p>
        </p:txBody>
      </p:sp>
      <p:sp>
        <p:nvSpPr>
          <p:cNvPr id="89" name="Text 23">
            <a:extLst>
              <a:ext uri="{FF2B5EF4-FFF2-40B4-BE49-F238E27FC236}">
                <a16:creationId xmlns:a16="http://schemas.microsoft.com/office/drawing/2014/main" id="{473A820C-6259-7683-0C29-F7CB9F5280B7}"/>
              </a:ext>
            </a:extLst>
          </p:cNvPr>
          <p:cNvSpPr/>
          <p:nvPr/>
        </p:nvSpPr>
        <p:spPr>
          <a:xfrm>
            <a:off x="2809494" y="3252212"/>
            <a:ext cx="1508760" cy="365760"/>
          </a:xfrm>
          <a:prstGeom prst="rect">
            <a:avLst/>
          </a:prstGeom>
          <a:noFill/>
          <a:ln/>
        </p:spPr>
        <p:txBody>
          <a:bodyPr wrap="square" lIns="1016" tIns="1016" rIns="1016" bIns="1016" rtlCol="0" anchor="t">
            <a:normAutofit/>
          </a:bodyPr>
          <a:lstStyle/>
          <a:p>
            <a:pPr algn="ctr"/>
            <a:r>
              <a:rPr lang="es-MX" sz="1100" dirty="0"/>
              <a:t>Ingreso y control manual de mercadería.</a:t>
            </a:r>
            <a:endParaRPr lang="en-US" sz="1100" dirty="0"/>
          </a:p>
        </p:txBody>
      </p:sp>
      <p:sp>
        <p:nvSpPr>
          <p:cNvPr id="93" name="Text 1">
            <a:extLst>
              <a:ext uri="{FF2B5EF4-FFF2-40B4-BE49-F238E27FC236}">
                <a16:creationId xmlns:a16="http://schemas.microsoft.com/office/drawing/2014/main" id="{B80FA1B1-FE59-17DA-81F6-44B37767D068}"/>
              </a:ext>
            </a:extLst>
          </p:cNvPr>
          <p:cNvSpPr/>
          <p:nvPr/>
        </p:nvSpPr>
        <p:spPr>
          <a:xfrm>
            <a:off x="484632" y="1354456"/>
            <a:ext cx="723900" cy="292608"/>
          </a:xfrm>
          <a:prstGeom prst="rect">
            <a:avLst/>
          </a:prstGeom>
          <a:noFill/>
          <a:ln/>
        </p:spPr>
        <p:txBody>
          <a:bodyPr wrap="square" lIns="0" tIns="0" rIns="0" bIns="0" rtlCol="0" anchor="ctr"/>
          <a:lstStyle/>
          <a:p>
            <a:pPr marL="0" indent="0">
              <a:buNone/>
            </a:pPr>
            <a:r>
              <a:rPr lang="en-US" sz="1600" b="1" dirty="0">
                <a:solidFill>
                  <a:srgbClr val="635950"/>
                </a:solidFill>
                <a:latin typeface="Aptos" pitchFamily="34" charset="0"/>
                <a:ea typeface="Aptos" pitchFamily="34" charset="-122"/>
                <a:cs typeface="Aptos" pitchFamily="34" charset="-120"/>
              </a:rPr>
              <a:t>Meson</a:t>
            </a:r>
            <a:endParaRPr lang="en-US" sz="1600" b="1" dirty="0"/>
          </a:p>
        </p:txBody>
      </p:sp>
      <p:sp>
        <p:nvSpPr>
          <p:cNvPr id="95" name="Text 1">
            <a:extLst>
              <a:ext uri="{FF2B5EF4-FFF2-40B4-BE49-F238E27FC236}">
                <a16:creationId xmlns:a16="http://schemas.microsoft.com/office/drawing/2014/main" id="{71AB2526-CCEF-4EA1-9704-BA574F810C4C}"/>
              </a:ext>
            </a:extLst>
          </p:cNvPr>
          <p:cNvSpPr/>
          <p:nvPr/>
        </p:nvSpPr>
        <p:spPr>
          <a:xfrm>
            <a:off x="530352" y="3982212"/>
            <a:ext cx="1100328" cy="292608"/>
          </a:xfrm>
          <a:prstGeom prst="rect">
            <a:avLst/>
          </a:prstGeom>
          <a:noFill/>
          <a:ln/>
        </p:spPr>
        <p:txBody>
          <a:bodyPr wrap="square" lIns="0" tIns="0" rIns="0" bIns="0" rtlCol="0" anchor="ctr"/>
          <a:lstStyle/>
          <a:p>
            <a:pPr marL="0" indent="0">
              <a:buNone/>
            </a:pPr>
            <a:r>
              <a:rPr lang="en-US" sz="1600" b="1" dirty="0" err="1">
                <a:solidFill>
                  <a:srgbClr val="635950"/>
                </a:solidFill>
                <a:latin typeface="Aptos" pitchFamily="34" charset="0"/>
                <a:ea typeface="Aptos" pitchFamily="34" charset="-122"/>
                <a:cs typeface="Aptos" pitchFamily="34" charset="-120"/>
              </a:rPr>
              <a:t>Despacho</a:t>
            </a:r>
            <a:endParaRPr lang="en-US"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19" y="411480"/>
            <a:ext cx="8345805" cy="411480"/>
          </a:xfrm>
          <a:prstGeom prst="rect">
            <a:avLst/>
          </a:prstGeom>
          <a:noFill/>
          <a:ln/>
        </p:spPr>
        <p:txBody>
          <a:bodyPr wrap="square" lIns="0" tIns="0" rIns="0" bIns="0" rtlCol="0" anchor="ctr"/>
          <a:lstStyle/>
          <a:p>
            <a:pPr marL="0" indent="0">
              <a:buNone/>
            </a:pPr>
            <a:r>
              <a:rPr lang="en-US" sz="2700" b="1">
                <a:solidFill>
                  <a:srgbClr val="25211E"/>
                </a:solidFill>
                <a:latin typeface="Aptos Display" pitchFamily="34" charset="0"/>
                <a:ea typeface="Aptos Display" pitchFamily="34" charset="-122"/>
                <a:cs typeface="Aptos Display" pitchFamily="34" charset="-120"/>
              </a:rPr>
              <a:t>Usuarios, clientes y cambio de comportamiento</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Qué harán los usuarios para obtener valor del sistema.</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05</a:t>
            </a:r>
            <a:endParaRPr lang="en-US" sz="850" dirty="0"/>
          </a:p>
        </p:txBody>
      </p:sp>
      <p:sp>
        <p:nvSpPr>
          <p:cNvPr id="7" name="Shape 5"/>
          <p:cNvSpPr/>
          <p:nvPr/>
        </p:nvSpPr>
        <p:spPr>
          <a:xfrm>
            <a:off x="502920" y="1325880"/>
            <a:ext cx="3840480" cy="960120"/>
          </a:xfrm>
          <a:prstGeom prst="roundRect">
            <a:avLst>
              <a:gd name="adj" fmla="val 5714"/>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8" name="Shape 6"/>
          <p:cNvSpPr/>
          <p:nvPr/>
        </p:nvSpPr>
        <p:spPr>
          <a:xfrm>
            <a:off x="502920" y="1325880"/>
            <a:ext cx="54864" cy="960120"/>
          </a:xfrm>
          <a:prstGeom prst="rect">
            <a:avLst/>
          </a:prstGeom>
          <a:solidFill>
            <a:srgbClr val="482816"/>
          </a:solidFill>
          <a:ln w="12700">
            <a:solidFill>
              <a:srgbClr val="482816"/>
            </a:solidFill>
            <a:prstDash val="solid"/>
          </a:ln>
        </p:spPr>
        <p:txBody>
          <a:bodyPr/>
          <a:lstStyle/>
          <a:p>
            <a:endParaRPr lang="es-MX" sz="2400"/>
          </a:p>
        </p:txBody>
      </p:sp>
      <p:sp>
        <p:nvSpPr>
          <p:cNvPr id="9" name="Text 7"/>
          <p:cNvSpPr/>
          <p:nvPr/>
        </p:nvSpPr>
        <p:spPr>
          <a:xfrm>
            <a:off x="667512" y="1435608"/>
            <a:ext cx="358444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Dueño de la panadería</a:t>
            </a:r>
            <a:endParaRPr lang="en-US" sz="1600" dirty="0"/>
          </a:p>
        </p:txBody>
      </p:sp>
      <p:sp>
        <p:nvSpPr>
          <p:cNvPr id="10" name="Text 8"/>
          <p:cNvSpPr/>
          <p:nvPr/>
        </p:nvSpPr>
        <p:spPr>
          <a:xfrm>
            <a:off x="667512" y="1709928"/>
            <a:ext cx="3584448" cy="466344"/>
          </a:xfrm>
          <a:prstGeom prst="rect">
            <a:avLst/>
          </a:prstGeom>
          <a:noFill/>
          <a:ln/>
        </p:spPr>
        <p:txBody>
          <a:bodyPr wrap="square" lIns="1016" tIns="1016" rIns="1016" bIns="1016" rtlCol="0" anchor="t">
            <a:noAutofit/>
          </a:bodyPr>
          <a:lstStyle/>
          <a:p>
            <a:pPr marL="0" indent="0" algn="l">
              <a:buNone/>
            </a:pPr>
            <a:r>
              <a:rPr lang="en-US" sz="1050" dirty="0">
                <a:solidFill>
                  <a:srgbClr val="25211E"/>
                </a:solidFill>
                <a:latin typeface="Aptos" pitchFamily="34" charset="0"/>
                <a:ea typeface="Aptos" pitchFamily="34" charset="-122"/>
                <a:cs typeface="Aptos" pitchFamily="34" charset="-120"/>
              </a:rPr>
              <a:t>Consulta stock, diferencias e historial de movimientos para apoyar el control de mercadería y decisiones de compra/reposición.</a:t>
            </a:r>
            <a:endParaRPr lang="en-US" sz="1050" dirty="0"/>
          </a:p>
        </p:txBody>
      </p:sp>
      <p:sp>
        <p:nvSpPr>
          <p:cNvPr id="11" name="Shape 9"/>
          <p:cNvSpPr/>
          <p:nvPr/>
        </p:nvSpPr>
        <p:spPr>
          <a:xfrm>
            <a:off x="4617720" y="1325880"/>
            <a:ext cx="3840480" cy="960120"/>
          </a:xfrm>
          <a:prstGeom prst="roundRect">
            <a:avLst>
              <a:gd name="adj" fmla="val 5714"/>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12" name="Shape 10"/>
          <p:cNvSpPr/>
          <p:nvPr/>
        </p:nvSpPr>
        <p:spPr>
          <a:xfrm>
            <a:off x="4617720" y="1325880"/>
            <a:ext cx="54864" cy="960120"/>
          </a:xfrm>
          <a:prstGeom prst="rect">
            <a:avLst/>
          </a:prstGeom>
          <a:solidFill>
            <a:srgbClr val="482816"/>
          </a:solidFill>
          <a:ln w="12700">
            <a:solidFill>
              <a:srgbClr val="482816"/>
            </a:solidFill>
            <a:prstDash val="solid"/>
          </a:ln>
        </p:spPr>
        <p:txBody>
          <a:bodyPr/>
          <a:lstStyle/>
          <a:p>
            <a:endParaRPr lang="es-MX" sz="2400"/>
          </a:p>
        </p:txBody>
      </p:sp>
      <p:sp>
        <p:nvSpPr>
          <p:cNvPr id="13" name="Text 11"/>
          <p:cNvSpPr/>
          <p:nvPr/>
        </p:nvSpPr>
        <p:spPr>
          <a:xfrm>
            <a:off x="4782312" y="1435608"/>
            <a:ext cx="358444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Mesoneras</a:t>
            </a:r>
            <a:endParaRPr lang="en-US" sz="1600" dirty="0"/>
          </a:p>
        </p:txBody>
      </p:sp>
      <p:sp>
        <p:nvSpPr>
          <p:cNvPr id="14" name="Text 12"/>
          <p:cNvSpPr/>
          <p:nvPr/>
        </p:nvSpPr>
        <p:spPr>
          <a:xfrm>
            <a:off x="4782312" y="1709928"/>
            <a:ext cx="3584448" cy="466344"/>
          </a:xfrm>
          <a:prstGeom prst="rect">
            <a:avLst/>
          </a:prstGeom>
          <a:noFill/>
          <a:ln/>
        </p:spPr>
        <p:txBody>
          <a:bodyPr wrap="square" lIns="1016" tIns="1016" rIns="1016" bIns="1016" rtlCol="0" anchor="t">
            <a:normAutofit/>
          </a:bodyPr>
          <a:lstStyle/>
          <a:p>
            <a:r>
              <a:rPr lang="es-MX" sz="1050" dirty="0"/>
              <a:t>Registran ventas de pan y mercadería, generando respaldo digital y trazable de los movimientos asociados.</a:t>
            </a:r>
            <a:endParaRPr lang="en-US" sz="1050" dirty="0"/>
          </a:p>
        </p:txBody>
      </p:sp>
      <p:sp>
        <p:nvSpPr>
          <p:cNvPr id="15" name="Shape 13"/>
          <p:cNvSpPr/>
          <p:nvPr/>
        </p:nvSpPr>
        <p:spPr>
          <a:xfrm>
            <a:off x="502920" y="2606040"/>
            <a:ext cx="4706112" cy="960120"/>
          </a:xfrm>
          <a:prstGeom prst="roundRect">
            <a:avLst>
              <a:gd name="adj" fmla="val 5714"/>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16" name="Shape 14"/>
          <p:cNvSpPr/>
          <p:nvPr/>
        </p:nvSpPr>
        <p:spPr>
          <a:xfrm>
            <a:off x="502920" y="2606040"/>
            <a:ext cx="54864" cy="960120"/>
          </a:xfrm>
          <a:prstGeom prst="rect">
            <a:avLst/>
          </a:prstGeom>
          <a:solidFill>
            <a:srgbClr val="482816"/>
          </a:solidFill>
          <a:ln w="12700">
            <a:solidFill>
              <a:srgbClr val="482816"/>
            </a:solidFill>
            <a:prstDash val="solid"/>
          </a:ln>
        </p:spPr>
        <p:txBody>
          <a:bodyPr/>
          <a:lstStyle/>
          <a:p>
            <a:endParaRPr lang="es-MX" sz="2400"/>
          </a:p>
        </p:txBody>
      </p:sp>
      <p:sp>
        <p:nvSpPr>
          <p:cNvPr id="17" name="Text 15"/>
          <p:cNvSpPr/>
          <p:nvPr/>
        </p:nvSpPr>
        <p:spPr>
          <a:xfrm>
            <a:off x="667512" y="2715768"/>
            <a:ext cx="358444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Despachador</a:t>
            </a:r>
            <a:endParaRPr lang="en-US" sz="1600" dirty="0"/>
          </a:p>
        </p:txBody>
      </p:sp>
      <p:sp>
        <p:nvSpPr>
          <p:cNvPr id="18" name="Text 16"/>
          <p:cNvSpPr/>
          <p:nvPr/>
        </p:nvSpPr>
        <p:spPr>
          <a:xfrm>
            <a:off x="667512" y="2990088"/>
            <a:ext cx="3584448" cy="466344"/>
          </a:xfrm>
          <a:prstGeom prst="rect">
            <a:avLst/>
          </a:prstGeom>
          <a:noFill/>
          <a:ln/>
        </p:spPr>
        <p:txBody>
          <a:bodyPr wrap="square" lIns="1016" tIns="1016" rIns="1016" bIns="1016" rtlCol="0" anchor="t">
            <a:normAutofit/>
          </a:bodyPr>
          <a:lstStyle/>
          <a:p>
            <a:pPr marL="0" indent="0" algn="l">
              <a:buNone/>
            </a:pPr>
            <a:r>
              <a:rPr lang="en-US" sz="1050" dirty="0">
                <a:solidFill>
                  <a:srgbClr val="25211E"/>
                </a:solidFill>
                <a:latin typeface="Aptos" pitchFamily="34" charset="0"/>
                <a:ea typeface="Aptos" pitchFamily="34" charset="-122"/>
                <a:cs typeface="Aptos" pitchFamily="34" charset="-120"/>
              </a:rPr>
              <a:t>Registra y compara cantidades enviadas y recibidas, obteniendo un historial trazable de cada despacho.</a:t>
            </a:r>
            <a:endParaRPr lang="en-US" sz="1050" dirty="0"/>
          </a:p>
        </p:txBody>
      </p:sp>
      <p:sp>
        <p:nvSpPr>
          <p:cNvPr id="23" name="Shape 21"/>
          <p:cNvSpPr/>
          <p:nvPr/>
        </p:nvSpPr>
        <p:spPr>
          <a:xfrm>
            <a:off x="1234440" y="4160520"/>
            <a:ext cx="6675120" cy="868680"/>
          </a:xfrm>
          <a:prstGeom prst="roundRect">
            <a:avLst>
              <a:gd name="adj" fmla="val 6316"/>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24" name="Shape 22"/>
          <p:cNvSpPr/>
          <p:nvPr/>
        </p:nvSpPr>
        <p:spPr>
          <a:xfrm>
            <a:off x="1234440" y="4160520"/>
            <a:ext cx="54864" cy="868680"/>
          </a:xfrm>
          <a:prstGeom prst="rect">
            <a:avLst/>
          </a:prstGeom>
          <a:solidFill>
            <a:srgbClr val="482816"/>
          </a:solidFill>
          <a:ln w="12700">
            <a:solidFill>
              <a:srgbClr val="482816"/>
            </a:solidFill>
            <a:prstDash val="solid"/>
          </a:ln>
        </p:spPr>
        <p:txBody>
          <a:bodyPr/>
          <a:lstStyle/>
          <a:p>
            <a:endParaRPr lang="es-MX" sz="2400"/>
          </a:p>
        </p:txBody>
      </p:sp>
      <p:sp>
        <p:nvSpPr>
          <p:cNvPr id="25" name="Text 23"/>
          <p:cNvSpPr/>
          <p:nvPr/>
        </p:nvSpPr>
        <p:spPr>
          <a:xfrm>
            <a:off x="1399032" y="4270248"/>
            <a:ext cx="641908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Cambio esperado</a:t>
            </a:r>
            <a:endParaRPr lang="en-US" sz="1600" dirty="0"/>
          </a:p>
        </p:txBody>
      </p:sp>
      <p:sp>
        <p:nvSpPr>
          <p:cNvPr id="26" name="Text 24"/>
          <p:cNvSpPr/>
          <p:nvPr/>
        </p:nvSpPr>
        <p:spPr>
          <a:xfrm>
            <a:off x="1399032" y="4544568"/>
            <a:ext cx="6419088" cy="374904"/>
          </a:xfrm>
          <a:prstGeom prst="rect">
            <a:avLst/>
          </a:prstGeom>
          <a:noFill/>
          <a:ln/>
        </p:spPr>
        <p:txBody>
          <a:bodyPr wrap="square" lIns="1016" tIns="1016" rIns="1016" bIns="1016" rtlCol="0" anchor="t">
            <a:normAutofit fontScale="92500" lnSpcReduction="10000"/>
          </a:bodyPr>
          <a:lstStyle/>
          <a:p>
            <a:pPr marL="0" indent="0" algn="l">
              <a:buNone/>
            </a:pPr>
            <a:r>
              <a:rPr lang="en-US" sz="1400" dirty="0">
                <a:solidFill>
                  <a:srgbClr val="25211E"/>
                </a:solidFill>
                <a:latin typeface="Aptos" pitchFamily="34" charset="0"/>
                <a:ea typeface="Aptos" pitchFamily="34" charset="-122"/>
                <a:cs typeface="Aptos" pitchFamily="34" charset="-120"/>
              </a:rPr>
              <a:t>Pasar de registros manuales y dispersos a un flujo digital de registro, consulta y comparación con trazabilidad.</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Descripción de la solución</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100" dirty="0">
                <a:solidFill>
                  <a:srgbClr val="635950"/>
                </a:solidFill>
                <a:latin typeface="Aptos" pitchFamily="34" charset="0"/>
                <a:ea typeface="Aptos" pitchFamily="34" charset="-122"/>
                <a:cs typeface="Aptos" pitchFamily="34" charset="-120"/>
              </a:rPr>
              <a:t>Elevator pitch + módulos principales del MVP.</a:t>
            </a:r>
            <a:endParaRPr lang="en-US" sz="1100" dirty="0"/>
          </a:p>
        </p:txBody>
      </p:sp>
      <p:sp>
        <p:nvSpPr>
          <p:cNvPr id="4" name="Shape 2"/>
          <p:cNvSpPr/>
          <p:nvPr/>
        </p:nvSpPr>
        <p:spPr>
          <a:xfrm>
            <a:off x="475488" y="6711696"/>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06</a:t>
            </a:r>
            <a:endParaRPr lang="en-US" sz="850" dirty="0"/>
          </a:p>
        </p:txBody>
      </p:sp>
      <p:pic>
        <p:nvPicPr>
          <p:cNvPr id="7" name="Image 0" descr="/mnt/data/ppt_media/ppt/media/image14.png"/>
          <p:cNvPicPr>
            <a:picLocks noChangeAspect="1"/>
          </p:cNvPicPr>
          <p:nvPr/>
        </p:nvPicPr>
        <p:blipFill>
          <a:blip r:embed="rId3"/>
          <a:srcRect r="26410"/>
          <a:stretch/>
        </p:blipFill>
        <p:spPr>
          <a:xfrm>
            <a:off x="530352" y="1353312"/>
            <a:ext cx="3977640" cy="3063240"/>
          </a:xfrm>
          <a:prstGeom prst="rect">
            <a:avLst/>
          </a:prstGeom>
        </p:spPr>
      </p:pic>
      <p:sp>
        <p:nvSpPr>
          <p:cNvPr id="8" name="Shape 5"/>
          <p:cNvSpPr/>
          <p:nvPr/>
        </p:nvSpPr>
        <p:spPr>
          <a:xfrm>
            <a:off x="4800600" y="1298448"/>
            <a:ext cx="3794760" cy="1280160"/>
          </a:xfrm>
          <a:prstGeom prst="roundRect">
            <a:avLst>
              <a:gd name="adj" fmla="val 428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9" name="Shape 6"/>
          <p:cNvSpPr/>
          <p:nvPr/>
        </p:nvSpPr>
        <p:spPr>
          <a:xfrm>
            <a:off x="4800600" y="1298448"/>
            <a:ext cx="54864" cy="1280160"/>
          </a:xfrm>
          <a:prstGeom prst="rect">
            <a:avLst/>
          </a:prstGeom>
          <a:solidFill>
            <a:srgbClr val="482816"/>
          </a:solidFill>
          <a:ln w="12700">
            <a:solidFill>
              <a:srgbClr val="482816"/>
            </a:solidFill>
            <a:prstDash val="solid"/>
          </a:ln>
        </p:spPr>
        <p:txBody>
          <a:bodyPr/>
          <a:lstStyle/>
          <a:p>
            <a:endParaRPr lang="es-MX" sz="2000"/>
          </a:p>
        </p:txBody>
      </p:sp>
      <p:sp>
        <p:nvSpPr>
          <p:cNvPr id="10" name="Text 7"/>
          <p:cNvSpPr/>
          <p:nvPr/>
        </p:nvSpPr>
        <p:spPr>
          <a:xfrm>
            <a:off x="4965192" y="1408176"/>
            <a:ext cx="353872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Elevator pitch</a:t>
            </a:r>
            <a:endParaRPr lang="en-US" sz="1400" dirty="0"/>
          </a:p>
        </p:txBody>
      </p:sp>
      <p:sp>
        <p:nvSpPr>
          <p:cNvPr id="11" name="Text 8"/>
          <p:cNvSpPr/>
          <p:nvPr/>
        </p:nvSpPr>
        <p:spPr>
          <a:xfrm>
            <a:off x="4965192" y="1682496"/>
            <a:ext cx="3538728" cy="786384"/>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Digitalizar los movimientos de mercadería permitirá transformar registros dispersos en información trazable para apoyar el control, la investigación de diferencias y la toma de decisiones en la panadería.</a:t>
            </a:r>
            <a:endParaRPr lang="en-US" sz="1200" dirty="0"/>
          </a:p>
        </p:txBody>
      </p:sp>
      <p:sp>
        <p:nvSpPr>
          <p:cNvPr id="12" name="Shape 9"/>
          <p:cNvSpPr/>
          <p:nvPr/>
        </p:nvSpPr>
        <p:spPr>
          <a:xfrm>
            <a:off x="4800600" y="2907792"/>
            <a:ext cx="3794760" cy="475488"/>
          </a:xfrm>
          <a:prstGeom prst="roundRect">
            <a:avLst>
              <a:gd name="adj" fmla="val 15385"/>
            </a:avLst>
          </a:prstGeom>
          <a:solidFill>
            <a:srgbClr val="E7F3DE"/>
          </a:solidFill>
          <a:ln w="12700">
            <a:solidFill>
              <a:srgbClr val="D8CDC2">
                <a:alpha val="85000"/>
              </a:srgbClr>
            </a:solidFill>
            <a:prstDash val="solid"/>
          </a:ln>
        </p:spPr>
        <p:txBody>
          <a:bodyPr/>
          <a:lstStyle/>
          <a:p>
            <a:endParaRPr lang="es-MX" sz="2000"/>
          </a:p>
        </p:txBody>
      </p:sp>
      <p:sp>
        <p:nvSpPr>
          <p:cNvPr id="13" name="Text 10"/>
          <p:cNvSpPr/>
          <p:nvPr/>
        </p:nvSpPr>
        <p:spPr>
          <a:xfrm>
            <a:off x="4873752" y="2971800"/>
            <a:ext cx="201168" cy="201168"/>
          </a:xfrm>
          <a:prstGeom prst="rect">
            <a:avLst/>
          </a:prstGeom>
          <a:noFill/>
          <a:ln/>
        </p:spPr>
        <p:txBody>
          <a:bodyPr wrap="square" lIns="1016" tIns="1016" rIns="1016" bIns="1016" rtlCol="0" anchor="t">
            <a:noAutofit/>
          </a:bodyPr>
          <a:lstStyle/>
          <a:p>
            <a:pPr marL="0" indent="0" algn="ctr">
              <a:buNone/>
            </a:pPr>
            <a:r>
              <a:rPr lang="en-US" sz="1600" b="1" dirty="0">
                <a:solidFill>
                  <a:srgbClr val="482816"/>
                </a:solidFill>
                <a:latin typeface="Aptos" pitchFamily="34" charset="0"/>
                <a:ea typeface="Aptos" pitchFamily="34" charset="-122"/>
                <a:cs typeface="Aptos" pitchFamily="34" charset="-120"/>
              </a:rPr>
              <a:t>✓</a:t>
            </a:r>
            <a:endParaRPr lang="en-US" sz="1600" dirty="0"/>
          </a:p>
        </p:txBody>
      </p:sp>
      <p:sp>
        <p:nvSpPr>
          <p:cNvPr id="14" name="Text 11"/>
          <p:cNvSpPr/>
          <p:nvPr/>
        </p:nvSpPr>
        <p:spPr>
          <a:xfrm>
            <a:off x="5148072" y="2990088"/>
            <a:ext cx="3355848" cy="338328"/>
          </a:xfrm>
          <a:prstGeom prst="rect">
            <a:avLst/>
          </a:prstGeom>
          <a:noFill/>
          <a:ln/>
        </p:spPr>
        <p:txBody>
          <a:bodyPr wrap="square" lIns="1016" tIns="1016" rIns="1016" bIns="1016" rtlCol="0" anchor="t">
            <a:noAutofit/>
          </a:bodyPr>
          <a:lstStyle/>
          <a:p>
            <a:pPr marL="0" indent="0" algn="l">
              <a:buNone/>
            </a:pPr>
            <a:r>
              <a:rPr lang="en-US" sz="1200" dirty="0">
                <a:solidFill>
                  <a:srgbClr val="25211E"/>
                </a:solidFill>
                <a:latin typeface="Aptos" pitchFamily="34" charset="0"/>
                <a:ea typeface="Aptos" pitchFamily="34" charset="-122"/>
                <a:cs typeface="Aptos" pitchFamily="34" charset="-120"/>
              </a:rPr>
              <a:t>Aplicación web responsive para computador y celular.</a:t>
            </a:r>
            <a:endParaRPr lang="en-US" sz="1200" dirty="0"/>
          </a:p>
        </p:txBody>
      </p:sp>
      <p:sp>
        <p:nvSpPr>
          <p:cNvPr id="15" name="Shape 12"/>
          <p:cNvSpPr/>
          <p:nvPr/>
        </p:nvSpPr>
        <p:spPr>
          <a:xfrm>
            <a:off x="4800600" y="3493008"/>
            <a:ext cx="3794760" cy="621792"/>
          </a:xfrm>
          <a:prstGeom prst="roundRect">
            <a:avLst>
              <a:gd name="adj" fmla="val 11765"/>
            </a:avLst>
          </a:prstGeom>
          <a:solidFill>
            <a:srgbClr val="E7F3DE"/>
          </a:solidFill>
          <a:ln w="12700">
            <a:solidFill>
              <a:srgbClr val="D8CDC2">
                <a:alpha val="85000"/>
              </a:srgbClr>
            </a:solidFill>
            <a:prstDash val="solid"/>
          </a:ln>
        </p:spPr>
        <p:txBody>
          <a:bodyPr/>
          <a:lstStyle/>
          <a:p>
            <a:endParaRPr lang="es-MX" sz="2000"/>
          </a:p>
        </p:txBody>
      </p:sp>
      <p:sp>
        <p:nvSpPr>
          <p:cNvPr id="16" name="Text 13"/>
          <p:cNvSpPr/>
          <p:nvPr/>
        </p:nvSpPr>
        <p:spPr>
          <a:xfrm>
            <a:off x="4873752" y="3557016"/>
            <a:ext cx="201168" cy="201168"/>
          </a:xfrm>
          <a:prstGeom prst="rect">
            <a:avLst/>
          </a:prstGeom>
          <a:noFill/>
          <a:ln/>
        </p:spPr>
        <p:txBody>
          <a:bodyPr wrap="square" lIns="1016" tIns="1016" rIns="1016" bIns="1016" rtlCol="0" anchor="t">
            <a:noAutofit/>
          </a:bodyPr>
          <a:lstStyle/>
          <a:p>
            <a:pPr marL="0" indent="0" algn="ctr">
              <a:buNone/>
            </a:pPr>
            <a:r>
              <a:rPr lang="en-US" sz="1600" b="1" dirty="0">
                <a:solidFill>
                  <a:srgbClr val="482816"/>
                </a:solidFill>
                <a:latin typeface="Aptos" pitchFamily="34" charset="0"/>
                <a:ea typeface="Aptos" pitchFamily="34" charset="-122"/>
                <a:cs typeface="Aptos" pitchFamily="34" charset="-120"/>
              </a:rPr>
              <a:t>✓</a:t>
            </a:r>
            <a:endParaRPr lang="en-US" sz="1600" dirty="0"/>
          </a:p>
        </p:txBody>
      </p:sp>
      <p:sp>
        <p:nvSpPr>
          <p:cNvPr id="17" name="Text 14"/>
          <p:cNvSpPr/>
          <p:nvPr/>
        </p:nvSpPr>
        <p:spPr>
          <a:xfrm>
            <a:off x="5148072" y="3575304"/>
            <a:ext cx="3355848" cy="48463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Registro digital de compras, facturas, </a:t>
            </a:r>
            <a:r>
              <a:rPr lang="en-US" sz="1200" dirty="0" err="1">
                <a:solidFill>
                  <a:srgbClr val="25211E"/>
                </a:solidFill>
                <a:latin typeface="Aptos" pitchFamily="34" charset="0"/>
                <a:ea typeface="Aptos" pitchFamily="34" charset="-122"/>
                <a:cs typeface="Aptos" pitchFamily="34" charset="-120"/>
              </a:rPr>
              <a:t>ventas</a:t>
            </a:r>
            <a:r>
              <a:rPr lang="en-US" sz="1200" dirty="0">
                <a:solidFill>
                  <a:srgbClr val="25211E"/>
                </a:solidFill>
                <a:latin typeface="Aptos" pitchFamily="34" charset="0"/>
                <a:ea typeface="Aptos" pitchFamily="34" charset="-122"/>
                <a:cs typeface="Aptos" pitchFamily="34" charset="-120"/>
              </a:rPr>
              <a:t>, </a:t>
            </a:r>
            <a:r>
              <a:rPr lang="en-US" sz="1200" dirty="0" err="1">
                <a:solidFill>
                  <a:srgbClr val="25211E"/>
                </a:solidFill>
                <a:latin typeface="Aptos" pitchFamily="34" charset="0"/>
                <a:ea typeface="Aptos" pitchFamily="34" charset="-122"/>
                <a:cs typeface="Aptos" pitchFamily="34" charset="-120"/>
              </a:rPr>
              <a:t>salidas</a:t>
            </a:r>
            <a:r>
              <a:rPr lang="en-US" sz="1200" dirty="0">
                <a:solidFill>
                  <a:srgbClr val="25211E"/>
                </a:solidFill>
                <a:latin typeface="Aptos" pitchFamily="34" charset="0"/>
                <a:ea typeface="Aptos" pitchFamily="34" charset="-122"/>
                <a:cs typeface="Aptos" pitchFamily="34" charset="-120"/>
              </a:rPr>
              <a:t> y despachos.</a:t>
            </a:r>
            <a:endParaRPr lang="en-US" sz="1200" dirty="0"/>
          </a:p>
        </p:txBody>
      </p:sp>
      <p:sp>
        <p:nvSpPr>
          <p:cNvPr id="18" name="Shape 15"/>
          <p:cNvSpPr/>
          <p:nvPr/>
        </p:nvSpPr>
        <p:spPr>
          <a:xfrm>
            <a:off x="4800600" y="4224528"/>
            <a:ext cx="3794760" cy="548640"/>
          </a:xfrm>
          <a:prstGeom prst="roundRect">
            <a:avLst>
              <a:gd name="adj" fmla="val 13333"/>
            </a:avLst>
          </a:prstGeom>
          <a:solidFill>
            <a:srgbClr val="E7F3DE"/>
          </a:solidFill>
          <a:ln w="12700">
            <a:solidFill>
              <a:srgbClr val="D8CDC2">
                <a:alpha val="85000"/>
              </a:srgbClr>
            </a:solidFill>
            <a:prstDash val="solid"/>
          </a:ln>
        </p:spPr>
        <p:txBody>
          <a:bodyPr/>
          <a:lstStyle/>
          <a:p>
            <a:endParaRPr lang="es-MX" sz="2000"/>
          </a:p>
        </p:txBody>
      </p:sp>
      <p:sp>
        <p:nvSpPr>
          <p:cNvPr id="19" name="Text 16"/>
          <p:cNvSpPr/>
          <p:nvPr/>
        </p:nvSpPr>
        <p:spPr>
          <a:xfrm>
            <a:off x="4873752" y="4288536"/>
            <a:ext cx="201168" cy="201168"/>
          </a:xfrm>
          <a:prstGeom prst="rect">
            <a:avLst/>
          </a:prstGeom>
          <a:noFill/>
          <a:ln/>
        </p:spPr>
        <p:txBody>
          <a:bodyPr wrap="square" lIns="1016" tIns="1016" rIns="1016" bIns="1016" rtlCol="0" anchor="t">
            <a:noAutofit/>
          </a:bodyPr>
          <a:lstStyle/>
          <a:p>
            <a:pPr marL="0" indent="0" algn="ctr">
              <a:buNone/>
            </a:pPr>
            <a:r>
              <a:rPr lang="en-US" sz="1600" b="1" dirty="0">
                <a:solidFill>
                  <a:srgbClr val="482816"/>
                </a:solidFill>
                <a:latin typeface="Aptos" pitchFamily="34" charset="0"/>
                <a:ea typeface="Aptos" pitchFamily="34" charset="-122"/>
                <a:cs typeface="Aptos" pitchFamily="34" charset="-120"/>
              </a:rPr>
              <a:t>✓</a:t>
            </a:r>
            <a:endParaRPr lang="en-US" sz="1600" dirty="0"/>
          </a:p>
        </p:txBody>
      </p:sp>
      <p:sp>
        <p:nvSpPr>
          <p:cNvPr id="20" name="Text 17"/>
          <p:cNvSpPr/>
          <p:nvPr/>
        </p:nvSpPr>
        <p:spPr>
          <a:xfrm>
            <a:off x="5148072" y="4306824"/>
            <a:ext cx="3355848" cy="411480"/>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Comparación entre stock esperado y stock físico para detectar diferencias.</a:t>
            </a:r>
            <a:endParaRPr lang="en-US" sz="1200" dirty="0"/>
          </a:p>
        </p:txBody>
      </p:sp>
      <p:sp>
        <p:nvSpPr>
          <p:cNvPr id="21" name="Shape 18"/>
          <p:cNvSpPr/>
          <p:nvPr/>
        </p:nvSpPr>
        <p:spPr>
          <a:xfrm>
            <a:off x="502920" y="5129784"/>
            <a:ext cx="8046720" cy="658368"/>
          </a:xfrm>
          <a:prstGeom prst="roundRect">
            <a:avLst>
              <a:gd name="adj" fmla="val 8333"/>
            </a:avLst>
          </a:prstGeom>
          <a:solidFill>
            <a:srgbClr val="DDEBFA"/>
          </a:solidFill>
          <a:ln w="12700">
            <a:solidFill>
              <a:srgbClr val="DDEBFA"/>
            </a:solidFill>
            <a:prstDash val="solid"/>
          </a:ln>
        </p:spPr>
        <p:txBody>
          <a:bodyPr/>
          <a:lstStyle/>
          <a:p>
            <a:endParaRPr lang="es-MX" sz="2000"/>
          </a:p>
        </p:txBody>
      </p:sp>
      <p:sp>
        <p:nvSpPr>
          <p:cNvPr id="22" name="Text 19"/>
          <p:cNvSpPr/>
          <p:nvPr/>
        </p:nvSpPr>
        <p:spPr>
          <a:xfrm>
            <a:off x="658368" y="5285232"/>
            <a:ext cx="7726680" cy="292608"/>
          </a:xfrm>
          <a:prstGeom prst="rect">
            <a:avLst/>
          </a:prstGeom>
          <a:noFill/>
          <a:ln/>
        </p:spPr>
        <p:txBody>
          <a:bodyPr wrap="square" lIns="1016" tIns="1016" rIns="1016" bIns="1016" rtlCol="0" anchor="t">
            <a:noAutofit/>
          </a:bodyPr>
          <a:lstStyle/>
          <a:p>
            <a:pPr marL="0" indent="0" algn="l">
              <a:buNone/>
            </a:pPr>
            <a:r>
              <a:rPr lang="en-US" sz="1200" b="1" dirty="0">
                <a:solidFill>
                  <a:srgbClr val="482816"/>
                </a:solidFill>
                <a:latin typeface="Aptos" pitchFamily="34" charset="0"/>
                <a:ea typeface="Aptos" pitchFamily="34" charset="-122"/>
                <a:cs typeface="Aptos" pitchFamily="34" charset="-120"/>
              </a:rPr>
              <a:t>El sistema detecta diferencias y entrega trazabilidad para investigarlas; no determina automáticamente si ocurrió una sustracción.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Alcance del MVP</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050" dirty="0">
                <a:solidFill>
                  <a:srgbClr val="635950"/>
                </a:solidFill>
                <a:latin typeface="Aptos" pitchFamily="34" charset="0"/>
                <a:ea typeface="Aptos" pitchFamily="34" charset="-122"/>
                <a:cs typeface="Aptos" pitchFamily="34" charset="-120"/>
              </a:rPr>
              <a:t>Qué contempla y qué no contempla la solución.</a:t>
            </a:r>
            <a:endParaRPr lang="en-US" sz="105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07</a:t>
            </a:r>
            <a:endParaRPr lang="en-US" sz="850" dirty="0"/>
          </a:p>
        </p:txBody>
      </p:sp>
      <p:sp>
        <p:nvSpPr>
          <p:cNvPr id="7" name="Text 5"/>
          <p:cNvSpPr/>
          <p:nvPr/>
        </p:nvSpPr>
        <p:spPr>
          <a:xfrm>
            <a:off x="685800" y="1234440"/>
            <a:ext cx="1089660" cy="320040"/>
          </a:xfrm>
          <a:prstGeom prst="rect">
            <a:avLst/>
          </a:prstGeom>
          <a:noFill/>
          <a:ln/>
        </p:spPr>
        <p:txBody>
          <a:bodyPr wrap="square" lIns="1016" tIns="1016" rIns="1016" bIns="1016" rtlCol="0" anchor="t">
            <a:noAutofit/>
          </a:bodyPr>
          <a:lstStyle/>
          <a:p>
            <a:pPr marL="0" indent="0" algn="l">
              <a:buNone/>
            </a:pPr>
            <a:r>
              <a:rPr lang="en-US" sz="2400" b="1" dirty="0" err="1">
                <a:solidFill>
                  <a:srgbClr val="482816"/>
                </a:solidFill>
                <a:latin typeface="Aptos" pitchFamily="34" charset="0"/>
                <a:ea typeface="Aptos" pitchFamily="34" charset="-122"/>
                <a:cs typeface="Aptos" pitchFamily="34" charset="-120"/>
              </a:rPr>
              <a:t>Incluye</a:t>
            </a:r>
            <a:endParaRPr lang="en-US" sz="2400" dirty="0"/>
          </a:p>
        </p:txBody>
      </p:sp>
      <p:sp>
        <p:nvSpPr>
          <p:cNvPr id="8" name="Text 6"/>
          <p:cNvSpPr/>
          <p:nvPr/>
        </p:nvSpPr>
        <p:spPr>
          <a:xfrm>
            <a:off x="4754880" y="1234440"/>
            <a:ext cx="2263140" cy="320040"/>
          </a:xfrm>
          <a:prstGeom prst="rect">
            <a:avLst/>
          </a:prstGeom>
          <a:noFill/>
          <a:ln/>
        </p:spPr>
        <p:txBody>
          <a:bodyPr wrap="square" lIns="1016" tIns="1016" rIns="1016" bIns="1016" rtlCol="0" anchor="t">
            <a:noAutofit/>
          </a:bodyPr>
          <a:lstStyle/>
          <a:p>
            <a:pPr marL="0" indent="0" algn="l">
              <a:buNone/>
            </a:pPr>
            <a:r>
              <a:rPr lang="en-US" sz="2400" b="1" dirty="0">
                <a:solidFill>
                  <a:srgbClr val="C87B73"/>
                </a:solidFill>
                <a:latin typeface="Aptos" pitchFamily="34" charset="0"/>
                <a:ea typeface="Aptos" pitchFamily="34" charset="-122"/>
                <a:cs typeface="Aptos" pitchFamily="34" charset="-120"/>
              </a:rPr>
              <a:t>No </a:t>
            </a:r>
            <a:r>
              <a:rPr lang="en-US" sz="2400" b="1" dirty="0" err="1">
                <a:solidFill>
                  <a:srgbClr val="C87B73"/>
                </a:solidFill>
                <a:latin typeface="Aptos" pitchFamily="34" charset="0"/>
                <a:ea typeface="Aptos" pitchFamily="34" charset="-122"/>
                <a:cs typeface="Aptos" pitchFamily="34" charset="-120"/>
              </a:rPr>
              <a:t>incluye</a:t>
            </a:r>
            <a:endParaRPr lang="en-US" sz="2400" dirty="0"/>
          </a:p>
        </p:txBody>
      </p:sp>
      <p:sp>
        <p:nvSpPr>
          <p:cNvPr id="9" name="Shape 7"/>
          <p:cNvSpPr/>
          <p:nvPr/>
        </p:nvSpPr>
        <p:spPr>
          <a:xfrm>
            <a:off x="685800" y="1691640"/>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10" name="Text 8"/>
          <p:cNvSpPr/>
          <p:nvPr/>
        </p:nvSpPr>
        <p:spPr>
          <a:xfrm>
            <a:off x="758952" y="1755648"/>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11" name="Text 9"/>
          <p:cNvSpPr/>
          <p:nvPr/>
        </p:nvSpPr>
        <p:spPr>
          <a:xfrm>
            <a:off x="1033272" y="1773936"/>
            <a:ext cx="3172968" cy="301752"/>
          </a:xfrm>
          <a:prstGeom prst="rect">
            <a:avLst/>
          </a:prstGeom>
          <a:noFill/>
          <a:ln/>
        </p:spPr>
        <p:txBody>
          <a:bodyPr wrap="square" lIns="1016" tIns="1016" rIns="1016" bIns="1016" rtlCol="0" anchor="t">
            <a:noAutofit/>
          </a:bodyPr>
          <a:lstStyle/>
          <a:p>
            <a:r>
              <a:rPr lang="es-MX" sz="1050" dirty="0"/>
              <a:t>Productos y categorías priorizadas para el piloto.</a:t>
            </a:r>
            <a:endParaRPr lang="en-US" sz="1050" b="1" dirty="0"/>
          </a:p>
        </p:txBody>
      </p:sp>
      <p:sp>
        <p:nvSpPr>
          <p:cNvPr id="12" name="Shape 10"/>
          <p:cNvSpPr/>
          <p:nvPr/>
        </p:nvSpPr>
        <p:spPr>
          <a:xfrm>
            <a:off x="685800" y="2267712"/>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13" name="Text 11"/>
          <p:cNvSpPr/>
          <p:nvPr/>
        </p:nvSpPr>
        <p:spPr>
          <a:xfrm>
            <a:off x="758952" y="2331720"/>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14" name="Text 12"/>
          <p:cNvSpPr/>
          <p:nvPr/>
        </p:nvSpPr>
        <p:spPr>
          <a:xfrm>
            <a:off x="1033272" y="2350008"/>
            <a:ext cx="3172968" cy="301752"/>
          </a:xfrm>
          <a:prstGeom prst="rect">
            <a:avLst/>
          </a:prstGeom>
          <a:noFill/>
          <a:ln/>
        </p:spPr>
        <p:txBody>
          <a:bodyPr wrap="square" lIns="1016" tIns="1016" rIns="1016" bIns="1016" rtlCol="0" anchor="t">
            <a:noAutofit/>
          </a:bodyPr>
          <a:lstStyle/>
          <a:p>
            <a:pPr marL="0" indent="0" algn="l">
              <a:buNone/>
            </a:pPr>
            <a:r>
              <a:rPr lang="en-US" sz="1050" b="1" dirty="0">
                <a:solidFill>
                  <a:srgbClr val="25211E"/>
                </a:solidFill>
                <a:latin typeface="Aptos" pitchFamily="34" charset="0"/>
                <a:ea typeface="Aptos" pitchFamily="34" charset="-122"/>
                <a:cs typeface="Aptos" pitchFamily="34" charset="-120"/>
              </a:rPr>
              <a:t>Inventario: entradas, salidas, conteos físicos y stock esperado.</a:t>
            </a:r>
            <a:endParaRPr lang="en-US" sz="1050" b="1" dirty="0"/>
          </a:p>
        </p:txBody>
      </p:sp>
      <p:sp>
        <p:nvSpPr>
          <p:cNvPr id="15" name="Shape 13"/>
          <p:cNvSpPr/>
          <p:nvPr/>
        </p:nvSpPr>
        <p:spPr>
          <a:xfrm>
            <a:off x="685800" y="2843784"/>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16" name="Text 14"/>
          <p:cNvSpPr/>
          <p:nvPr/>
        </p:nvSpPr>
        <p:spPr>
          <a:xfrm>
            <a:off x="758952" y="2907792"/>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17" name="Text 15"/>
          <p:cNvSpPr/>
          <p:nvPr/>
        </p:nvSpPr>
        <p:spPr>
          <a:xfrm>
            <a:off x="1033272" y="2926080"/>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Compras/facturas como respaldo digital.</a:t>
            </a:r>
            <a:endParaRPr lang="en-US" sz="1050" b="1" dirty="0"/>
          </a:p>
        </p:txBody>
      </p:sp>
      <p:sp>
        <p:nvSpPr>
          <p:cNvPr id="18" name="Shape 16"/>
          <p:cNvSpPr/>
          <p:nvPr/>
        </p:nvSpPr>
        <p:spPr>
          <a:xfrm>
            <a:off x="685800" y="3419856"/>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19" name="Text 17"/>
          <p:cNvSpPr/>
          <p:nvPr/>
        </p:nvSpPr>
        <p:spPr>
          <a:xfrm>
            <a:off x="758952" y="3483864"/>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0" name="Text 18"/>
          <p:cNvSpPr/>
          <p:nvPr/>
        </p:nvSpPr>
        <p:spPr>
          <a:xfrm>
            <a:off x="1033272" y="3502152"/>
            <a:ext cx="3172968" cy="301752"/>
          </a:xfrm>
          <a:prstGeom prst="rect">
            <a:avLst/>
          </a:prstGeom>
          <a:noFill/>
          <a:ln/>
        </p:spPr>
        <p:txBody>
          <a:bodyPr wrap="square" lIns="1016" tIns="1016" rIns="1016" bIns="1016" rtlCol="0" anchor="t">
            <a:normAutofit/>
          </a:bodyPr>
          <a:lstStyle/>
          <a:p>
            <a:pPr marL="0" indent="0" algn="l">
              <a:buNone/>
            </a:pPr>
            <a:r>
              <a:rPr lang="en-US" sz="1050" b="1" dirty="0" err="1">
                <a:solidFill>
                  <a:srgbClr val="25211E"/>
                </a:solidFill>
                <a:latin typeface="Aptos" pitchFamily="34" charset="0"/>
                <a:ea typeface="Aptos" pitchFamily="34" charset="-122"/>
                <a:cs typeface="Aptos" pitchFamily="34" charset="-120"/>
              </a:rPr>
              <a:t>Historial</a:t>
            </a:r>
            <a:r>
              <a:rPr lang="en-US" sz="1050" b="1" dirty="0">
                <a:solidFill>
                  <a:srgbClr val="25211E"/>
                </a:solidFill>
                <a:latin typeface="Aptos" pitchFamily="34" charset="0"/>
                <a:ea typeface="Aptos" pitchFamily="34" charset="-122"/>
                <a:cs typeface="Aptos" pitchFamily="34" charset="-120"/>
              </a:rPr>
              <a:t> </a:t>
            </a:r>
            <a:r>
              <a:rPr lang="en-US" sz="1050" b="1" dirty="0" err="1">
                <a:solidFill>
                  <a:srgbClr val="25211E"/>
                </a:solidFill>
                <a:latin typeface="Aptos" pitchFamily="34" charset="0"/>
                <a:ea typeface="Aptos" pitchFamily="34" charset="-122"/>
                <a:cs typeface="Aptos" pitchFamily="34" charset="-120"/>
              </a:rPr>
              <a:t>trazable</a:t>
            </a:r>
            <a:r>
              <a:rPr lang="en-US" sz="1050" b="1" dirty="0">
                <a:solidFill>
                  <a:srgbClr val="25211E"/>
                </a:solidFill>
                <a:latin typeface="Aptos" pitchFamily="34" charset="0"/>
                <a:ea typeface="Aptos" pitchFamily="34" charset="-122"/>
                <a:cs typeface="Aptos" pitchFamily="34" charset="-120"/>
              </a:rPr>
              <a:t> de entradas, </a:t>
            </a:r>
            <a:r>
              <a:rPr lang="en-US" sz="1050" b="1" dirty="0" err="1">
                <a:solidFill>
                  <a:srgbClr val="25211E"/>
                </a:solidFill>
                <a:latin typeface="Aptos" pitchFamily="34" charset="0"/>
                <a:ea typeface="Aptos" pitchFamily="34" charset="-122"/>
                <a:cs typeface="Aptos" pitchFamily="34" charset="-120"/>
              </a:rPr>
              <a:t>salidas</a:t>
            </a:r>
            <a:r>
              <a:rPr lang="en-US" sz="1050" b="1" dirty="0">
                <a:solidFill>
                  <a:srgbClr val="25211E"/>
                </a:solidFill>
                <a:latin typeface="Aptos" pitchFamily="34" charset="0"/>
                <a:ea typeface="Aptos" pitchFamily="34" charset="-122"/>
                <a:cs typeface="Aptos" pitchFamily="34" charset="-120"/>
              </a:rPr>
              <a:t> y </a:t>
            </a:r>
            <a:r>
              <a:rPr lang="en-US" sz="1050" b="1" dirty="0" err="1">
                <a:solidFill>
                  <a:srgbClr val="25211E"/>
                </a:solidFill>
                <a:latin typeface="Aptos" pitchFamily="34" charset="0"/>
                <a:ea typeface="Aptos" pitchFamily="34" charset="-122"/>
                <a:cs typeface="Aptos" pitchFamily="34" charset="-120"/>
              </a:rPr>
              <a:t>diferencia</a:t>
            </a:r>
            <a:r>
              <a:rPr lang="en-US" sz="1050" b="1" dirty="0">
                <a:solidFill>
                  <a:srgbClr val="25211E"/>
                </a:solidFill>
                <a:latin typeface="Aptos" pitchFamily="34" charset="0"/>
                <a:ea typeface="Aptos" pitchFamily="34" charset="-122"/>
                <a:cs typeface="Aptos" pitchFamily="34" charset="-120"/>
              </a:rPr>
              <a:t>.</a:t>
            </a:r>
            <a:endParaRPr lang="en-US" sz="1050" b="1" dirty="0"/>
          </a:p>
        </p:txBody>
      </p:sp>
      <p:sp>
        <p:nvSpPr>
          <p:cNvPr id="21" name="Shape 19"/>
          <p:cNvSpPr/>
          <p:nvPr/>
        </p:nvSpPr>
        <p:spPr>
          <a:xfrm>
            <a:off x="685800" y="3995928"/>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22" name="Text 20"/>
          <p:cNvSpPr/>
          <p:nvPr/>
        </p:nvSpPr>
        <p:spPr>
          <a:xfrm>
            <a:off x="758952" y="4059936"/>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3" name="Text 21"/>
          <p:cNvSpPr/>
          <p:nvPr/>
        </p:nvSpPr>
        <p:spPr>
          <a:xfrm>
            <a:off x="1033272" y="4078224"/>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Despachos: enviados, recibidos e historial.</a:t>
            </a:r>
            <a:endParaRPr lang="en-US" sz="1050" b="1" dirty="0"/>
          </a:p>
        </p:txBody>
      </p:sp>
      <p:sp>
        <p:nvSpPr>
          <p:cNvPr id="24" name="Shape 22"/>
          <p:cNvSpPr/>
          <p:nvPr/>
        </p:nvSpPr>
        <p:spPr>
          <a:xfrm>
            <a:off x="685800" y="4572000"/>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25" name="Text 23"/>
          <p:cNvSpPr/>
          <p:nvPr/>
        </p:nvSpPr>
        <p:spPr>
          <a:xfrm>
            <a:off x="758952" y="4636008"/>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6" name="Text 24"/>
          <p:cNvSpPr/>
          <p:nvPr/>
        </p:nvSpPr>
        <p:spPr>
          <a:xfrm>
            <a:off x="1033272" y="4654296"/>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Métricas principales para evaluar el piloto.</a:t>
            </a:r>
            <a:endParaRPr lang="en-US" sz="1050" b="1" dirty="0"/>
          </a:p>
        </p:txBody>
      </p:sp>
      <p:sp>
        <p:nvSpPr>
          <p:cNvPr id="27" name="Shape 25"/>
          <p:cNvSpPr/>
          <p:nvPr/>
        </p:nvSpPr>
        <p:spPr>
          <a:xfrm>
            <a:off x="4754880" y="1691640"/>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28" name="Text 26"/>
          <p:cNvSpPr/>
          <p:nvPr/>
        </p:nvSpPr>
        <p:spPr>
          <a:xfrm>
            <a:off x="4828032" y="1755648"/>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29" name="Text 27"/>
          <p:cNvSpPr/>
          <p:nvPr/>
        </p:nvSpPr>
        <p:spPr>
          <a:xfrm>
            <a:off x="5102352" y="1773936"/>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detecta robos automáticamente.</a:t>
            </a:r>
            <a:endParaRPr lang="en-US" sz="1050" b="1" dirty="0"/>
          </a:p>
        </p:txBody>
      </p:sp>
      <p:sp>
        <p:nvSpPr>
          <p:cNvPr id="30" name="Shape 28"/>
          <p:cNvSpPr/>
          <p:nvPr/>
        </p:nvSpPr>
        <p:spPr>
          <a:xfrm>
            <a:off x="4754880" y="2267712"/>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31" name="Text 29"/>
          <p:cNvSpPr/>
          <p:nvPr/>
        </p:nvSpPr>
        <p:spPr>
          <a:xfrm>
            <a:off x="4828032" y="2331720"/>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32" name="Text 30"/>
          <p:cNvSpPr/>
          <p:nvPr/>
        </p:nvSpPr>
        <p:spPr>
          <a:xfrm>
            <a:off x="5102352" y="2350008"/>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identifica responsables ni causas por sí solo.</a:t>
            </a:r>
            <a:endParaRPr lang="en-US" sz="1050" b="1" dirty="0"/>
          </a:p>
        </p:txBody>
      </p:sp>
      <p:sp>
        <p:nvSpPr>
          <p:cNvPr id="33" name="Shape 31"/>
          <p:cNvSpPr/>
          <p:nvPr/>
        </p:nvSpPr>
        <p:spPr>
          <a:xfrm>
            <a:off x="4754880" y="2843784"/>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34" name="Text 32"/>
          <p:cNvSpPr/>
          <p:nvPr/>
        </p:nvSpPr>
        <p:spPr>
          <a:xfrm>
            <a:off x="4828032" y="2907792"/>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35" name="Text 33"/>
          <p:cNvSpPr/>
          <p:nvPr/>
        </p:nvSpPr>
        <p:spPr>
          <a:xfrm>
            <a:off x="5102352" y="2926080"/>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usa IA, blockchain ni cámaras inteligentes.</a:t>
            </a:r>
            <a:endParaRPr lang="en-US" sz="1050" b="1" dirty="0"/>
          </a:p>
        </p:txBody>
      </p:sp>
      <p:sp>
        <p:nvSpPr>
          <p:cNvPr id="36" name="Shape 34"/>
          <p:cNvSpPr/>
          <p:nvPr/>
        </p:nvSpPr>
        <p:spPr>
          <a:xfrm>
            <a:off x="4754880" y="3419856"/>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37" name="Text 35"/>
          <p:cNvSpPr/>
          <p:nvPr/>
        </p:nvSpPr>
        <p:spPr>
          <a:xfrm>
            <a:off x="4828032" y="3483864"/>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38" name="Text 36"/>
          <p:cNvSpPr/>
          <p:nvPr/>
        </p:nvSpPr>
        <p:spPr>
          <a:xfrm>
            <a:off x="5102352" y="3502152"/>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integra facturación electrónica oficial SII.</a:t>
            </a:r>
            <a:endParaRPr lang="en-US" sz="1050" b="1" dirty="0"/>
          </a:p>
        </p:txBody>
      </p:sp>
      <p:sp>
        <p:nvSpPr>
          <p:cNvPr id="39" name="Shape 37"/>
          <p:cNvSpPr/>
          <p:nvPr/>
        </p:nvSpPr>
        <p:spPr>
          <a:xfrm>
            <a:off x="4754880" y="3995928"/>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40" name="Text 38"/>
          <p:cNvSpPr/>
          <p:nvPr/>
        </p:nvSpPr>
        <p:spPr>
          <a:xfrm>
            <a:off x="4828032" y="4059936"/>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41" name="Text 39"/>
          <p:cNvSpPr/>
          <p:nvPr/>
        </p:nvSpPr>
        <p:spPr>
          <a:xfrm>
            <a:off x="5102352" y="4078224"/>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reemplaza la gestión contable completa.</a:t>
            </a:r>
            <a:endParaRPr lang="en-US" sz="1050" b="1" dirty="0"/>
          </a:p>
        </p:txBody>
      </p:sp>
      <p:sp>
        <p:nvSpPr>
          <p:cNvPr id="42" name="Shape 40"/>
          <p:cNvSpPr/>
          <p:nvPr/>
        </p:nvSpPr>
        <p:spPr>
          <a:xfrm>
            <a:off x="4754880" y="4572000"/>
            <a:ext cx="3611880" cy="438912"/>
          </a:xfrm>
          <a:prstGeom prst="roundRect">
            <a:avLst>
              <a:gd name="adj" fmla="val 16667"/>
            </a:avLst>
          </a:prstGeom>
          <a:solidFill>
            <a:srgbClr val="FFFFFF"/>
          </a:solidFill>
          <a:ln w="12700">
            <a:solidFill>
              <a:srgbClr val="D8CDC2">
                <a:alpha val="85000"/>
              </a:srgbClr>
            </a:solidFill>
            <a:prstDash val="solid"/>
          </a:ln>
        </p:spPr>
        <p:txBody>
          <a:bodyPr/>
          <a:lstStyle/>
          <a:p>
            <a:endParaRPr lang="es-MX" sz="2400" b="1"/>
          </a:p>
        </p:txBody>
      </p:sp>
      <p:sp>
        <p:nvSpPr>
          <p:cNvPr id="43" name="Text 41"/>
          <p:cNvSpPr/>
          <p:nvPr/>
        </p:nvSpPr>
        <p:spPr>
          <a:xfrm>
            <a:off x="4828032" y="4636008"/>
            <a:ext cx="201168" cy="201168"/>
          </a:xfrm>
          <a:prstGeom prst="rect">
            <a:avLst/>
          </a:prstGeom>
          <a:noFill/>
          <a:ln/>
        </p:spPr>
        <p:txBody>
          <a:bodyPr wrap="square" lIns="1016" tIns="1016" rIns="1016" bIns="1016" rtlCol="0" anchor="t">
            <a:normAutofit/>
          </a:bodyPr>
          <a:lstStyle/>
          <a:p>
            <a:pPr marL="0" indent="0" algn="ctr">
              <a:buNone/>
            </a:pPr>
            <a:r>
              <a:rPr lang="en-US" sz="1200" b="1" dirty="0">
                <a:solidFill>
                  <a:srgbClr val="482816"/>
                </a:solidFill>
                <a:latin typeface="Aptos" pitchFamily="34" charset="0"/>
                <a:ea typeface="Aptos" pitchFamily="34" charset="-122"/>
                <a:cs typeface="Aptos" pitchFamily="34" charset="-120"/>
              </a:rPr>
              <a:t>✓</a:t>
            </a:r>
            <a:endParaRPr lang="en-US" sz="1200" b="1" dirty="0"/>
          </a:p>
        </p:txBody>
      </p:sp>
      <p:sp>
        <p:nvSpPr>
          <p:cNvPr id="44" name="Text 42"/>
          <p:cNvSpPr/>
          <p:nvPr/>
        </p:nvSpPr>
        <p:spPr>
          <a:xfrm>
            <a:off x="5102352" y="4654296"/>
            <a:ext cx="3172968" cy="301752"/>
          </a:xfrm>
          <a:prstGeom prst="rect">
            <a:avLst/>
          </a:prstGeom>
          <a:noFill/>
          <a:ln/>
        </p:spPr>
        <p:txBody>
          <a:bodyPr wrap="square" lIns="1016" tIns="1016" rIns="1016" bIns="1016" rtlCol="0" anchor="t">
            <a:normAutofit/>
          </a:bodyPr>
          <a:lstStyle/>
          <a:p>
            <a:pPr marL="0" indent="0" algn="l">
              <a:buNone/>
            </a:pPr>
            <a:r>
              <a:rPr lang="en-US" sz="1050" b="1" dirty="0">
                <a:solidFill>
                  <a:srgbClr val="25211E"/>
                </a:solidFill>
                <a:latin typeface="Aptos" pitchFamily="34" charset="0"/>
                <a:ea typeface="Aptos" pitchFamily="34" charset="-122"/>
                <a:cs typeface="Aptos" pitchFamily="34" charset="-120"/>
              </a:rPr>
              <a:t>No promete resultados históricos sin línea base.</a:t>
            </a:r>
            <a:endParaRPr lang="en-US" sz="105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Principales características</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Atributos de valor de la solución propuesta.</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08</a:t>
            </a:r>
            <a:endParaRPr lang="en-US" sz="850" dirty="0"/>
          </a:p>
        </p:txBody>
      </p:sp>
      <p:sp>
        <p:nvSpPr>
          <p:cNvPr id="7" name="Shape 5"/>
          <p:cNvSpPr/>
          <p:nvPr/>
        </p:nvSpPr>
        <p:spPr>
          <a:xfrm>
            <a:off x="502920" y="1325880"/>
            <a:ext cx="2560320" cy="987552"/>
          </a:xfrm>
          <a:prstGeom prst="roundRect">
            <a:avLst>
              <a:gd name="adj" fmla="val 555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8" name="Shape 6"/>
          <p:cNvSpPr/>
          <p:nvPr/>
        </p:nvSpPr>
        <p:spPr>
          <a:xfrm>
            <a:off x="502920" y="1325880"/>
            <a:ext cx="54864" cy="987552"/>
          </a:xfrm>
          <a:prstGeom prst="rect">
            <a:avLst/>
          </a:prstGeom>
          <a:solidFill>
            <a:srgbClr val="482816"/>
          </a:solidFill>
          <a:ln w="12700">
            <a:solidFill>
              <a:srgbClr val="482816"/>
            </a:solidFill>
            <a:prstDash val="solid"/>
          </a:ln>
        </p:spPr>
        <p:txBody>
          <a:bodyPr/>
          <a:lstStyle/>
          <a:p>
            <a:endParaRPr lang="es-MX" sz="2000"/>
          </a:p>
        </p:txBody>
      </p:sp>
      <p:sp>
        <p:nvSpPr>
          <p:cNvPr id="9" name="Text 7"/>
          <p:cNvSpPr/>
          <p:nvPr/>
        </p:nvSpPr>
        <p:spPr>
          <a:xfrm>
            <a:off x="667512" y="1435608"/>
            <a:ext cx="230428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Inventario</a:t>
            </a:r>
            <a:endParaRPr lang="en-US" sz="1400" dirty="0"/>
          </a:p>
        </p:txBody>
      </p:sp>
      <p:sp>
        <p:nvSpPr>
          <p:cNvPr id="10" name="Text 8"/>
          <p:cNvSpPr/>
          <p:nvPr/>
        </p:nvSpPr>
        <p:spPr>
          <a:xfrm>
            <a:off x="667512" y="1709928"/>
            <a:ext cx="2304288" cy="493776"/>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Stock esperado, conteos físicos y comparación de diferencias.</a:t>
            </a:r>
            <a:endParaRPr lang="en-US" sz="1200" dirty="0"/>
          </a:p>
        </p:txBody>
      </p:sp>
      <p:sp>
        <p:nvSpPr>
          <p:cNvPr id="11" name="Shape 9"/>
          <p:cNvSpPr/>
          <p:nvPr/>
        </p:nvSpPr>
        <p:spPr>
          <a:xfrm>
            <a:off x="3291840" y="1325880"/>
            <a:ext cx="2560320" cy="987552"/>
          </a:xfrm>
          <a:prstGeom prst="roundRect">
            <a:avLst>
              <a:gd name="adj" fmla="val 555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12" name="Shape 10"/>
          <p:cNvSpPr/>
          <p:nvPr/>
        </p:nvSpPr>
        <p:spPr>
          <a:xfrm>
            <a:off x="3291840" y="1325880"/>
            <a:ext cx="54864" cy="987552"/>
          </a:xfrm>
          <a:prstGeom prst="rect">
            <a:avLst/>
          </a:prstGeom>
          <a:solidFill>
            <a:srgbClr val="482816"/>
          </a:solidFill>
          <a:ln w="12700">
            <a:solidFill>
              <a:srgbClr val="482816"/>
            </a:solidFill>
            <a:prstDash val="solid"/>
          </a:ln>
        </p:spPr>
        <p:txBody>
          <a:bodyPr/>
          <a:lstStyle/>
          <a:p>
            <a:endParaRPr lang="es-MX" sz="2000"/>
          </a:p>
        </p:txBody>
      </p:sp>
      <p:sp>
        <p:nvSpPr>
          <p:cNvPr id="13" name="Text 11"/>
          <p:cNvSpPr/>
          <p:nvPr/>
        </p:nvSpPr>
        <p:spPr>
          <a:xfrm>
            <a:off x="3456432" y="1435608"/>
            <a:ext cx="230428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Compras</a:t>
            </a:r>
            <a:endParaRPr lang="en-US" sz="1400" dirty="0"/>
          </a:p>
        </p:txBody>
      </p:sp>
      <p:sp>
        <p:nvSpPr>
          <p:cNvPr id="14" name="Text 12"/>
          <p:cNvSpPr/>
          <p:nvPr/>
        </p:nvSpPr>
        <p:spPr>
          <a:xfrm>
            <a:off x="3456432" y="1709928"/>
            <a:ext cx="2304288" cy="493776"/>
          </a:xfrm>
          <a:prstGeom prst="rect">
            <a:avLst/>
          </a:prstGeom>
          <a:noFill/>
          <a:ln/>
        </p:spPr>
        <p:txBody>
          <a:bodyPr wrap="square" lIns="1016" tIns="1016" rIns="1016" bIns="1016" rtlCol="0" anchor="t">
            <a:noAutofit/>
          </a:bodyPr>
          <a:lstStyle/>
          <a:p>
            <a:pPr marL="0" indent="0" algn="l">
              <a:buNone/>
            </a:pPr>
            <a:r>
              <a:rPr lang="en-US" sz="1200" dirty="0">
                <a:solidFill>
                  <a:srgbClr val="25211E"/>
                </a:solidFill>
                <a:latin typeface="Aptos" pitchFamily="34" charset="0"/>
                <a:ea typeface="Aptos" pitchFamily="34" charset="-122"/>
                <a:cs typeface="Aptos" pitchFamily="34" charset="-120"/>
              </a:rPr>
              <a:t>Registro digital de compras y respaldo de facturas asociadas a mercadería recibida.</a:t>
            </a:r>
            <a:endParaRPr lang="en-US" sz="1200" dirty="0"/>
          </a:p>
        </p:txBody>
      </p:sp>
      <p:sp>
        <p:nvSpPr>
          <p:cNvPr id="19" name="Shape 17"/>
          <p:cNvSpPr/>
          <p:nvPr/>
        </p:nvSpPr>
        <p:spPr>
          <a:xfrm>
            <a:off x="502920" y="2670048"/>
            <a:ext cx="2560320" cy="987552"/>
          </a:xfrm>
          <a:prstGeom prst="roundRect">
            <a:avLst>
              <a:gd name="adj" fmla="val 555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0" name="Shape 18"/>
          <p:cNvSpPr/>
          <p:nvPr/>
        </p:nvSpPr>
        <p:spPr>
          <a:xfrm>
            <a:off x="502920" y="2670048"/>
            <a:ext cx="54864" cy="987552"/>
          </a:xfrm>
          <a:prstGeom prst="rect">
            <a:avLst/>
          </a:prstGeom>
          <a:solidFill>
            <a:srgbClr val="482816"/>
          </a:solidFill>
          <a:ln w="12700">
            <a:solidFill>
              <a:srgbClr val="482816"/>
            </a:solidFill>
            <a:prstDash val="solid"/>
          </a:ln>
        </p:spPr>
        <p:txBody>
          <a:bodyPr/>
          <a:lstStyle/>
          <a:p>
            <a:endParaRPr lang="es-MX" sz="2000"/>
          </a:p>
        </p:txBody>
      </p:sp>
      <p:sp>
        <p:nvSpPr>
          <p:cNvPr id="21" name="Text 19"/>
          <p:cNvSpPr/>
          <p:nvPr/>
        </p:nvSpPr>
        <p:spPr>
          <a:xfrm>
            <a:off x="667512" y="2779776"/>
            <a:ext cx="230428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Despachos</a:t>
            </a:r>
            <a:endParaRPr lang="en-US" sz="1400" dirty="0"/>
          </a:p>
        </p:txBody>
      </p:sp>
      <p:sp>
        <p:nvSpPr>
          <p:cNvPr id="22" name="Text 20"/>
          <p:cNvSpPr/>
          <p:nvPr/>
        </p:nvSpPr>
        <p:spPr>
          <a:xfrm>
            <a:off x="667512" y="3054096"/>
            <a:ext cx="2367534" cy="603504"/>
          </a:xfrm>
          <a:prstGeom prst="rect">
            <a:avLst/>
          </a:prstGeom>
          <a:noFill/>
          <a:ln/>
        </p:spPr>
        <p:txBody>
          <a:bodyPr wrap="square" lIns="1016" tIns="1016" rIns="1016" bIns="1016" rtlCol="0" anchor="t">
            <a:normAutofit/>
          </a:bodyPr>
          <a:lstStyle/>
          <a:p>
            <a:r>
              <a:rPr lang="es-MX" sz="1200" dirty="0"/>
              <a:t>Valor monetario mensual de las diferencias entre pan despachado y recibido (CLP/mes)</a:t>
            </a:r>
            <a:endParaRPr lang="en-US" sz="1200" dirty="0"/>
          </a:p>
        </p:txBody>
      </p:sp>
      <p:sp>
        <p:nvSpPr>
          <p:cNvPr id="23" name="Shape 21"/>
          <p:cNvSpPr/>
          <p:nvPr/>
        </p:nvSpPr>
        <p:spPr>
          <a:xfrm>
            <a:off x="3291840" y="2670048"/>
            <a:ext cx="2560320" cy="987552"/>
          </a:xfrm>
          <a:prstGeom prst="roundRect">
            <a:avLst>
              <a:gd name="adj" fmla="val 555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4" name="Shape 22"/>
          <p:cNvSpPr/>
          <p:nvPr/>
        </p:nvSpPr>
        <p:spPr>
          <a:xfrm>
            <a:off x="3291840" y="2670048"/>
            <a:ext cx="54864" cy="987552"/>
          </a:xfrm>
          <a:prstGeom prst="rect">
            <a:avLst/>
          </a:prstGeom>
          <a:solidFill>
            <a:srgbClr val="482816"/>
          </a:solidFill>
          <a:ln w="12700">
            <a:solidFill>
              <a:srgbClr val="482816"/>
            </a:solidFill>
            <a:prstDash val="solid"/>
          </a:ln>
        </p:spPr>
        <p:txBody>
          <a:bodyPr/>
          <a:lstStyle/>
          <a:p>
            <a:endParaRPr lang="es-MX" sz="2000"/>
          </a:p>
        </p:txBody>
      </p:sp>
      <p:sp>
        <p:nvSpPr>
          <p:cNvPr id="25" name="Text 23"/>
          <p:cNvSpPr/>
          <p:nvPr/>
        </p:nvSpPr>
        <p:spPr>
          <a:xfrm>
            <a:off x="3456432" y="2733294"/>
            <a:ext cx="230428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Historial trazable</a:t>
            </a:r>
            <a:endParaRPr lang="en-US" sz="1400" dirty="0"/>
          </a:p>
        </p:txBody>
      </p:sp>
      <p:sp>
        <p:nvSpPr>
          <p:cNvPr id="26" name="Text 24"/>
          <p:cNvSpPr/>
          <p:nvPr/>
        </p:nvSpPr>
        <p:spPr>
          <a:xfrm>
            <a:off x="3456432" y="2985897"/>
            <a:ext cx="2304288" cy="493776"/>
          </a:xfrm>
          <a:prstGeom prst="rect">
            <a:avLst/>
          </a:prstGeom>
          <a:noFill/>
          <a:ln/>
        </p:spPr>
        <p:txBody>
          <a:bodyPr wrap="square" lIns="1016" tIns="1016" rIns="1016" bIns="1016" rtlCol="0" anchor="t">
            <a:noAutofit/>
          </a:bodyPr>
          <a:lstStyle/>
          <a:p>
            <a:pPr marL="0" indent="0" algn="l">
              <a:buNone/>
            </a:pPr>
            <a:r>
              <a:rPr lang="en-US" sz="1200" dirty="0">
                <a:solidFill>
                  <a:srgbClr val="25211E"/>
                </a:solidFill>
                <a:latin typeface="Aptos" pitchFamily="34" charset="0"/>
                <a:ea typeface="Aptos" pitchFamily="34" charset="-122"/>
                <a:cs typeface="Aptos" pitchFamily="34" charset="-120"/>
              </a:rPr>
              <a:t>Movimientos centralizados para consultar origen, fecha y responsable del registro.</a:t>
            </a:r>
            <a:endParaRPr lang="en-US" sz="1200" dirty="0"/>
          </a:p>
        </p:txBody>
      </p:sp>
      <p:sp>
        <p:nvSpPr>
          <p:cNvPr id="27" name="Shape 25"/>
          <p:cNvSpPr/>
          <p:nvPr/>
        </p:nvSpPr>
        <p:spPr>
          <a:xfrm>
            <a:off x="6108954" y="2000630"/>
            <a:ext cx="2560320" cy="1218820"/>
          </a:xfrm>
          <a:prstGeom prst="roundRect">
            <a:avLst>
              <a:gd name="adj" fmla="val 5556"/>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8" name="Shape 26"/>
          <p:cNvSpPr/>
          <p:nvPr/>
        </p:nvSpPr>
        <p:spPr>
          <a:xfrm>
            <a:off x="6108954" y="2000630"/>
            <a:ext cx="54864" cy="1144903"/>
          </a:xfrm>
          <a:prstGeom prst="rect">
            <a:avLst/>
          </a:prstGeom>
          <a:solidFill>
            <a:srgbClr val="482816"/>
          </a:solidFill>
          <a:ln w="12700">
            <a:solidFill>
              <a:srgbClr val="482816"/>
            </a:solidFill>
            <a:prstDash val="solid"/>
          </a:ln>
        </p:spPr>
        <p:txBody>
          <a:bodyPr/>
          <a:lstStyle/>
          <a:p>
            <a:endParaRPr lang="es-MX" sz="2000"/>
          </a:p>
        </p:txBody>
      </p:sp>
      <p:sp>
        <p:nvSpPr>
          <p:cNvPr id="29" name="Text 27"/>
          <p:cNvSpPr/>
          <p:nvPr/>
        </p:nvSpPr>
        <p:spPr>
          <a:xfrm>
            <a:off x="6273546" y="2054859"/>
            <a:ext cx="2304288" cy="254423"/>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Métricas</a:t>
            </a:r>
            <a:endParaRPr lang="en-US" sz="1400" dirty="0"/>
          </a:p>
        </p:txBody>
      </p:sp>
      <p:sp>
        <p:nvSpPr>
          <p:cNvPr id="30" name="Text 28"/>
          <p:cNvSpPr/>
          <p:nvPr/>
        </p:nvSpPr>
        <p:spPr>
          <a:xfrm>
            <a:off x="6273546" y="2270570"/>
            <a:ext cx="2304288" cy="572452"/>
          </a:xfrm>
          <a:prstGeom prst="rect">
            <a:avLst/>
          </a:prstGeom>
          <a:noFill/>
          <a:ln/>
        </p:spPr>
        <p:txBody>
          <a:bodyPr wrap="square" lIns="1016" tIns="1016" rIns="1016" bIns="1016" rtlCol="0" anchor="t">
            <a:noAutofit/>
          </a:bodyPr>
          <a:lstStyle/>
          <a:p>
            <a:r>
              <a:rPr lang="es-MX" sz="1200" dirty="0"/>
              <a:t>Indicadores de ventas, inventario, control, diferencias y pérdidas medidos por día, conteo, despacho o mes según corresponda.</a:t>
            </a:r>
            <a:endParaRPr lang="en-US" sz="1200" dirty="0"/>
          </a:p>
        </p:txBody>
      </p:sp>
      <p:sp>
        <p:nvSpPr>
          <p:cNvPr id="31" name="Shape 29"/>
          <p:cNvSpPr/>
          <p:nvPr/>
        </p:nvSpPr>
        <p:spPr>
          <a:xfrm>
            <a:off x="1143000" y="4297680"/>
            <a:ext cx="6858000" cy="868680"/>
          </a:xfrm>
          <a:prstGeom prst="roundRect">
            <a:avLst>
              <a:gd name="adj" fmla="val 6316"/>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32" name="Shape 30"/>
          <p:cNvSpPr/>
          <p:nvPr/>
        </p:nvSpPr>
        <p:spPr>
          <a:xfrm>
            <a:off x="1143000" y="4297680"/>
            <a:ext cx="54864" cy="868680"/>
          </a:xfrm>
          <a:prstGeom prst="rect">
            <a:avLst/>
          </a:prstGeom>
          <a:solidFill>
            <a:srgbClr val="482816"/>
          </a:solidFill>
          <a:ln w="12700">
            <a:solidFill>
              <a:srgbClr val="482816"/>
            </a:solidFill>
            <a:prstDash val="solid"/>
          </a:ln>
        </p:spPr>
        <p:txBody>
          <a:bodyPr/>
          <a:lstStyle/>
          <a:p>
            <a:endParaRPr lang="es-MX" sz="2000"/>
          </a:p>
        </p:txBody>
      </p:sp>
      <p:sp>
        <p:nvSpPr>
          <p:cNvPr id="33" name="Text 31"/>
          <p:cNvSpPr/>
          <p:nvPr/>
        </p:nvSpPr>
        <p:spPr>
          <a:xfrm>
            <a:off x="1307592" y="4407408"/>
            <a:ext cx="6601968" cy="219456"/>
          </a:xfrm>
          <a:prstGeom prst="rect">
            <a:avLst/>
          </a:prstGeom>
          <a:noFill/>
          <a:ln/>
        </p:spPr>
        <p:txBody>
          <a:bodyPr wrap="square" lIns="1016" tIns="1016" rIns="1016" bIns="1016" rtlCol="0" anchor="t">
            <a:normAutofit/>
          </a:bodyPr>
          <a:lstStyle/>
          <a:p>
            <a:pPr marL="0" indent="0" algn="l">
              <a:buNone/>
            </a:pPr>
            <a:r>
              <a:rPr lang="en-US" sz="1400" b="1" dirty="0">
                <a:solidFill>
                  <a:srgbClr val="482816"/>
                </a:solidFill>
                <a:latin typeface="Aptos" pitchFamily="34" charset="0"/>
                <a:ea typeface="Aptos" pitchFamily="34" charset="-122"/>
                <a:cs typeface="Aptos" pitchFamily="34" charset="-120"/>
              </a:rPr>
              <a:t>Valor entregado</a:t>
            </a:r>
            <a:endParaRPr lang="en-US" sz="1400" dirty="0"/>
          </a:p>
        </p:txBody>
      </p:sp>
      <p:sp>
        <p:nvSpPr>
          <p:cNvPr id="34" name="Text 32"/>
          <p:cNvSpPr/>
          <p:nvPr/>
        </p:nvSpPr>
        <p:spPr>
          <a:xfrm>
            <a:off x="1307592" y="4681728"/>
            <a:ext cx="6601968" cy="374904"/>
          </a:xfrm>
          <a:prstGeom prst="rect">
            <a:avLst/>
          </a:prstGeom>
          <a:noFill/>
          <a:ln/>
        </p:spPr>
        <p:txBody>
          <a:bodyPr wrap="square" lIns="1016" tIns="1016" rIns="1016" bIns="1016" rtlCol="0" anchor="t">
            <a:normAutofit fontScale="92500" lnSpcReduction="10000"/>
          </a:bodyPr>
          <a:lstStyle/>
          <a:p>
            <a:pPr marL="0" indent="0" algn="l">
              <a:buNone/>
            </a:pPr>
            <a:r>
              <a:rPr lang="en-US" sz="1400" dirty="0">
                <a:solidFill>
                  <a:srgbClr val="25211E"/>
                </a:solidFill>
                <a:latin typeface="Aptos" pitchFamily="34" charset="0"/>
                <a:ea typeface="Aptos" pitchFamily="34" charset="-122"/>
                <a:cs typeface="Aptos" pitchFamily="34" charset="-120"/>
              </a:rPr>
              <a:t>Menor dependencia de registros manuales, mejor seguimiento de diferencias y más evidencia para decisiones operacionales.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Métricas del sistema</a:t>
            </a:r>
            <a:endParaRPr lang="en-US" sz="2700" dirty="0"/>
          </a:p>
        </p:txBody>
      </p:sp>
      <p:sp>
        <p:nvSpPr>
          <p:cNvPr id="3" name="Text 1"/>
          <p:cNvSpPr/>
          <p:nvPr/>
        </p:nvSpPr>
        <p:spPr>
          <a:xfrm>
            <a:off x="502920" y="953262"/>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Indicadores claros expresados en variable + unidad + tiempo/frecuencia.</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09</a:t>
            </a:r>
            <a:endParaRPr lang="en-US" sz="850" dirty="0"/>
          </a:p>
        </p:txBody>
      </p:sp>
      <p:sp>
        <p:nvSpPr>
          <p:cNvPr id="7" name="Shape 5"/>
          <p:cNvSpPr/>
          <p:nvPr/>
        </p:nvSpPr>
        <p:spPr>
          <a:xfrm>
            <a:off x="502920" y="1721739"/>
            <a:ext cx="3657600" cy="749808"/>
          </a:xfrm>
          <a:prstGeom prst="roundRect">
            <a:avLst>
              <a:gd name="adj" fmla="val 731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3200"/>
          </a:p>
        </p:txBody>
      </p:sp>
      <p:sp>
        <p:nvSpPr>
          <p:cNvPr id="8" name="Shape 6"/>
          <p:cNvSpPr/>
          <p:nvPr/>
        </p:nvSpPr>
        <p:spPr>
          <a:xfrm>
            <a:off x="502920" y="1721739"/>
            <a:ext cx="54864" cy="749808"/>
          </a:xfrm>
          <a:prstGeom prst="rect">
            <a:avLst/>
          </a:prstGeom>
          <a:solidFill>
            <a:srgbClr val="482816"/>
          </a:solidFill>
          <a:ln w="12700">
            <a:solidFill>
              <a:srgbClr val="482816"/>
            </a:solidFill>
            <a:prstDash val="solid"/>
          </a:ln>
        </p:spPr>
        <p:txBody>
          <a:bodyPr/>
          <a:lstStyle/>
          <a:p>
            <a:endParaRPr lang="es-MX" sz="3200"/>
          </a:p>
        </p:txBody>
      </p:sp>
      <p:sp>
        <p:nvSpPr>
          <p:cNvPr id="9" name="Text 7"/>
          <p:cNvSpPr/>
          <p:nvPr/>
        </p:nvSpPr>
        <p:spPr>
          <a:xfrm>
            <a:off x="667512" y="1831467"/>
            <a:ext cx="340156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Ventas</a:t>
            </a:r>
            <a:endParaRPr lang="en-US" dirty="0"/>
          </a:p>
        </p:txBody>
      </p:sp>
      <p:sp>
        <p:nvSpPr>
          <p:cNvPr id="10" name="Text 8"/>
          <p:cNvSpPr/>
          <p:nvPr/>
        </p:nvSpPr>
        <p:spPr>
          <a:xfrm>
            <a:off x="667512" y="2105787"/>
            <a:ext cx="3401568" cy="256032"/>
          </a:xfrm>
          <a:prstGeom prst="rect">
            <a:avLst/>
          </a:prstGeom>
          <a:noFill/>
          <a:ln/>
        </p:spPr>
        <p:txBody>
          <a:bodyPr wrap="square" lIns="1016" tIns="1016" rIns="1016" bIns="1016" rtlCol="0" anchor="t">
            <a:normAutofit/>
          </a:bodyPr>
          <a:lstStyle/>
          <a:p>
            <a:pPr marL="0" indent="0" algn="l">
              <a:buNone/>
            </a:pPr>
            <a:r>
              <a:rPr lang="en-US" sz="1200" dirty="0" err="1">
                <a:solidFill>
                  <a:srgbClr val="25211E"/>
                </a:solidFill>
                <a:latin typeface="Aptos" pitchFamily="34" charset="0"/>
                <a:ea typeface="Aptos" pitchFamily="34" charset="-122"/>
                <a:cs typeface="Aptos" pitchFamily="34" charset="-120"/>
              </a:rPr>
              <a:t>Unidades</a:t>
            </a:r>
            <a:r>
              <a:rPr lang="en-US" sz="1200" dirty="0">
                <a:solidFill>
                  <a:srgbClr val="25211E"/>
                </a:solidFill>
                <a:latin typeface="Aptos" pitchFamily="34" charset="0"/>
                <a:ea typeface="Aptos" pitchFamily="34" charset="-122"/>
                <a:cs typeface="Aptos" pitchFamily="34" charset="-120"/>
              </a:rPr>
              <a:t> </a:t>
            </a:r>
            <a:r>
              <a:rPr lang="en-US" sz="1200" dirty="0" err="1">
                <a:solidFill>
                  <a:srgbClr val="25211E"/>
                </a:solidFill>
                <a:latin typeface="Aptos" pitchFamily="34" charset="0"/>
                <a:ea typeface="Aptos" pitchFamily="34" charset="-122"/>
                <a:cs typeface="Aptos" pitchFamily="34" charset="-120"/>
              </a:rPr>
              <a:t>vendidas</a:t>
            </a:r>
            <a:r>
              <a:rPr lang="en-US" sz="1200" dirty="0">
                <a:solidFill>
                  <a:srgbClr val="25211E"/>
                </a:solidFill>
                <a:latin typeface="Aptos" pitchFamily="34" charset="0"/>
                <a:ea typeface="Aptos" pitchFamily="34" charset="-122"/>
                <a:cs typeface="Aptos" pitchFamily="34" charset="-120"/>
              </a:rPr>
              <a:t> </a:t>
            </a:r>
            <a:r>
              <a:rPr lang="en-US" sz="1200" dirty="0" err="1">
                <a:solidFill>
                  <a:srgbClr val="25211E"/>
                </a:solidFill>
                <a:latin typeface="Aptos" pitchFamily="34" charset="0"/>
                <a:ea typeface="Aptos" pitchFamily="34" charset="-122"/>
                <a:cs typeface="Aptos" pitchFamily="34" charset="-120"/>
              </a:rPr>
              <a:t>por</a:t>
            </a:r>
            <a:r>
              <a:rPr lang="en-US" sz="1200" dirty="0">
                <a:solidFill>
                  <a:srgbClr val="25211E"/>
                </a:solidFill>
                <a:latin typeface="Aptos" pitchFamily="34" charset="0"/>
                <a:ea typeface="Aptos" pitchFamily="34" charset="-122"/>
                <a:cs typeface="Aptos" pitchFamily="34" charset="-120"/>
              </a:rPr>
              <a:t> </a:t>
            </a:r>
            <a:r>
              <a:rPr lang="en-US" sz="1200" dirty="0" err="1">
                <a:solidFill>
                  <a:srgbClr val="25211E"/>
                </a:solidFill>
                <a:latin typeface="Aptos" pitchFamily="34" charset="0"/>
                <a:ea typeface="Aptos" pitchFamily="34" charset="-122"/>
                <a:cs typeface="Aptos" pitchFamily="34" charset="-120"/>
              </a:rPr>
              <a:t>categoría</a:t>
            </a:r>
            <a:r>
              <a:rPr lang="en-US" sz="1200" dirty="0">
                <a:solidFill>
                  <a:srgbClr val="25211E"/>
                </a:solidFill>
                <a:latin typeface="Aptos" pitchFamily="34" charset="0"/>
                <a:ea typeface="Aptos" pitchFamily="34" charset="-122"/>
                <a:cs typeface="Aptos" pitchFamily="34" charset="-120"/>
              </a:rPr>
              <a:t> </a:t>
            </a:r>
            <a:r>
              <a:rPr lang="en-US" sz="1200" dirty="0" err="1">
                <a:solidFill>
                  <a:srgbClr val="25211E"/>
                </a:solidFill>
                <a:latin typeface="Aptos" pitchFamily="34" charset="0"/>
                <a:ea typeface="Aptos" pitchFamily="34" charset="-122"/>
                <a:cs typeface="Aptos" pitchFamily="34" charset="-120"/>
              </a:rPr>
              <a:t>por</a:t>
            </a:r>
            <a:r>
              <a:rPr lang="en-US" sz="1200" dirty="0">
                <a:solidFill>
                  <a:srgbClr val="25211E"/>
                </a:solidFill>
                <a:latin typeface="Aptos" pitchFamily="34" charset="0"/>
                <a:ea typeface="Aptos" pitchFamily="34" charset="-122"/>
                <a:cs typeface="Aptos" pitchFamily="34" charset="-120"/>
              </a:rPr>
              <a:t> día.</a:t>
            </a:r>
            <a:endParaRPr lang="en-US" sz="1200" dirty="0"/>
          </a:p>
        </p:txBody>
      </p:sp>
      <p:sp>
        <p:nvSpPr>
          <p:cNvPr id="15" name="Shape 13"/>
          <p:cNvSpPr/>
          <p:nvPr/>
        </p:nvSpPr>
        <p:spPr>
          <a:xfrm>
            <a:off x="502920" y="2846451"/>
            <a:ext cx="3657600" cy="749808"/>
          </a:xfrm>
          <a:prstGeom prst="roundRect">
            <a:avLst>
              <a:gd name="adj" fmla="val 731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3200"/>
          </a:p>
        </p:txBody>
      </p:sp>
      <p:sp>
        <p:nvSpPr>
          <p:cNvPr id="16" name="Shape 14"/>
          <p:cNvSpPr/>
          <p:nvPr/>
        </p:nvSpPr>
        <p:spPr>
          <a:xfrm>
            <a:off x="502920" y="2846451"/>
            <a:ext cx="54864" cy="749808"/>
          </a:xfrm>
          <a:prstGeom prst="rect">
            <a:avLst/>
          </a:prstGeom>
          <a:solidFill>
            <a:srgbClr val="482816"/>
          </a:solidFill>
          <a:ln w="12700">
            <a:solidFill>
              <a:srgbClr val="482816"/>
            </a:solidFill>
            <a:prstDash val="solid"/>
          </a:ln>
        </p:spPr>
        <p:txBody>
          <a:bodyPr/>
          <a:lstStyle/>
          <a:p>
            <a:endParaRPr lang="es-MX" sz="3200"/>
          </a:p>
        </p:txBody>
      </p:sp>
      <p:sp>
        <p:nvSpPr>
          <p:cNvPr id="17" name="Text 15"/>
          <p:cNvSpPr/>
          <p:nvPr/>
        </p:nvSpPr>
        <p:spPr>
          <a:xfrm>
            <a:off x="667512" y="2922842"/>
            <a:ext cx="340156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Inventario</a:t>
            </a:r>
            <a:endParaRPr lang="en-US" dirty="0"/>
          </a:p>
        </p:txBody>
      </p:sp>
      <p:sp>
        <p:nvSpPr>
          <p:cNvPr id="18" name="Text 16"/>
          <p:cNvSpPr/>
          <p:nvPr/>
        </p:nvSpPr>
        <p:spPr>
          <a:xfrm>
            <a:off x="658368" y="3201734"/>
            <a:ext cx="3401568" cy="365760"/>
          </a:xfrm>
          <a:prstGeom prst="rect">
            <a:avLst/>
          </a:prstGeom>
          <a:noFill/>
          <a:ln/>
        </p:spPr>
        <p:txBody>
          <a:bodyPr wrap="square" lIns="1016" tIns="1016" rIns="1016" bIns="1016" rtlCol="0" anchor="t">
            <a:normAutofit/>
          </a:bodyPr>
          <a:lstStyle/>
          <a:p>
            <a:r>
              <a:rPr lang="es-MX" sz="1100" dirty="0"/>
              <a:t>Cantidad de unidades con diferencia entre stock esperado y stock físico por conteo (unidades/conteo).</a:t>
            </a:r>
            <a:endParaRPr lang="en-US" sz="1100" dirty="0"/>
          </a:p>
        </p:txBody>
      </p:sp>
      <p:sp>
        <p:nvSpPr>
          <p:cNvPr id="19" name="Shape 17"/>
          <p:cNvSpPr/>
          <p:nvPr/>
        </p:nvSpPr>
        <p:spPr>
          <a:xfrm>
            <a:off x="4507992" y="1730883"/>
            <a:ext cx="3657600" cy="749808"/>
          </a:xfrm>
          <a:prstGeom prst="roundRect">
            <a:avLst>
              <a:gd name="adj" fmla="val 731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3200"/>
          </a:p>
        </p:txBody>
      </p:sp>
      <p:sp>
        <p:nvSpPr>
          <p:cNvPr id="20" name="Shape 18"/>
          <p:cNvSpPr/>
          <p:nvPr/>
        </p:nvSpPr>
        <p:spPr>
          <a:xfrm>
            <a:off x="4507992" y="1730883"/>
            <a:ext cx="54864" cy="749808"/>
          </a:xfrm>
          <a:prstGeom prst="rect">
            <a:avLst/>
          </a:prstGeom>
          <a:solidFill>
            <a:srgbClr val="482816"/>
          </a:solidFill>
          <a:ln w="12700">
            <a:solidFill>
              <a:srgbClr val="482816"/>
            </a:solidFill>
            <a:prstDash val="solid"/>
          </a:ln>
        </p:spPr>
        <p:txBody>
          <a:bodyPr/>
          <a:lstStyle/>
          <a:p>
            <a:endParaRPr lang="es-MX" sz="3200"/>
          </a:p>
        </p:txBody>
      </p:sp>
      <p:sp>
        <p:nvSpPr>
          <p:cNvPr id="21" name="Text 19"/>
          <p:cNvSpPr/>
          <p:nvPr/>
        </p:nvSpPr>
        <p:spPr>
          <a:xfrm>
            <a:off x="4672584" y="1779842"/>
            <a:ext cx="340156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Control</a:t>
            </a:r>
            <a:endParaRPr lang="en-US" dirty="0"/>
          </a:p>
        </p:txBody>
      </p:sp>
      <p:sp>
        <p:nvSpPr>
          <p:cNvPr id="22" name="Text 20"/>
          <p:cNvSpPr/>
          <p:nvPr/>
        </p:nvSpPr>
        <p:spPr>
          <a:xfrm>
            <a:off x="4663440" y="2057400"/>
            <a:ext cx="3401568" cy="256032"/>
          </a:xfrm>
          <a:prstGeom prst="rect">
            <a:avLst/>
          </a:prstGeom>
          <a:noFill/>
          <a:ln/>
        </p:spPr>
        <p:txBody>
          <a:bodyPr wrap="square" lIns="1016" tIns="1016" rIns="1016" bIns="1016" rtlCol="0" anchor="t">
            <a:noAutofit/>
          </a:bodyPr>
          <a:lstStyle/>
          <a:p>
            <a:pPr marL="0" indent="0" algn="l">
              <a:buNone/>
            </a:pPr>
            <a:r>
              <a:rPr lang="en-US" sz="1200" dirty="0">
                <a:solidFill>
                  <a:srgbClr val="25211E"/>
                </a:solidFill>
                <a:latin typeface="Aptos" pitchFamily="34" charset="0"/>
                <a:ea typeface="Aptos" pitchFamily="34" charset="-122"/>
                <a:cs typeface="Aptos" pitchFamily="34" charset="-120"/>
              </a:rPr>
              <a:t>Cantidad de conteos de inventario realizados por mes.</a:t>
            </a:r>
            <a:endParaRPr lang="en-US" sz="1200" dirty="0"/>
          </a:p>
        </p:txBody>
      </p:sp>
      <p:sp>
        <p:nvSpPr>
          <p:cNvPr id="23" name="Shape 21"/>
          <p:cNvSpPr/>
          <p:nvPr/>
        </p:nvSpPr>
        <p:spPr>
          <a:xfrm>
            <a:off x="502920" y="3971163"/>
            <a:ext cx="3657600" cy="749808"/>
          </a:xfrm>
          <a:prstGeom prst="roundRect">
            <a:avLst>
              <a:gd name="adj" fmla="val 731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3200"/>
          </a:p>
        </p:txBody>
      </p:sp>
      <p:sp>
        <p:nvSpPr>
          <p:cNvPr id="24" name="Shape 22"/>
          <p:cNvSpPr/>
          <p:nvPr/>
        </p:nvSpPr>
        <p:spPr>
          <a:xfrm>
            <a:off x="502920" y="3971163"/>
            <a:ext cx="54864" cy="749808"/>
          </a:xfrm>
          <a:prstGeom prst="rect">
            <a:avLst/>
          </a:prstGeom>
          <a:solidFill>
            <a:srgbClr val="482816"/>
          </a:solidFill>
          <a:ln w="12700">
            <a:solidFill>
              <a:srgbClr val="482816"/>
            </a:solidFill>
            <a:prstDash val="solid"/>
          </a:ln>
        </p:spPr>
        <p:txBody>
          <a:bodyPr/>
          <a:lstStyle/>
          <a:p>
            <a:endParaRPr lang="es-MX" sz="3200"/>
          </a:p>
        </p:txBody>
      </p:sp>
      <p:sp>
        <p:nvSpPr>
          <p:cNvPr id="25" name="Text 23"/>
          <p:cNvSpPr/>
          <p:nvPr/>
        </p:nvSpPr>
        <p:spPr>
          <a:xfrm>
            <a:off x="667512" y="4053460"/>
            <a:ext cx="340156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Despacho</a:t>
            </a:r>
            <a:endParaRPr lang="en-US" dirty="0"/>
          </a:p>
        </p:txBody>
      </p:sp>
      <p:sp>
        <p:nvSpPr>
          <p:cNvPr id="26" name="Text 24"/>
          <p:cNvSpPr/>
          <p:nvPr/>
        </p:nvSpPr>
        <p:spPr>
          <a:xfrm>
            <a:off x="667512" y="4314063"/>
            <a:ext cx="3401568" cy="256032"/>
          </a:xfrm>
          <a:prstGeom prst="rect">
            <a:avLst/>
          </a:prstGeom>
          <a:noFill/>
          <a:ln/>
        </p:spPr>
        <p:txBody>
          <a:bodyPr wrap="square" lIns="1016" tIns="1016" rIns="1016" bIns="1016" rtlCol="0" anchor="t">
            <a:noAutofit/>
          </a:bodyPr>
          <a:lstStyle/>
          <a:p>
            <a:r>
              <a:rPr lang="es-MX" sz="1200" dirty="0"/>
              <a:t>Lograr trazabilidad digital del 100% de los despachos incluidos en el piloto.</a:t>
            </a:r>
            <a:endParaRPr lang="en-US" sz="1200" dirty="0"/>
          </a:p>
        </p:txBody>
      </p:sp>
      <p:sp>
        <p:nvSpPr>
          <p:cNvPr id="27" name="Shape 25"/>
          <p:cNvSpPr/>
          <p:nvPr/>
        </p:nvSpPr>
        <p:spPr>
          <a:xfrm>
            <a:off x="4507992" y="2855595"/>
            <a:ext cx="3657600" cy="749808"/>
          </a:xfrm>
          <a:prstGeom prst="roundRect">
            <a:avLst>
              <a:gd name="adj" fmla="val 7317"/>
            </a:avLst>
          </a:prstGeom>
          <a:solidFill>
            <a:srgbClr val="FFF1B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3200"/>
          </a:p>
        </p:txBody>
      </p:sp>
      <p:sp>
        <p:nvSpPr>
          <p:cNvPr id="28" name="Shape 26"/>
          <p:cNvSpPr/>
          <p:nvPr/>
        </p:nvSpPr>
        <p:spPr>
          <a:xfrm>
            <a:off x="4507992" y="2855595"/>
            <a:ext cx="54864" cy="749808"/>
          </a:xfrm>
          <a:prstGeom prst="rect">
            <a:avLst/>
          </a:prstGeom>
          <a:solidFill>
            <a:srgbClr val="482816"/>
          </a:solidFill>
          <a:ln w="12700">
            <a:solidFill>
              <a:srgbClr val="482816"/>
            </a:solidFill>
            <a:prstDash val="solid"/>
          </a:ln>
        </p:spPr>
        <p:txBody>
          <a:bodyPr/>
          <a:lstStyle/>
          <a:p>
            <a:endParaRPr lang="es-MX" sz="3200"/>
          </a:p>
        </p:txBody>
      </p:sp>
      <p:sp>
        <p:nvSpPr>
          <p:cNvPr id="29" name="Text 27"/>
          <p:cNvSpPr/>
          <p:nvPr/>
        </p:nvSpPr>
        <p:spPr>
          <a:xfrm>
            <a:off x="4663440" y="2922842"/>
            <a:ext cx="340156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Pérdidas</a:t>
            </a:r>
            <a:endParaRPr lang="en-US" dirty="0"/>
          </a:p>
        </p:txBody>
      </p:sp>
      <p:sp>
        <p:nvSpPr>
          <p:cNvPr id="30" name="Text 28"/>
          <p:cNvSpPr/>
          <p:nvPr/>
        </p:nvSpPr>
        <p:spPr>
          <a:xfrm>
            <a:off x="4663440" y="3201734"/>
            <a:ext cx="3401568" cy="256032"/>
          </a:xfrm>
          <a:prstGeom prst="rect">
            <a:avLst/>
          </a:prstGeom>
          <a:noFill/>
          <a:ln/>
        </p:spPr>
        <p:txBody>
          <a:bodyPr wrap="square" lIns="1016" tIns="1016" rIns="1016" bIns="1016" rtlCol="0" anchor="t">
            <a:noAutofit/>
          </a:bodyPr>
          <a:lstStyle/>
          <a:p>
            <a:pPr marL="0" indent="0" algn="l">
              <a:buNone/>
            </a:pPr>
            <a:r>
              <a:rPr lang="en-US" sz="1200" dirty="0">
                <a:solidFill>
                  <a:srgbClr val="25211E"/>
                </a:solidFill>
                <a:latin typeface="Aptos" pitchFamily="34" charset="0"/>
                <a:ea typeface="Aptos" pitchFamily="34" charset="-122"/>
                <a:cs typeface="Aptos" pitchFamily="34" charset="-120"/>
              </a:rPr>
              <a:t>Valor monetario de diferencias no justificadas por mes (CLP).</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Impacto esperado del negocio</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Metas del piloto conectadas con las métricas del sistema.</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10</a:t>
            </a:r>
            <a:endParaRPr lang="en-US" sz="850" dirty="0"/>
          </a:p>
        </p:txBody>
      </p:sp>
      <p:sp>
        <p:nvSpPr>
          <p:cNvPr id="7" name="Shape 5"/>
          <p:cNvSpPr/>
          <p:nvPr/>
        </p:nvSpPr>
        <p:spPr>
          <a:xfrm>
            <a:off x="548640" y="1325880"/>
            <a:ext cx="3840480" cy="960120"/>
          </a:xfrm>
          <a:prstGeom prst="roundRect">
            <a:avLst>
              <a:gd name="adj" fmla="val 5714"/>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8" name="Shape 6"/>
          <p:cNvSpPr/>
          <p:nvPr/>
        </p:nvSpPr>
        <p:spPr>
          <a:xfrm>
            <a:off x="548640" y="1325880"/>
            <a:ext cx="54864" cy="960120"/>
          </a:xfrm>
          <a:prstGeom prst="rect">
            <a:avLst/>
          </a:prstGeom>
          <a:solidFill>
            <a:srgbClr val="482816"/>
          </a:solidFill>
          <a:ln w="12700">
            <a:solidFill>
              <a:srgbClr val="482816"/>
            </a:solidFill>
            <a:prstDash val="solid"/>
          </a:ln>
        </p:spPr>
        <p:txBody>
          <a:bodyPr/>
          <a:lstStyle/>
          <a:p>
            <a:endParaRPr lang="es-MX"/>
          </a:p>
        </p:txBody>
      </p:sp>
      <p:sp>
        <p:nvSpPr>
          <p:cNvPr id="9" name="Text 7"/>
          <p:cNvSpPr/>
          <p:nvPr/>
        </p:nvSpPr>
        <p:spPr>
          <a:xfrm>
            <a:off x="713232" y="1435608"/>
            <a:ext cx="3584448" cy="219456"/>
          </a:xfrm>
          <a:prstGeom prst="rect">
            <a:avLst/>
          </a:prstGeom>
          <a:noFill/>
          <a:ln/>
        </p:spPr>
        <p:txBody>
          <a:bodyPr wrap="square" lIns="1016" tIns="1016" rIns="1016" bIns="1016" rtlCol="0" anchor="t">
            <a:normAutofit/>
          </a:bodyPr>
          <a:lstStyle/>
          <a:p>
            <a:pPr marL="0" indent="0" algn="l">
              <a:buNone/>
            </a:pPr>
            <a:r>
              <a:rPr lang="en-US" sz="1250" b="1" dirty="0">
                <a:solidFill>
                  <a:srgbClr val="482816"/>
                </a:solidFill>
                <a:latin typeface="Aptos" pitchFamily="34" charset="0"/>
                <a:ea typeface="Aptos" pitchFamily="34" charset="-122"/>
                <a:cs typeface="Aptos" pitchFamily="34" charset="-120"/>
              </a:rPr>
              <a:t>Meta 1</a:t>
            </a:r>
            <a:endParaRPr lang="en-US" sz="1250" dirty="0"/>
          </a:p>
        </p:txBody>
      </p:sp>
      <p:sp>
        <p:nvSpPr>
          <p:cNvPr id="10" name="Text 8"/>
          <p:cNvSpPr/>
          <p:nvPr/>
        </p:nvSpPr>
        <p:spPr>
          <a:xfrm>
            <a:off x="713232" y="1655064"/>
            <a:ext cx="3584448" cy="521208"/>
          </a:xfrm>
          <a:prstGeom prst="rect">
            <a:avLst/>
          </a:prstGeom>
          <a:noFill/>
          <a:ln/>
        </p:spPr>
        <p:txBody>
          <a:bodyPr wrap="square" lIns="1016" tIns="1016" rIns="1016" bIns="1016" rtlCol="0" anchor="t">
            <a:normAutofit lnSpcReduction="10000"/>
          </a:bodyPr>
          <a:lstStyle/>
          <a:p>
            <a:r>
              <a:rPr lang="es-MX" sz="1200" dirty="0"/>
              <a:t>Reducir en al menos 15% la cantidad de unidades de mercadería con diferencias entre stock esperado y stock físico durante el periodo piloto.</a:t>
            </a:r>
            <a:endParaRPr lang="en-US" sz="1200" dirty="0"/>
          </a:p>
        </p:txBody>
      </p:sp>
      <p:sp>
        <p:nvSpPr>
          <p:cNvPr id="11" name="Shape 9"/>
          <p:cNvSpPr/>
          <p:nvPr/>
        </p:nvSpPr>
        <p:spPr>
          <a:xfrm>
            <a:off x="4617720" y="1325880"/>
            <a:ext cx="3840480" cy="960120"/>
          </a:xfrm>
          <a:prstGeom prst="roundRect">
            <a:avLst>
              <a:gd name="adj" fmla="val 5714"/>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12" name="Shape 10"/>
          <p:cNvSpPr/>
          <p:nvPr/>
        </p:nvSpPr>
        <p:spPr>
          <a:xfrm>
            <a:off x="4617720" y="1325880"/>
            <a:ext cx="54864" cy="960120"/>
          </a:xfrm>
          <a:prstGeom prst="rect">
            <a:avLst/>
          </a:prstGeom>
          <a:solidFill>
            <a:srgbClr val="482816"/>
          </a:solidFill>
          <a:ln w="12700">
            <a:solidFill>
              <a:srgbClr val="482816"/>
            </a:solidFill>
            <a:prstDash val="solid"/>
          </a:ln>
        </p:spPr>
        <p:txBody>
          <a:bodyPr/>
          <a:lstStyle/>
          <a:p>
            <a:endParaRPr lang="es-MX"/>
          </a:p>
        </p:txBody>
      </p:sp>
      <p:sp>
        <p:nvSpPr>
          <p:cNvPr id="13" name="Text 11"/>
          <p:cNvSpPr/>
          <p:nvPr/>
        </p:nvSpPr>
        <p:spPr>
          <a:xfrm>
            <a:off x="4782312" y="1435608"/>
            <a:ext cx="3584448" cy="219456"/>
          </a:xfrm>
          <a:prstGeom prst="rect">
            <a:avLst/>
          </a:prstGeom>
          <a:noFill/>
          <a:ln/>
        </p:spPr>
        <p:txBody>
          <a:bodyPr wrap="square" lIns="1016" tIns="1016" rIns="1016" bIns="1016" rtlCol="0" anchor="t">
            <a:normAutofit/>
          </a:bodyPr>
          <a:lstStyle/>
          <a:p>
            <a:pPr marL="0" indent="0" algn="l">
              <a:buNone/>
            </a:pPr>
            <a:r>
              <a:rPr lang="en-US" sz="1250" b="1" dirty="0">
                <a:solidFill>
                  <a:srgbClr val="482816"/>
                </a:solidFill>
                <a:latin typeface="Aptos" pitchFamily="34" charset="0"/>
                <a:ea typeface="Aptos" pitchFamily="34" charset="-122"/>
                <a:cs typeface="Aptos" pitchFamily="34" charset="-120"/>
              </a:rPr>
              <a:t>Meta 2</a:t>
            </a:r>
            <a:endParaRPr lang="en-US" sz="1250" dirty="0"/>
          </a:p>
        </p:txBody>
      </p:sp>
      <p:sp>
        <p:nvSpPr>
          <p:cNvPr id="14" name="Text 12"/>
          <p:cNvSpPr/>
          <p:nvPr/>
        </p:nvSpPr>
        <p:spPr>
          <a:xfrm>
            <a:off x="4782312" y="1655064"/>
            <a:ext cx="3584448" cy="521208"/>
          </a:xfrm>
          <a:prstGeom prst="rect">
            <a:avLst/>
          </a:prstGeom>
          <a:noFill/>
          <a:ln/>
        </p:spPr>
        <p:txBody>
          <a:bodyPr wrap="square" lIns="1016" tIns="1016" rIns="1016" bIns="1016" rtlCol="0" anchor="t">
            <a:normAutofit lnSpcReduction="10000"/>
          </a:bodyPr>
          <a:lstStyle/>
          <a:p>
            <a:r>
              <a:rPr lang="es-MX" sz="1200" dirty="0"/>
              <a:t>Disminuir el valor monetario mensual de las diferencias entre pan despachado y recibido respecto de la línea base obtenida al inicio del piloto.</a:t>
            </a:r>
            <a:endParaRPr lang="en-US" sz="1200" dirty="0"/>
          </a:p>
        </p:txBody>
      </p:sp>
      <p:sp>
        <p:nvSpPr>
          <p:cNvPr id="15" name="Shape 13"/>
          <p:cNvSpPr/>
          <p:nvPr/>
        </p:nvSpPr>
        <p:spPr>
          <a:xfrm>
            <a:off x="548640" y="2606040"/>
            <a:ext cx="2514600" cy="822960"/>
          </a:xfrm>
          <a:prstGeom prst="roundRect">
            <a:avLst>
              <a:gd name="adj" fmla="val 666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16" name="Shape 14"/>
          <p:cNvSpPr/>
          <p:nvPr/>
        </p:nvSpPr>
        <p:spPr>
          <a:xfrm>
            <a:off x="548640" y="2606040"/>
            <a:ext cx="54864" cy="822960"/>
          </a:xfrm>
          <a:prstGeom prst="rect">
            <a:avLst/>
          </a:prstGeom>
          <a:solidFill>
            <a:srgbClr val="482816"/>
          </a:solidFill>
          <a:ln w="12700">
            <a:solidFill>
              <a:srgbClr val="482816"/>
            </a:solidFill>
            <a:prstDash val="solid"/>
          </a:ln>
        </p:spPr>
        <p:txBody>
          <a:bodyPr/>
          <a:lstStyle/>
          <a:p>
            <a:endParaRPr lang="es-MX"/>
          </a:p>
        </p:txBody>
      </p:sp>
      <p:sp>
        <p:nvSpPr>
          <p:cNvPr id="17" name="Text 15"/>
          <p:cNvSpPr/>
          <p:nvPr/>
        </p:nvSpPr>
        <p:spPr>
          <a:xfrm>
            <a:off x="713232" y="2715768"/>
            <a:ext cx="2258568" cy="219456"/>
          </a:xfrm>
          <a:prstGeom prst="rect">
            <a:avLst/>
          </a:prstGeom>
          <a:noFill/>
          <a:ln/>
        </p:spPr>
        <p:txBody>
          <a:bodyPr wrap="square" lIns="1016" tIns="1016" rIns="1016" bIns="1016" rtlCol="0" anchor="t">
            <a:normAutofit/>
          </a:bodyPr>
          <a:lstStyle/>
          <a:p>
            <a:pPr marL="0" indent="0" algn="l">
              <a:buNone/>
            </a:pPr>
            <a:r>
              <a:rPr lang="en-US" sz="1200" b="1" dirty="0">
                <a:solidFill>
                  <a:srgbClr val="482816"/>
                </a:solidFill>
                <a:latin typeface="Aptos" pitchFamily="34" charset="0"/>
                <a:ea typeface="Aptos" pitchFamily="34" charset="-122"/>
                <a:cs typeface="Aptos" pitchFamily="34" charset="-120"/>
              </a:rPr>
              <a:t>Detección</a:t>
            </a:r>
            <a:endParaRPr lang="en-US" sz="1200" dirty="0"/>
          </a:p>
        </p:txBody>
      </p:sp>
      <p:sp>
        <p:nvSpPr>
          <p:cNvPr id="18" name="Text 16"/>
          <p:cNvSpPr/>
          <p:nvPr/>
        </p:nvSpPr>
        <p:spPr>
          <a:xfrm>
            <a:off x="713232" y="2916936"/>
            <a:ext cx="2258568" cy="402336"/>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Detectar diferencias de inventario al finalizar cada conteo físico.</a:t>
            </a:r>
            <a:endParaRPr lang="en-US" sz="1200" dirty="0"/>
          </a:p>
        </p:txBody>
      </p:sp>
      <p:sp>
        <p:nvSpPr>
          <p:cNvPr id="19" name="Shape 17"/>
          <p:cNvSpPr/>
          <p:nvPr/>
        </p:nvSpPr>
        <p:spPr>
          <a:xfrm>
            <a:off x="3310128" y="2606040"/>
            <a:ext cx="2514600" cy="822960"/>
          </a:xfrm>
          <a:prstGeom prst="roundRect">
            <a:avLst>
              <a:gd name="adj" fmla="val 666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20" name="Shape 18"/>
          <p:cNvSpPr/>
          <p:nvPr/>
        </p:nvSpPr>
        <p:spPr>
          <a:xfrm>
            <a:off x="3310128" y="2606040"/>
            <a:ext cx="54864" cy="822960"/>
          </a:xfrm>
          <a:prstGeom prst="rect">
            <a:avLst/>
          </a:prstGeom>
          <a:solidFill>
            <a:srgbClr val="482816"/>
          </a:solidFill>
          <a:ln w="12700">
            <a:solidFill>
              <a:srgbClr val="482816"/>
            </a:solidFill>
            <a:prstDash val="solid"/>
          </a:ln>
        </p:spPr>
        <p:txBody>
          <a:bodyPr/>
          <a:lstStyle/>
          <a:p>
            <a:endParaRPr lang="es-MX"/>
          </a:p>
        </p:txBody>
      </p:sp>
      <p:sp>
        <p:nvSpPr>
          <p:cNvPr id="21" name="Text 19"/>
          <p:cNvSpPr/>
          <p:nvPr/>
        </p:nvSpPr>
        <p:spPr>
          <a:xfrm>
            <a:off x="3474720" y="2624328"/>
            <a:ext cx="2258568" cy="219456"/>
          </a:xfrm>
          <a:prstGeom prst="rect">
            <a:avLst/>
          </a:prstGeom>
          <a:noFill/>
          <a:ln/>
        </p:spPr>
        <p:txBody>
          <a:bodyPr wrap="square" lIns="1016" tIns="1016" rIns="1016" bIns="1016" rtlCol="0" anchor="t">
            <a:normAutofit/>
          </a:bodyPr>
          <a:lstStyle/>
          <a:p>
            <a:pPr marL="0" indent="0" algn="l">
              <a:buNone/>
            </a:pPr>
            <a:r>
              <a:rPr lang="en-US" sz="1200" b="1" dirty="0">
                <a:solidFill>
                  <a:srgbClr val="482816"/>
                </a:solidFill>
                <a:latin typeface="Aptos" pitchFamily="34" charset="0"/>
                <a:ea typeface="Aptos" pitchFamily="34" charset="-122"/>
                <a:cs typeface="Aptos" pitchFamily="34" charset="-120"/>
              </a:rPr>
              <a:t>Línea base</a:t>
            </a:r>
            <a:endParaRPr lang="en-US" sz="1200" dirty="0"/>
          </a:p>
        </p:txBody>
      </p:sp>
      <p:sp>
        <p:nvSpPr>
          <p:cNvPr id="22" name="Text 20"/>
          <p:cNvSpPr/>
          <p:nvPr/>
        </p:nvSpPr>
        <p:spPr>
          <a:xfrm>
            <a:off x="3470148" y="2825496"/>
            <a:ext cx="2350008" cy="621792"/>
          </a:xfrm>
          <a:prstGeom prst="rect">
            <a:avLst/>
          </a:prstGeom>
          <a:noFill/>
          <a:ln/>
        </p:spPr>
        <p:txBody>
          <a:bodyPr wrap="square" lIns="1016" tIns="1016" rIns="1016" bIns="1016" rtlCol="0" anchor="t">
            <a:normAutofit/>
          </a:bodyPr>
          <a:lstStyle/>
          <a:p>
            <a:r>
              <a:rPr lang="es-MX" sz="1050" dirty="0"/>
              <a:t>Disminuir la cantidad de unidades con diferencias entre stock esperado y stock físico respecto de la línea base inicial.</a:t>
            </a:r>
          </a:p>
        </p:txBody>
      </p:sp>
      <p:sp>
        <p:nvSpPr>
          <p:cNvPr id="23" name="Shape 21"/>
          <p:cNvSpPr/>
          <p:nvPr/>
        </p:nvSpPr>
        <p:spPr>
          <a:xfrm>
            <a:off x="6080760" y="2606040"/>
            <a:ext cx="2514600" cy="822960"/>
          </a:xfrm>
          <a:prstGeom prst="roundRect">
            <a:avLst>
              <a:gd name="adj" fmla="val 6667"/>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24" name="Shape 22"/>
          <p:cNvSpPr/>
          <p:nvPr/>
        </p:nvSpPr>
        <p:spPr>
          <a:xfrm>
            <a:off x="6080760" y="2606040"/>
            <a:ext cx="54864" cy="822960"/>
          </a:xfrm>
          <a:prstGeom prst="rect">
            <a:avLst/>
          </a:prstGeom>
          <a:solidFill>
            <a:srgbClr val="482816"/>
          </a:solidFill>
          <a:ln w="12700">
            <a:solidFill>
              <a:srgbClr val="482816"/>
            </a:solidFill>
            <a:prstDash val="solid"/>
          </a:ln>
        </p:spPr>
        <p:txBody>
          <a:bodyPr/>
          <a:lstStyle/>
          <a:p>
            <a:endParaRPr lang="es-MX"/>
          </a:p>
        </p:txBody>
      </p:sp>
      <p:sp>
        <p:nvSpPr>
          <p:cNvPr id="25" name="Text 23"/>
          <p:cNvSpPr/>
          <p:nvPr/>
        </p:nvSpPr>
        <p:spPr>
          <a:xfrm>
            <a:off x="6245352" y="2715768"/>
            <a:ext cx="2258568" cy="219456"/>
          </a:xfrm>
          <a:prstGeom prst="rect">
            <a:avLst/>
          </a:prstGeom>
          <a:noFill/>
          <a:ln/>
        </p:spPr>
        <p:txBody>
          <a:bodyPr wrap="square" lIns="1016" tIns="1016" rIns="1016" bIns="1016" rtlCol="0" anchor="t">
            <a:normAutofit/>
          </a:bodyPr>
          <a:lstStyle/>
          <a:p>
            <a:pPr marL="0" indent="0" algn="l">
              <a:buNone/>
            </a:pPr>
            <a:r>
              <a:rPr lang="en-US" sz="1200" b="1" dirty="0">
                <a:solidFill>
                  <a:srgbClr val="482816"/>
                </a:solidFill>
                <a:latin typeface="Aptos" pitchFamily="34" charset="0"/>
                <a:ea typeface="Aptos" pitchFamily="34" charset="-122"/>
                <a:cs typeface="Aptos" pitchFamily="34" charset="-120"/>
              </a:rPr>
              <a:t>Despachos</a:t>
            </a:r>
            <a:endParaRPr lang="en-US" sz="1200" dirty="0"/>
          </a:p>
        </p:txBody>
      </p:sp>
      <p:sp>
        <p:nvSpPr>
          <p:cNvPr id="26" name="Text 24"/>
          <p:cNvSpPr/>
          <p:nvPr/>
        </p:nvSpPr>
        <p:spPr>
          <a:xfrm>
            <a:off x="6245352" y="2916936"/>
            <a:ext cx="2258568" cy="493776"/>
          </a:xfrm>
          <a:prstGeom prst="rect">
            <a:avLst/>
          </a:prstGeom>
          <a:noFill/>
          <a:ln/>
        </p:spPr>
        <p:txBody>
          <a:bodyPr wrap="square" lIns="1016" tIns="1016" rIns="1016" bIns="1016" rtlCol="0" anchor="t">
            <a:normAutofit fontScale="92500" lnSpcReduction="10000"/>
          </a:bodyPr>
          <a:lstStyle/>
          <a:p>
            <a:pPr marL="0" indent="0" algn="l">
              <a:buNone/>
            </a:pPr>
            <a:r>
              <a:rPr lang="en-US" sz="1200" dirty="0">
                <a:solidFill>
                  <a:srgbClr val="25211E"/>
                </a:solidFill>
                <a:latin typeface="Aptos" pitchFamily="34" charset="0"/>
                <a:ea typeface="Aptos" pitchFamily="34" charset="-122"/>
                <a:cs typeface="Aptos" pitchFamily="34" charset="-120"/>
              </a:rPr>
              <a:t>Lograr trazabilidad digital del 100% de los despachos incluidos en el piloto.</a:t>
            </a:r>
            <a:endParaRPr lang="en-US" sz="1200" dirty="0"/>
          </a:p>
        </p:txBody>
      </p:sp>
      <p:sp>
        <p:nvSpPr>
          <p:cNvPr id="27" name="Shape 25"/>
          <p:cNvSpPr/>
          <p:nvPr/>
        </p:nvSpPr>
        <p:spPr>
          <a:xfrm>
            <a:off x="1051560" y="3977640"/>
            <a:ext cx="7040880" cy="713232"/>
          </a:xfrm>
          <a:prstGeom prst="roundRect">
            <a:avLst>
              <a:gd name="adj" fmla="val 769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a:p>
        </p:txBody>
      </p:sp>
      <p:sp>
        <p:nvSpPr>
          <p:cNvPr id="28" name="Shape 26"/>
          <p:cNvSpPr/>
          <p:nvPr/>
        </p:nvSpPr>
        <p:spPr>
          <a:xfrm>
            <a:off x="1051560" y="3977640"/>
            <a:ext cx="54864" cy="713232"/>
          </a:xfrm>
          <a:prstGeom prst="rect">
            <a:avLst/>
          </a:prstGeom>
          <a:solidFill>
            <a:srgbClr val="482816"/>
          </a:solidFill>
          <a:ln w="12700">
            <a:solidFill>
              <a:srgbClr val="482816"/>
            </a:solidFill>
            <a:prstDash val="solid"/>
          </a:ln>
        </p:spPr>
        <p:txBody>
          <a:bodyPr/>
          <a:lstStyle/>
          <a:p>
            <a:endParaRPr lang="es-MX"/>
          </a:p>
        </p:txBody>
      </p:sp>
      <p:sp>
        <p:nvSpPr>
          <p:cNvPr id="29" name="Text 27"/>
          <p:cNvSpPr/>
          <p:nvPr/>
        </p:nvSpPr>
        <p:spPr>
          <a:xfrm>
            <a:off x="1216152" y="4087368"/>
            <a:ext cx="6784848" cy="219456"/>
          </a:xfrm>
          <a:prstGeom prst="rect">
            <a:avLst/>
          </a:prstGeom>
          <a:noFill/>
          <a:ln/>
        </p:spPr>
        <p:txBody>
          <a:bodyPr wrap="square" lIns="1016" tIns="1016" rIns="1016" bIns="1016" rtlCol="0" anchor="t">
            <a:normAutofit/>
          </a:bodyPr>
          <a:lstStyle/>
          <a:p>
            <a:pPr marL="0" indent="0" algn="l">
              <a:buNone/>
            </a:pPr>
            <a:r>
              <a:rPr lang="en-US" sz="1200" b="1" dirty="0">
                <a:solidFill>
                  <a:srgbClr val="482816"/>
                </a:solidFill>
                <a:latin typeface="Aptos" pitchFamily="34" charset="0"/>
                <a:ea typeface="Aptos" pitchFamily="34" charset="-122"/>
                <a:cs typeface="Aptos" pitchFamily="34" charset="-120"/>
              </a:rPr>
              <a:t>Decisiones</a:t>
            </a:r>
            <a:endParaRPr lang="en-US" sz="1200" dirty="0"/>
          </a:p>
        </p:txBody>
      </p:sp>
      <p:sp>
        <p:nvSpPr>
          <p:cNvPr id="30" name="Text 28"/>
          <p:cNvSpPr/>
          <p:nvPr/>
        </p:nvSpPr>
        <p:spPr>
          <a:xfrm>
            <a:off x="1216152" y="4306824"/>
            <a:ext cx="6784848" cy="356616"/>
          </a:xfrm>
          <a:prstGeom prst="rect">
            <a:avLst/>
          </a:prstGeom>
          <a:noFill/>
          <a:ln/>
        </p:spPr>
        <p:txBody>
          <a:bodyPr wrap="square" lIns="1016" tIns="1016" rIns="1016" bIns="1016" rtlCol="0" anchor="t">
            <a:normAutofit fontScale="92500" lnSpcReduction="20000"/>
          </a:bodyPr>
          <a:lstStyle/>
          <a:p>
            <a:pPr marL="0" indent="0" algn="l">
              <a:buNone/>
            </a:pPr>
            <a:r>
              <a:rPr lang="en-US" sz="1400" dirty="0">
                <a:solidFill>
                  <a:srgbClr val="25211E"/>
                </a:solidFill>
                <a:latin typeface="Aptos" pitchFamily="34" charset="0"/>
                <a:ea typeface="Aptos" pitchFamily="34" charset="-122"/>
                <a:cs typeface="Aptos" pitchFamily="34" charset="-120"/>
              </a:rPr>
              <a:t>Disponer de información actualizada de stock y movimientos para apoyar decisiones de compra y reposición.</a:t>
            </a:r>
            <a:endParaRPr lang="en-US" sz="1400" dirty="0"/>
          </a:p>
        </p:txBody>
      </p:sp>
      <p:sp>
        <p:nvSpPr>
          <p:cNvPr id="31" name="Shape 29"/>
          <p:cNvSpPr/>
          <p:nvPr/>
        </p:nvSpPr>
        <p:spPr>
          <a:xfrm>
            <a:off x="960120" y="5047488"/>
            <a:ext cx="7223760" cy="502920"/>
          </a:xfrm>
          <a:prstGeom prst="roundRect">
            <a:avLst>
              <a:gd name="adj" fmla="val 10909"/>
            </a:avLst>
          </a:prstGeom>
          <a:solidFill>
            <a:srgbClr val="FFF1BF"/>
          </a:solidFill>
          <a:ln w="12700">
            <a:solidFill>
              <a:srgbClr val="FFF1BF"/>
            </a:solidFill>
            <a:prstDash val="solid"/>
          </a:ln>
        </p:spPr>
        <p:txBody>
          <a:bodyPr/>
          <a:lstStyle/>
          <a:p>
            <a:endParaRPr lang="es-MX"/>
          </a:p>
        </p:txBody>
      </p:sp>
      <p:sp>
        <p:nvSpPr>
          <p:cNvPr id="32" name="Text 30"/>
          <p:cNvSpPr/>
          <p:nvPr/>
        </p:nvSpPr>
        <p:spPr>
          <a:xfrm>
            <a:off x="1143000" y="5102352"/>
            <a:ext cx="6766560" cy="448056"/>
          </a:xfrm>
          <a:prstGeom prst="rect">
            <a:avLst/>
          </a:prstGeom>
          <a:noFill/>
          <a:ln/>
        </p:spPr>
        <p:txBody>
          <a:bodyPr wrap="square" lIns="1016" tIns="1016" rIns="1016" bIns="1016" rtlCol="0" anchor="t">
            <a:normAutofit/>
          </a:bodyPr>
          <a:lstStyle/>
          <a:p>
            <a:pPr algn="ctr"/>
            <a:r>
              <a:rPr lang="es-MX" sz="1400" b="1" dirty="0"/>
              <a:t>El 15% corresponde a una meta propuesta del piloto; los demás resultados serán evaluados respecto de la línea base obtenida al inicio del periodo.</a:t>
            </a:r>
            <a:endParaRPr lang="en-US" sz="14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Metodología de trabajo</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Lean Inception para delimitar MVP + Scrum adaptado para construir incrementos.</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11</a:t>
            </a:r>
            <a:endParaRPr lang="en-US" sz="850" dirty="0"/>
          </a:p>
        </p:txBody>
      </p:sp>
      <p:sp>
        <p:nvSpPr>
          <p:cNvPr id="7" name="Shape 5"/>
          <p:cNvSpPr/>
          <p:nvPr/>
        </p:nvSpPr>
        <p:spPr>
          <a:xfrm>
            <a:off x="594360" y="1325880"/>
            <a:ext cx="3840480" cy="1234440"/>
          </a:xfrm>
          <a:prstGeom prst="roundRect">
            <a:avLst>
              <a:gd name="adj" fmla="val 4444"/>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8" name="Shape 6"/>
          <p:cNvSpPr/>
          <p:nvPr/>
        </p:nvSpPr>
        <p:spPr>
          <a:xfrm>
            <a:off x="594360" y="1325880"/>
            <a:ext cx="54864" cy="1234440"/>
          </a:xfrm>
          <a:prstGeom prst="rect">
            <a:avLst/>
          </a:prstGeom>
          <a:solidFill>
            <a:srgbClr val="482816"/>
          </a:solidFill>
          <a:ln w="12700">
            <a:solidFill>
              <a:srgbClr val="482816"/>
            </a:solidFill>
            <a:prstDash val="solid"/>
          </a:ln>
        </p:spPr>
        <p:txBody>
          <a:bodyPr/>
          <a:lstStyle/>
          <a:p>
            <a:endParaRPr lang="es-MX" sz="2400"/>
          </a:p>
        </p:txBody>
      </p:sp>
      <p:sp>
        <p:nvSpPr>
          <p:cNvPr id="9" name="Text 7"/>
          <p:cNvSpPr/>
          <p:nvPr/>
        </p:nvSpPr>
        <p:spPr>
          <a:xfrm>
            <a:off x="758952" y="1435608"/>
            <a:ext cx="358444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Lean Inception</a:t>
            </a:r>
            <a:endParaRPr lang="en-US" sz="1600" dirty="0"/>
          </a:p>
        </p:txBody>
      </p:sp>
      <p:sp>
        <p:nvSpPr>
          <p:cNvPr id="10" name="Text 8"/>
          <p:cNvSpPr/>
          <p:nvPr/>
        </p:nvSpPr>
        <p:spPr>
          <a:xfrm>
            <a:off x="758952" y="1709928"/>
            <a:ext cx="3584448" cy="740664"/>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Se utiliza como apoyo para alinear problema, usuarios, solución, alcance y MVP, evitando inflar el proyecto con funcionalidades fuera del objetivo.</a:t>
            </a:r>
            <a:endParaRPr lang="en-US" sz="1200" dirty="0"/>
          </a:p>
        </p:txBody>
      </p:sp>
      <p:sp>
        <p:nvSpPr>
          <p:cNvPr id="11" name="Shape 9"/>
          <p:cNvSpPr/>
          <p:nvPr/>
        </p:nvSpPr>
        <p:spPr>
          <a:xfrm>
            <a:off x="4709160" y="1325880"/>
            <a:ext cx="3840480" cy="1234440"/>
          </a:xfrm>
          <a:prstGeom prst="roundRect">
            <a:avLst>
              <a:gd name="adj" fmla="val 4444"/>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12" name="Shape 10"/>
          <p:cNvSpPr/>
          <p:nvPr/>
        </p:nvSpPr>
        <p:spPr>
          <a:xfrm>
            <a:off x="4709160" y="1325880"/>
            <a:ext cx="54864" cy="1234440"/>
          </a:xfrm>
          <a:prstGeom prst="rect">
            <a:avLst/>
          </a:prstGeom>
          <a:solidFill>
            <a:srgbClr val="482816"/>
          </a:solidFill>
          <a:ln w="12700">
            <a:solidFill>
              <a:srgbClr val="482816"/>
            </a:solidFill>
            <a:prstDash val="solid"/>
          </a:ln>
        </p:spPr>
        <p:txBody>
          <a:bodyPr/>
          <a:lstStyle/>
          <a:p>
            <a:endParaRPr lang="es-MX" sz="2400"/>
          </a:p>
        </p:txBody>
      </p:sp>
      <p:sp>
        <p:nvSpPr>
          <p:cNvPr id="13" name="Text 11"/>
          <p:cNvSpPr/>
          <p:nvPr/>
        </p:nvSpPr>
        <p:spPr>
          <a:xfrm>
            <a:off x="4873752" y="1435608"/>
            <a:ext cx="3584448" cy="219456"/>
          </a:xfrm>
          <a:prstGeom prst="rect">
            <a:avLst/>
          </a:prstGeom>
          <a:noFill/>
          <a:ln/>
        </p:spPr>
        <p:txBody>
          <a:bodyPr wrap="square" lIns="1016" tIns="1016" rIns="1016" bIns="1016" rtlCol="0" anchor="t">
            <a:noAutofit/>
          </a:bodyPr>
          <a:lstStyle/>
          <a:p>
            <a:pPr marL="0" indent="0" algn="l">
              <a:buNone/>
            </a:pPr>
            <a:r>
              <a:rPr lang="en-US" sz="1600" b="1" dirty="0">
                <a:solidFill>
                  <a:srgbClr val="482816"/>
                </a:solidFill>
                <a:latin typeface="Aptos" pitchFamily="34" charset="0"/>
                <a:ea typeface="Aptos" pitchFamily="34" charset="-122"/>
                <a:cs typeface="Aptos" pitchFamily="34" charset="-120"/>
              </a:rPr>
              <a:t>Scrum adaptado</a:t>
            </a:r>
            <a:endParaRPr lang="en-US" sz="1600" dirty="0"/>
          </a:p>
        </p:txBody>
      </p:sp>
      <p:sp>
        <p:nvSpPr>
          <p:cNvPr id="14" name="Text 12"/>
          <p:cNvSpPr/>
          <p:nvPr/>
        </p:nvSpPr>
        <p:spPr>
          <a:xfrm>
            <a:off x="4873752" y="1709928"/>
            <a:ext cx="3584448" cy="740664"/>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Equipo pequeño de 3 integrantes, Product Backlog priorizado, sprints aproximados de 2 semanas, revisión de incrementos y retroalimentación continua.</a:t>
            </a:r>
            <a:endParaRPr lang="en-US" sz="1200" dirty="0"/>
          </a:p>
        </p:txBody>
      </p:sp>
      <p:sp>
        <p:nvSpPr>
          <p:cNvPr id="15" name="Shape 13"/>
          <p:cNvSpPr/>
          <p:nvPr/>
        </p:nvSpPr>
        <p:spPr>
          <a:xfrm>
            <a:off x="9326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16" name="Text 14"/>
          <p:cNvSpPr/>
          <p:nvPr/>
        </p:nvSpPr>
        <p:spPr>
          <a:xfrm>
            <a:off x="10881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7" name="Shape 15"/>
          <p:cNvSpPr/>
          <p:nvPr/>
        </p:nvSpPr>
        <p:spPr>
          <a:xfrm>
            <a:off x="1444752" y="3950208"/>
            <a:ext cx="749808" cy="0"/>
          </a:xfrm>
          <a:prstGeom prst="line">
            <a:avLst/>
          </a:prstGeom>
          <a:noFill/>
          <a:ln w="15240">
            <a:solidFill>
              <a:srgbClr val="482816"/>
            </a:solidFill>
            <a:prstDash val="solid"/>
            <a:headEnd type="none"/>
            <a:tailEnd type="triangle"/>
          </a:ln>
        </p:spPr>
        <p:txBody>
          <a:bodyPr/>
          <a:lstStyle/>
          <a:p>
            <a:endParaRPr lang="es-MX" sz="2400"/>
          </a:p>
        </p:txBody>
      </p:sp>
      <p:sp>
        <p:nvSpPr>
          <p:cNvPr id="18" name="Text 16"/>
          <p:cNvSpPr/>
          <p:nvPr/>
        </p:nvSpPr>
        <p:spPr>
          <a:xfrm>
            <a:off x="6400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Levantamiento</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y priorización</a:t>
            </a:r>
            <a:endParaRPr lang="en-US" sz="1200" b="1" dirty="0"/>
          </a:p>
        </p:txBody>
      </p:sp>
      <p:sp>
        <p:nvSpPr>
          <p:cNvPr id="19" name="Shape 17"/>
          <p:cNvSpPr/>
          <p:nvPr/>
        </p:nvSpPr>
        <p:spPr>
          <a:xfrm>
            <a:off x="23042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20" name="Text 18"/>
          <p:cNvSpPr/>
          <p:nvPr/>
        </p:nvSpPr>
        <p:spPr>
          <a:xfrm>
            <a:off x="24597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21" name="Shape 19"/>
          <p:cNvSpPr/>
          <p:nvPr/>
        </p:nvSpPr>
        <p:spPr>
          <a:xfrm>
            <a:off x="2816352" y="3950208"/>
            <a:ext cx="749808" cy="0"/>
          </a:xfrm>
          <a:prstGeom prst="line">
            <a:avLst/>
          </a:prstGeom>
          <a:noFill/>
          <a:ln w="15240">
            <a:solidFill>
              <a:srgbClr val="482816"/>
            </a:solidFill>
            <a:prstDash val="solid"/>
            <a:headEnd type="none"/>
            <a:tailEnd type="triangle"/>
          </a:ln>
        </p:spPr>
        <p:txBody>
          <a:bodyPr/>
          <a:lstStyle/>
          <a:p>
            <a:endParaRPr lang="es-MX" sz="2400"/>
          </a:p>
        </p:txBody>
      </p:sp>
      <p:sp>
        <p:nvSpPr>
          <p:cNvPr id="22" name="Text 20"/>
          <p:cNvSpPr/>
          <p:nvPr/>
        </p:nvSpPr>
        <p:spPr>
          <a:xfrm>
            <a:off x="20116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Diseño</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y prototipo</a:t>
            </a:r>
            <a:endParaRPr lang="en-US" sz="1200" b="1" dirty="0"/>
          </a:p>
        </p:txBody>
      </p:sp>
      <p:sp>
        <p:nvSpPr>
          <p:cNvPr id="23" name="Shape 21"/>
          <p:cNvSpPr/>
          <p:nvPr/>
        </p:nvSpPr>
        <p:spPr>
          <a:xfrm>
            <a:off x="36758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24" name="Text 22"/>
          <p:cNvSpPr/>
          <p:nvPr/>
        </p:nvSpPr>
        <p:spPr>
          <a:xfrm>
            <a:off x="38313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5" name="Shape 23"/>
          <p:cNvSpPr/>
          <p:nvPr/>
        </p:nvSpPr>
        <p:spPr>
          <a:xfrm>
            <a:off x="4187952" y="3950208"/>
            <a:ext cx="749808" cy="0"/>
          </a:xfrm>
          <a:prstGeom prst="line">
            <a:avLst/>
          </a:prstGeom>
          <a:noFill/>
          <a:ln w="15240">
            <a:solidFill>
              <a:srgbClr val="482816"/>
            </a:solidFill>
            <a:prstDash val="solid"/>
            <a:headEnd type="none"/>
            <a:tailEnd type="triangle"/>
          </a:ln>
        </p:spPr>
        <p:txBody>
          <a:bodyPr/>
          <a:lstStyle/>
          <a:p>
            <a:endParaRPr lang="es-MX" sz="2400"/>
          </a:p>
        </p:txBody>
      </p:sp>
      <p:sp>
        <p:nvSpPr>
          <p:cNvPr id="26" name="Text 24"/>
          <p:cNvSpPr/>
          <p:nvPr/>
        </p:nvSpPr>
        <p:spPr>
          <a:xfrm>
            <a:off x="33832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Desarrollo</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incremental</a:t>
            </a:r>
            <a:endParaRPr lang="en-US" sz="1200" b="1" dirty="0"/>
          </a:p>
        </p:txBody>
      </p:sp>
      <p:sp>
        <p:nvSpPr>
          <p:cNvPr id="27" name="Shape 25"/>
          <p:cNvSpPr/>
          <p:nvPr/>
        </p:nvSpPr>
        <p:spPr>
          <a:xfrm>
            <a:off x="50474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28" name="Text 26"/>
          <p:cNvSpPr/>
          <p:nvPr/>
        </p:nvSpPr>
        <p:spPr>
          <a:xfrm>
            <a:off x="52029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9" name="Shape 27"/>
          <p:cNvSpPr/>
          <p:nvPr/>
        </p:nvSpPr>
        <p:spPr>
          <a:xfrm>
            <a:off x="5559552" y="3950208"/>
            <a:ext cx="749808" cy="0"/>
          </a:xfrm>
          <a:prstGeom prst="line">
            <a:avLst/>
          </a:prstGeom>
          <a:noFill/>
          <a:ln w="15240">
            <a:solidFill>
              <a:srgbClr val="482816"/>
            </a:solidFill>
            <a:prstDash val="solid"/>
            <a:headEnd type="none"/>
            <a:tailEnd type="triangle"/>
          </a:ln>
        </p:spPr>
        <p:txBody>
          <a:bodyPr/>
          <a:lstStyle/>
          <a:p>
            <a:endParaRPr lang="es-MX" sz="2400"/>
          </a:p>
        </p:txBody>
      </p:sp>
      <p:sp>
        <p:nvSpPr>
          <p:cNvPr id="30" name="Text 28"/>
          <p:cNvSpPr/>
          <p:nvPr/>
        </p:nvSpPr>
        <p:spPr>
          <a:xfrm>
            <a:off x="47548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Integración</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y métricas</a:t>
            </a:r>
            <a:endParaRPr lang="en-US" sz="1200" b="1" dirty="0"/>
          </a:p>
        </p:txBody>
      </p:sp>
      <p:sp>
        <p:nvSpPr>
          <p:cNvPr id="31" name="Shape 29"/>
          <p:cNvSpPr/>
          <p:nvPr/>
        </p:nvSpPr>
        <p:spPr>
          <a:xfrm>
            <a:off x="64190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32" name="Text 30"/>
          <p:cNvSpPr/>
          <p:nvPr/>
        </p:nvSpPr>
        <p:spPr>
          <a:xfrm>
            <a:off x="65745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33" name="Shape 31"/>
          <p:cNvSpPr/>
          <p:nvPr/>
        </p:nvSpPr>
        <p:spPr>
          <a:xfrm>
            <a:off x="6931152" y="3950208"/>
            <a:ext cx="749808" cy="0"/>
          </a:xfrm>
          <a:prstGeom prst="line">
            <a:avLst/>
          </a:prstGeom>
          <a:noFill/>
          <a:ln w="15240">
            <a:solidFill>
              <a:srgbClr val="482816"/>
            </a:solidFill>
            <a:prstDash val="solid"/>
            <a:headEnd type="none"/>
            <a:tailEnd type="triangle"/>
          </a:ln>
        </p:spPr>
        <p:txBody>
          <a:bodyPr/>
          <a:lstStyle/>
          <a:p>
            <a:endParaRPr lang="es-MX" sz="2400"/>
          </a:p>
        </p:txBody>
      </p:sp>
      <p:sp>
        <p:nvSpPr>
          <p:cNvPr id="34" name="Text 32"/>
          <p:cNvSpPr/>
          <p:nvPr/>
        </p:nvSpPr>
        <p:spPr>
          <a:xfrm>
            <a:off x="61264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Pruebas</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y validación</a:t>
            </a:r>
            <a:endParaRPr lang="en-US" sz="1200" b="1" dirty="0"/>
          </a:p>
        </p:txBody>
      </p:sp>
      <p:sp>
        <p:nvSpPr>
          <p:cNvPr id="35" name="Shape 33"/>
          <p:cNvSpPr/>
          <p:nvPr/>
        </p:nvSpPr>
        <p:spPr>
          <a:xfrm>
            <a:off x="7790688" y="3703320"/>
            <a:ext cx="502920" cy="502920"/>
          </a:xfrm>
          <a:prstGeom prst="ellipse">
            <a:avLst/>
          </a:prstGeom>
          <a:solidFill>
            <a:srgbClr val="482816"/>
          </a:solidFill>
          <a:ln w="12700">
            <a:solidFill>
              <a:srgbClr val="482816"/>
            </a:solidFill>
            <a:prstDash val="solid"/>
          </a:ln>
        </p:spPr>
        <p:txBody>
          <a:bodyPr/>
          <a:lstStyle/>
          <a:p>
            <a:endParaRPr lang="es-MX" sz="2400"/>
          </a:p>
        </p:txBody>
      </p:sp>
      <p:sp>
        <p:nvSpPr>
          <p:cNvPr id="36" name="Text 34"/>
          <p:cNvSpPr/>
          <p:nvPr/>
        </p:nvSpPr>
        <p:spPr>
          <a:xfrm>
            <a:off x="7946136" y="3822192"/>
            <a:ext cx="182880" cy="164592"/>
          </a:xfrm>
          <a:prstGeom prst="rect">
            <a:avLst/>
          </a:prstGeom>
          <a:noFill/>
          <a:ln/>
        </p:spPr>
        <p:txBody>
          <a:bodyPr wrap="square" lIns="1016" tIns="1016" rIns="1016" bIns="1016" rtlCol="0" anchor="t">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37" name="Text 35"/>
          <p:cNvSpPr/>
          <p:nvPr/>
        </p:nvSpPr>
        <p:spPr>
          <a:xfrm>
            <a:off x="7498080" y="4361688"/>
            <a:ext cx="1143000" cy="530352"/>
          </a:xfrm>
          <a:prstGeom prst="rect">
            <a:avLst/>
          </a:prstGeom>
          <a:noFill/>
          <a:ln/>
        </p:spPr>
        <p:txBody>
          <a:bodyPr wrap="square" lIns="1016" tIns="1016" rIns="1016" bIns="1016" rtlCol="0" anchor="t">
            <a:normAutofit/>
          </a:bodyPr>
          <a:lstStyle/>
          <a:p>
            <a:pPr marL="0" indent="0" algn="ctr">
              <a:buNone/>
            </a:pPr>
            <a:r>
              <a:rPr lang="en-US" sz="1200" b="1" dirty="0">
                <a:solidFill>
                  <a:srgbClr val="25211E"/>
                </a:solidFill>
                <a:latin typeface="Aptos" pitchFamily="34" charset="0"/>
                <a:ea typeface="Aptos" pitchFamily="34" charset="-122"/>
                <a:cs typeface="Aptos" pitchFamily="34" charset="-120"/>
              </a:rPr>
              <a:t>Cierre</a:t>
            </a:r>
            <a:endParaRPr lang="en-US" sz="1200" b="1" dirty="0"/>
          </a:p>
          <a:p>
            <a:pPr marL="0" indent="0" algn="ctr">
              <a:buNone/>
            </a:pPr>
            <a:r>
              <a:rPr lang="en-US" sz="1200" b="1" dirty="0">
                <a:solidFill>
                  <a:srgbClr val="25211E"/>
                </a:solidFill>
                <a:latin typeface="Aptos" pitchFamily="34" charset="0"/>
                <a:ea typeface="Aptos" pitchFamily="34" charset="-122"/>
                <a:cs typeface="Aptos" pitchFamily="34" charset="-120"/>
              </a:rPr>
              <a:t>y evidencias</a:t>
            </a:r>
            <a:endParaRPr lang="en-US" sz="12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Plan de trabajo QQCC</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200" dirty="0">
                <a:solidFill>
                  <a:srgbClr val="635950"/>
                </a:solidFill>
                <a:latin typeface="Aptos" pitchFamily="34" charset="0"/>
                <a:ea typeface="Aptos" pitchFamily="34" charset="-122"/>
                <a:cs typeface="Aptos" pitchFamily="34" charset="-120"/>
              </a:rPr>
              <a:t>Qué, quién, cuánto y cuándo para el desarrollo incremental.</a:t>
            </a:r>
            <a:endParaRPr lang="en-US" sz="120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b="1"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b="1"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12</a:t>
            </a:r>
            <a:endParaRPr lang="en-US" sz="850" dirty="0"/>
          </a:p>
        </p:txBody>
      </p:sp>
      <p:sp>
        <p:nvSpPr>
          <p:cNvPr id="7" name="Shape 5"/>
          <p:cNvSpPr/>
          <p:nvPr/>
        </p:nvSpPr>
        <p:spPr>
          <a:xfrm>
            <a:off x="502920" y="1225296"/>
            <a:ext cx="2011680" cy="292608"/>
          </a:xfrm>
          <a:prstGeom prst="roundRect">
            <a:avLst>
              <a:gd name="adj" fmla="val 25000"/>
            </a:avLst>
          </a:prstGeom>
          <a:solidFill>
            <a:srgbClr val="482816"/>
          </a:solidFill>
          <a:ln w="12700">
            <a:solidFill>
              <a:srgbClr val="482816"/>
            </a:solidFill>
            <a:prstDash val="solid"/>
          </a:ln>
        </p:spPr>
        <p:txBody>
          <a:bodyPr/>
          <a:lstStyle/>
          <a:p>
            <a:endParaRPr lang="es-MX" sz="3200"/>
          </a:p>
        </p:txBody>
      </p:sp>
      <p:sp>
        <p:nvSpPr>
          <p:cNvPr id="8" name="Text 6"/>
          <p:cNvSpPr/>
          <p:nvPr/>
        </p:nvSpPr>
        <p:spPr>
          <a:xfrm>
            <a:off x="557784" y="1275588"/>
            <a:ext cx="1901952" cy="219456"/>
          </a:xfrm>
          <a:prstGeom prst="rect">
            <a:avLst/>
          </a:prstGeom>
          <a:noFill/>
          <a:ln/>
        </p:spPr>
        <p:txBody>
          <a:bodyPr wrap="square" lIns="1016" tIns="1016" rIns="1016" bIns="1016" rtlCol="0" anchor="t">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Qué</a:t>
            </a:r>
            <a:endParaRPr lang="en-US" sz="1100" dirty="0"/>
          </a:p>
        </p:txBody>
      </p:sp>
      <p:sp>
        <p:nvSpPr>
          <p:cNvPr id="9" name="Shape 7"/>
          <p:cNvSpPr/>
          <p:nvPr/>
        </p:nvSpPr>
        <p:spPr>
          <a:xfrm>
            <a:off x="2743200" y="1225296"/>
            <a:ext cx="1417320" cy="292608"/>
          </a:xfrm>
          <a:prstGeom prst="roundRect">
            <a:avLst>
              <a:gd name="adj" fmla="val 25000"/>
            </a:avLst>
          </a:prstGeom>
          <a:solidFill>
            <a:srgbClr val="482816"/>
          </a:solidFill>
          <a:ln w="12700">
            <a:solidFill>
              <a:srgbClr val="482816"/>
            </a:solidFill>
            <a:prstDash val="solid"/>
          </a:ln>
        </p:spPr>
        <p:txBody>
          <a:bodyPr/>
          <a:lstStyle/>
          <a:p>
            <a:endParaRPr lang="es-MX" sz="3200"/>
          </a:p>
        </p:txBody>
      </p:sp>
      <p:sp>
        <p:nvSpPr>
          <p:cNvPr id="10" name="Text 8"/>
          <p:cNvSpPr/>
          <p:nvPr/>
        </p:nvSpPr>
        <p:spPr>
          <a:xfrm>
            <a:off x="2798064" y="1275588"/>
            <a:ext cx="1307592" cy="219456"/>
          </a:xfrm>
          <a:prstGeom prst="rect">
            <a:avLst/>
          </a:prstGeom>
          <a:noFill/>
          <a:ln/>
        </p:spPr>
        <p:txBody>
          <a:bodyPr wrap="square" lIns="1016" tIns="1016" rIns="1016" bIns="1016" rtlCol="0" anchor="t">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Quién</a:t>
            </a:r>
            <a:endParaRPr lang="en-US" sz="1100" dirty="0"/>
          </a:p>
        </p:txBody>
      </p:sp>
      <p:sp>
        <p:nvSpPr>
          <p:cNvPr id="11" name="Shape 9"/>
          <p:cNvSpPr/>
          <p:nvPr/>
        </p:nvSpPr>
        <p:spPr>
          <a:xfrm>
            <a:off x="4434840" y="1225296"/>
            <a:ext cx="1005840" cy="292608"/>
          </a:xfrm>
          <a:prstGeom prst="roundRect">
            <a:avLst>
              <a:gd name="adj" fmla="val 25000"/>
            </a:avLst>
          </a:prstGeom>
          <a:solidFill>
            <a:srgbClr val="482816"/>
          </a:solidFill>
          <a:ln w="12700">
            <a:solidFill>
              <a:srgbClr val="482816"/>
            </a:solidFill>
            <a:prstDash val="solid"/>
          </a:ln>
        </p:spPr>
        <p:txBody>
          <a:bodyPr/>
          <a:lstStyle/>
          <a:p>
            <a:endParaRPr lang="es-MX" sz="3200"/>
          </a:p>
        </p:txBody>
      </p:sp>
      <p:sp>
        <p:nvSpPr>
          <p:cNvPr id="12" name="Text 10"/>
          <p:cNvSpPr/>
          <p:nvPr/>
        </p:nvSpPr>
        <p:spPr>
          <a:xfrm>
            <a:off x="4489704" y="1275588"/>
            <a:ext cx="896112" cy="219456"/>
          </a:xfrm>
          <a:prstGeom prst="rect">
            <a:avLst/>
          </a:prstGeom>
          <a:noFill/>
          <a:ln/>
        </p:spPr>
        <p:txBody>
          <a:bodyPr wrap="square" lIns="1016" tIns="1016" rIns="1016" bIns="1016" rtlCol="0" anchor="t">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Cuándo</a:t>
            </a:r>
            <a:endParaRPr lang="en-US" sz="1100" dirty="0"/>
          </a:p>
        </p:txBody>
      </p:sp>
      <p:sp>
        <p:nvSpPr>
          <p:cNvPr id="13" name="Shape 11"/>
          <p:cNvSpPr/>
          <p:nvPr/>
        </p:nvSpPr>
        <p:spPr>
          <a:xfrm>
            <a:off x="5715000" y="1225296"/>
            <a:ext cx="2743200" cy="292608"/>
          </a:xfrm>
          <a:prstGeom prst="roundRect">
            <a:avLst>
              <a:gd name="adj" fmla="val 25000"/>
            </a:avLst>
          </a:prstGeom>
          <a:solidFill>
            <a:srgbClr val="482816"/>
          </a:solidFill>
          <a:ln w="12700">
            <a:solidFill>
              <a:srgbClr val="482816"/>
            </a:solidFill>
            <a:prstDash val="solid"/>
          </a:ln>
        </p:spPr>
        <p:txBody>
          <a:bodyPr/>
          <a:lstStyle/>
          <a:p>
            <a:endParaRPr lang="es-MX" sz="3200"/>
          </a:p>
        </p:txBody>
      </p:sp>
      <p:sp>
        <p:nvSpPr>
          <p:cNvPr id="14" name="Text 12"/>
          <p:cNvSpPr/>
          <p:nvPr/>
        </p:nvSpPr>
        <p:spPr>
          <a:xfrm>
            <a:off x="5769864" y="1275588"/>
            <a:ext cx="2633472" cy="219456"/>
          </a:xfrm>
          <a:prstGeom prst="rect">
            <a:avLst/>
          </a:prstGeom>
          <a:noFill/>
          <a:ln/>
        </p:spPr>
        <p:txBody>
          <a:bodyPr wrap="square" lIns="1016" tIns="1016" rIns="1016" bIns="1016" rtlCol="0" anchor="t">
            <a:norm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Cuánto / resultado</a:t>
            </a:r>
            <a:endParaRPr lang="en-US" sz="1100" dirty="0"/>
          </a:p>
        </p:txBody>
      </p:sp>
      <p:sp>
        <p:nvSpPr>
          <p:cNvPr id="15" name="Shape 13"/>
          <p:cNvSpPr/>
          <p:nvPr/>
        </p:nvSpPr>
        <p:spPr>
          <a:xfrm>
            <a:off x="502920" y="1664208"/>
            <a:ext cx="2011680" cy="384048"/>
          </a:xfrm>
          <a:prstGeom prst="rect">
            <a:avLst/>
          </a:prstGeom>
          <a:solidFill>
            <a:srgbClr val="FFFFFF"/>
          </a:solidFill>
          <a:ln w="3810">
            <a:solidFill>
              <a:srgbClr val="D8CDC2"/>
            </a:solidFill>
            <a:prstDash val="solid"/>
          </a:ln>
        </p:spPr>
        <p:txBody>
          <a:bodyPr/>
          <a:lstStyle/>
          <a:p>
            <a:endParaRPr lang="es-MX" sz="3200" b="1"/>
          </a:p>
        </p:txBody>
      </p:sp>
      <p:sp>
        <p:nvSpPr>
          <p:cNvPr id="16" name="Text 14"/>
          <p:cNvSpPr/>
          <p:nvPr/>
        </p:nvSpPr>
        <p:spPr>
          <a:xfrm>
            <a:off x="539496" y="1737360"/>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Definición y alcance</a:t>
            </a:r>
            <a:endParaRPr lang="en-US" sz="1100" b="1" dirty="0"/>
          </a:p>
        </p:txBody>
      </p:sp>
      <p:sp>
        <p:nvSpPr>
          <p:cNvPr id="17" name="Shape 15"/>
          <p:cNvSpPr/>
          <p:nvPr/>
        </p:nvSpPr>
        <p:spPr>
          <a:xfrm>
            <a:off x="2743200" y="1664208"/>
            <a:ext cx="1417320" cy="384048"/>
          </a:xfrm>
          <a:prstGeom prst="rect">
            <a:avLst/>
          </a:prstGeom>
          <a:solidFill>
            <a:srgbClr val="FFFFFF"/>
          </a:solidFill>
          <a:ln w="3810">
            <a:solidFill>
              <a:srgbClr val="D8CDC2"/>
            </a:solidFill>
            <a:prstDash val="solid"/>
          </a:ln>
        </p:spPr>
        <p:txBody>
          <a:bodyPr/>
          <a:lstStyle/>
          <a:p>
            <a:endParaRPr lang="es-MX" sz="3200" b="1"/>
          </a:p>
        </p:txBody>
      </p:sp>
      <p:sp>
        <p:nvSpPr>
          <p:cNvPr id="18" name="Text 16"/>
          <p:cNvSpPr/>
          <p:nvPr/>
        </p:nvSpPr>
        <p:spPr>
          <a:xfrm>
            <a:off x="2779776" y="1737360"/>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Javier + equipo</a:t>
            </a:r>
            <a:endParaRPr lang="en-US" sz="1100" b="1" dirty="0"/>
          </a:p>
        </p:txBody>
      </p:sp>
      <p:sp>
        <p:nvSpPr>
          <p:cNvPr id="19" name="Shape 17"/>
          <p:cNvSpPr/>
          <p:nvPr/>
        </p:nvSpPr>
        <p:spPr>
          <a:xfrm>
            <a:off x="4434840" y="1664208"/>
            <a:ext cx="1005840" cy="384048"/>
          </a:xfrm>
          <a:prstGeom prst="rect">
            <a:avLst/>
          </a:prstGeom>
          <a:solidFill>
            <a:srgbClr val="FFFFFF"/>
          </a:solidFill>
          <a:ln w="3810">
            <a:solidFill>
              <a:srgbClr val="D8CDC2"/>
            </a:solidFill>
            <a:prstDash val="solid"/>
          </a:ln>
        </p:spPr>
        <p:txBody>
          <a:bodyPr/>
          <a:lstStyle/>
          <a:p>
            <a:endParaRPr lang="es-MX" sz="3200" b="1"/>
          </a:p>
        </p:txBody>
      </p:sp>
      <p:sp>
        <p:nvSpPr>
          <p:cNvPr id="20" name="Text 18"/>
          <p:cNvSpPr/>
          <p:nvPr/>
        </p:nvSpPr>
        <p:spPr>
          <a:xfrm>
            <a:off x="4471416" y="1737360"/>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1–3</a:t>
            </a:r>
            <a:endParaRPr lang="en-US" sz="1100" b="1" dirty="0"/>
          </a:p>
        </p:txBody>
      </p:sp>
      <p:sp>
        <p:nvSpPr>
          <p:cNvPr id="21" name="Shape 19"/>
          <p:cNvSpPr/>
          <p:nvPr/>
        </p:nvSpPr>
        <p:spPr>
          <a:xfrm>
            <a:off x="5715000" y="1664208"/>
            <a:ext cx="2743200" cy="384048"/>
          </a:xfrm>
          <a:prstGeom prst="rect">
            <a:avLst/>
          </a:prstGeom>
          <a:solidFill>
            <a:srgbClr val="FFFFFF"/>
          </a:solidFill>
          <a:ln w="3810">
            <a:solidFill>
              <a:srgbClr val="D8CDC2"/>
            </a:solidFill>
            <a:prstDash val="solid"/>
          </a:ln>
        </p:spPr>
        <p:txBody>
          <a:bodyPr/>
          <a:lstStyle/>
          <a:p>
            <a:endParaRPr lang="es-MX" sz="3200" b="1"/>
          </a:p>
        </p:txBody>
      </p:sp>
      <p:sp>
        <p:nvSpPr>
          <p:cNvPr id="22" name="Text 20"/>
          <p:cNvSpPr/>
          <p:nvPr/>
        </p:nvSpPr>
        <p:spPr>
          <a:xfrm>
            <a:off x="5751576" y="1737360"/>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Canvas, requisitos y MVP</a:t>
            </a:r>
            <a:endParaRPr lang="en-US" sz="1100" b="1" dirty="0"/>
          </a:p>
        </p:txBody>
      </p:sp>
      <p:sp>
        <p:nvSpPr>
          <p:cNvPr id="23" name="Shape 21"/>
          <p:cNvSpPr/>
          <p:nvPr/>
        </p:nvSpPr>
        <p:spPr>
          <a:xfrm>
            <a:off x="502920" y="2148840"/>
            <a:ext cx="2011680" cy="384048"/>
          </a:xfrm>
          <a:prstGeom prst="rect">
            <a:avLst/>
          </a:prstGeom>
          <a:solidFill>
            <a:srgbClr val="F3EFE9"/>
          </a:solidFill>
          <a:ln w="3810">
            <a:solidFill>
              <a:srgbClr val="D8CDC2"/>
            </a:solidFill>
            <a:prstDash val="solid"/>
          </a:ln>
        </p:spPr>
        <p:txBody>
          <a:bodyPr/>
          <a:lstStyle/>
          <a:p>
            <a:endParaRPr lang="es-MX" sz="3200" b="1"/>
          </a:p>
        </p:txBody>
      </p:sp>
      <p:sp>
        <p:nvSpPr>
          <p:cNvPr id="24" name="Text 22"/>
          <p:cNvSpPr/>
          <p:nvPr/>
        </p:nvSpPr>
        <p:spPr>
          <a:xfrm>
            <a:off x="539496" y="2221992"/>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Backlog y planificación</a:t>
            </a:r>
            <a:endParaRPr lang="en-US" sz="1100" b="1" dirty="0"/>
          </a:p>
        </p:txBody>
      </p:sp>
      <p:sp>
        <p:nvSpPr>
          <p:cNvPr id="25" name="Shape 23"/>
          <p:cNvSpPr/>
          <p:nvPr/>
        </p:nvSpPr>
        <p:spPr>
          <a:xfrm>
            <a:off x="2743200" y="2148840"/>
            <a:ext cx="1417320" cy="384048"/>
          </a:xfrm>
          <a:prstGeom prst="rect">
            <a:avLst/>
          </a:prstGeom>
          <a:solidFill>
            <a:srgbClr val="F3EFE9"/>
          </a:solidFill>
          <a:ln w="3810">
            <a:solidFill>
              <a:srgbClr val="D8CDC2"/>
            </a:solidFill>
            <a:prstDash val="solid"/>
          </a:ln>
        </p:spPr>
        <p:txBody>
          <a:bodyPr/>
          <a:lstStyle/>
          <a:p>
            <a:endParaRPr lang="es-MX" sz="3200" b="1"/>
          </a:p>
        </p:txBody>
      </p:sp>
      <p:sp>
        <p:nvSpPr>
          <p:cNvPr id="26" name="Text 24"/>
          <p:cNvSpPr/>
          <p:nvPr/>
        </p:nvSpPr>
        <p:spPr>
          <a:xfrm>
            <a:off x="2779776" y="2221992"/>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Javier + equipo</a:t>
            </a:r>
            <a:endParaRPr lang="en-US" sz="1100" b="1" dirty="0"/>
          </a:p>
        </p:txBody>
      </p:sp>
      <p:sp>
        <p:nvSpPr>
          <p:cNvPr id="27" name="Shape 25"/>
          <p:cNvSpPr/>
          <p:nvPr/>
        </p:nvSpPr>
        <p:spPr>
          <a:xfrm>
            <a:off x="4434840" y="2148840"/>
            <a:ext cx="1005840" cy="384048"/>
          </a:xfrm>
          <a:prstGeom prst="rect">
            <a:avLst/>
          </a:prstGeom>
          <a:solidFill>
            <a:srgbClr val="F3EFE9"/>
          </a:solidFill>
          <a:ln w="3810">
            <a:solidFill>
              <a:srgbClr val="D8CDC2"/>
            </a:solidFill>
            <a:prstDash val="solid"/>
          </a:ln>
        </p:spPr>
        <p:txBody>
          <a:bodyPr/>
          <a:lstStyle/>
          <a:p>
            <a:endParaRPr lang="es-MX" sz="3200" b="1"/>
          </a:p>
        </p:txBody>
      </p:sp>
      <p:sp>
        <p:nvSpPr>
          <p:cNvPr id="28" name="Text 26"/>
          <p:cNvSpPr/>
          <p:nvPr/>
        </p:nvSpPr>
        <p:spPr>
          <a:xfrm>
            <a:off x="4471416" y="2221992"/>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2–4</a:t>
            </a:r>
            <a:endParaRPr lang="en-US" sz="1100" b="1" dirty="0"/>
          </a:p>
        </p:txBody>
      </p:sp>
      <p:sp>
        <p:nvSpPr>
          <p:cNvPr id="29" name="Shape 27"/>
          <p:cNvSpPr/>
          <p:nvPr/>
        </p:nvSpPr>
        <p:spPr>
          <a:xfrm>
            <a:off x="5715000" y="2148840"/>
            <a:ext cx="2743200" cy="384048"/>
          </a:xfrm>
          <a:prstGeom prst="rect">
            <a:avLst/>
          </a:prstGeom>
          <a:solidFill>
            <a:srgbClr val="F3EFE9"/>
          </a:solidFill>
          <a:ln w="3810">
            <a:solidFill>
              <a:srgbClr val="D8CDC2"/>
            </a:solidFill>
            <a:prstDash val="solid"/>
          </a:ln>
        </p:spPr>
        <p:txBody>
          <a:bodyPr/>
          <a:lstStyle/>
          <a:p>
            <a:endParaRPr lang="es-MX" sz="3200" b="1"/>
          </a:p>
        </p:txBody>
      </p:sp>
      <p:sp>
        <p:nvSpPr>
          <p:cNvPr id="30" name="Text 28"/>
          <p:cNvSpPr/>
          <p:nvPr/>
        </p:nvSpPr>
        <p:spPr>
          <a:xfrm>
            <a:off x="5751576" y="2221992"/>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Historias, criterios y sprints</a:t>
            </a:r>
            <a:endParaRPr lang="en-US" sz="1100" b="1" dirty="0"/>
          </a:p>
        </p:txBody>
      </p:sp>
      <p:sp>
        <p:nvSpPr>
          <p:cNvPr id="31" name="Shape 29"/>
          <p:cNvSpPr/>
          <p:nvPr/>
        </p:nvSpPr>
        <p:spPr>
          <a:xfrm>
            <a:off x="502920" y="2633472"/>
            <a:ext cx="2011680" cy="384048"/>
          </a:xfrm>
          <a:prstGeom prst="rect">
            <a:avLst/>
          </a:prstGeom>
          <a:solidFill>
            <a:srgbClr val="FFFFFF"/>
          </a:solidFill>
          <a:ln w="3810">
            <a:solidFill>
              <a:srgbClr val="D8CDC2"/>
            </a:solidFill>
            <a:prstDash val="solid"/>
          </a:ln>
        </p:spPr>
        <p:txBody>
          <a:bodyPr/>
          <a:lstStyle/>
          <a:p>
            <a:endParaRPr lang="es-MX" sz="3200" b="1"/>
          </a:p>
        </p:txBody>
      </p:sp>
      <p:sp>
        <p:nvSpPr>
          <p:cNvPr id="32" name="Text 30"/>
          <p:cNvSpPr/>
          <p:nvPr/>
        </p:nvSpPr>
        <p:spPr>
          <a:xfrm>
            <a:off x="539496" y="2706624"/>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Modelo de datos</a:t>
            </a:r>
            <a:endParaRPr lang="en-US" sz="1100" b="1" dirty="0"/>
          </a:p>
        </p:txBody>
      </p:sp>
      <p:sp>
        <p:nvSpPr>
          <p:cNvPr id="33" name="Shape 31"/>
          <p:cNvSpPr/>
          <p:nvPr/>
        </p:nvSpPr>
        <p:spPr>
          <a:xfrm>
            <a:off x="2743200" y="2633472"/>
            <a:ext cx="1417320" cy="384048"/>
          </a:xfrm>
          <a:prstGeom prst="rect">
            <a:avLst/>
          </a:prstGeom>
          <a:solidFill>
            <a:srgbClr val="FFFFFF"/>
          </a:solidFill>
          <a:ln w="3810">
            <a:solidFill>
              <a:srgbClr val="D8CDC2"/>
            </a:solidFill>
            <a:prstDash val="solid"/>
          </a:ln>
        </p:spPr>
        <p:txBody>
          <a:bodyPr/>
          <a:lstStyle/>
          <a:p>
            <a:endParaRPr lang="es-MX" sz="3200" b="1"/>
          </a:p>
        </p:txBody>
      </p:sp>
      <p:sp>
        <p:nvSpPr>
          <p:cNvPr id="34" name="Text 32"/>
          <p:cNvSpPr/>
          <p:nvPr/>
        </p:nvSpPr>
        <p:spPr>
          <a:xfrm>
            <a:off x="2779776" y="2706624"/>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Mauricio</a:t>
            </a:r>
            <a:endParaRPr lang="en-US" sz="1100" b="1" dirty="0"/>
          </a:p>
        </p:txBody>
      </p:sp>
      <p:sp>
        <p:nvSpPr>
          <p:cNvPr id="35" name="Shape 33"/>
          <p:cNvSpPr/>
          <p:nvPr/>
        </p:nvSpPr>
        <p:spPr>
          <a:xfrm>
            <a:off x="4434840" y="2633472"/>
            <a:ext cx="1005840" cy="384048"/>
          </a:xfrm>
          <a:prstGeom prst="rect">
            <a:avLst/>
          </a:prstGeom>
          <a:solidFill>
            <a:srgbClr val="FFFFFF"/>
          </a:solidFill>
          <a:ln w="3810">
            <a:solidFill>
              <a:srgbClr val="D8CDC2"/>
            </a:solidFill>
            <a:prstDash val="solid"/>
          </a:ln>
        </p:spPr>
        <p:txBody>
          <a:bodyPr/>
          <a:lstStyle/>
          <a:p>
            <a:endParaRPr lang="es-MX" sz="3200" b="1"/>
          </a:p>
        </p:txBody>
      </p:sp>
      <p:sp>
        <p:nvSpPr>
          <p:cNvPr id="36" name="Text 34"/>
          <p:cNvSpPr/>
          <p:nvPr/>
        </p:nvSpPr>
        <p:spPr>
          <a:xfrm>
            <a:off x="4471416" y="2706624"/>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3–5</a:t>
            </a:r>
            <a:endParaRPr lang="en-US" sz="1100" b="1" dirty="0"/>
          </a:p>
        </p:txBody>
      </p:sp>
      <p:sp>
        <p:nvSpPr>
          <p:cNvPr id="37" name="Shape 35"/>
          <p:cNvSpPr/>
          <p:nvPr/>
        </p:nvSpPr>
        <p:spPr>
          <a:xfrm>
            <a:off x="5715000" y="2633472"/>
            <a:ext cx="2743200" cy="384048"/>
          </a:xfrm>
          <a:prstGeom prst="rect">
            <a:avLst/>
          </a:prstGeom>
          <a:solidFill>
            <a:srgbClr val="FFFFFF"/>
          </a:solidFill>
          <a:ln w="3810">
            <a:solidFill>
              <a:srgbClr val="D8CDC2"/>
            </a:solidFill>
            <a:prstDash val="solid"/>
          </a:ln>
        </p:spPr>
        <p:txBody>
          <a:bodyPr/>
          <a:lstStyle/>
          <a:p>
            <a:endParaRPr lang="es-MX" sz="3200" b="1"/>
          </a:p>
        </p:txBody>
      </p:sp>
      <p:sp>
        <p:nvSpPr>
          <p:cNvPr id="38" name="Text 36"/>
          <p:cNvSpPr/>
          <p:nvPr/>
        </p:nvSpPr>
        <p:spPr>
          <a:xfrm>
            <a:off x="5751576" y="2706624"/>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DER y reglas de negocio</a:t>
            </a:r>
            <a:endParaRPr lang="en-US" sz="1100" b="1" dirty="0"/>
          </a:p>
        </p:txBody>
      </p:sp>
      <p:sp>
        <p:nvSpPr>
          <p:cNvPr id="39" name="Shape 37"/>
          <p:cNvSpPr/>
          <p:nvPr/>
        </p:nvSpPr>
        <p:spPr>
          <a:xfrm>
            <a:off x="502920" y="3118104"/>
            <a:ext cx="2011680" cy="384048"/>
          </a:xfrm>
          <a:prstGeom prst="rect">
            <a:avLst/>
          </a:prstGeom>
          <a:solidFill>
            <a:srgbClr val="F3EFE9"/>
          </a:solidFill>
          <a:ln w="3810">
            <a:solidFill>
              <a:srgbClr val="D8CDC2"/>
            </a:solidFill>
            <a:prstDash val="solid"/>
          </a:ln>
        </p:spPr>
        <p:txBody>
          <a:bodyPr/>
          <a:lstStyle/>
          <a:p>
            <a:endParaRPr lang="es-MX" sz="3200" b="1"/>
          </a:p>
        </p:txBody>
      </p:sp>
      <p:sp>
        <p:nvSpPr>
          <p:cNvPr id="40" name="Text 38"/>
          <p:cNvSpPr/>
          <p:nvPr/>
        </p:nvSpPr>
        <p:spPr>
          <a:xfrm>
            <a:off x="539496" y="3191256"/>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Backend</a:t>
            </a:r>
            <a:endParaRPr lang="en-US" sz="1100" b="1" dirty="0"/>
          </a:p>
        </p:txBody>
      </p:sp>
      <p:sp>
        <p:nvSpPr>
          <p:cNvPr id="41" name="Shape 39"/>
          <p:cNvSpPr/>
          <p:nvPr/>
        </p:nvSpPr>
        <p:spPr>
          <a:xfrm>
            <a:off x="2743200" y="3118104"/>
            <a:ext cx="1417320" cy="384048"/>
          </a:xfrm>
          <a:prstGeom prst="rect">
            <a:avLst/>
          </a:prstGeom>
          <a:solidFill>
            <a:srgbClr val="F3EFE9"/>
          </a:solidFill>
          <a:ln w="3810">
            <a:solidFill>
              <a:srgbClr val="D8CDC2"/>
            </a:solidFill>
            <a:prstDash val="solid"/>
          </a:ln>
        </p:spPr>
        <p:txBody>
          <a:bodyPr/>
          <a:lstStyle/>
          <a:p>
            <a:endParaRPr lang="es-MX" sz="3200" b="1"/>
          </a:p>
        </p:txBody>
      </p:sp>
      <p:sp>
        <p:nvSpPr>
          <p:cNvPr id="42" name="Text 40"/>
          <p:cNvSpPr/>
          <p:nvPr/>
        </p:nvSpPr>
        <p:spPr>
          <a:xfrm>
            <a:off x="2779776" y="3191256"/>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Mauricio</a:t>
            </a:r>
            <a:endParaRPr lang="en-US" sz="1100" b="1" dirty="0"/>
          </a:p>
        </p:txBody>
      </p:sp>
      <p:sp>
        <p:nvSpPr>
          <p:cNvPr id="43" name="Shape 41"/>
          <p:cNvSpPr/>
          <p:nvPr/>
        </p:nvSpPr>
        <p:spPr>
          <a:xfrm>
            <a:off x="4434840" y="3118104"/>
            <a:ext cx="1005840" cy="384048"/>
          </a:xfrm>
          <a:prstGeom prst="rect">
            <a:avLst/>
          </a:prstGeom>
          <a:solidFill>
            <a:srgbClr val="F3EFE9"/>
          </a:solidFill>
          <a:ln w="3810">
            <a:solidFill>
              <a:srgbClr val="D8CDC2"/>
            </a:solidFill>
            <a:prstDash val="solid"/>
          </a:ln>
        </p:spPr>
        <p:txBody>
          <a:bodyPr/>
          <a:lstStyle/>
          <a:p>
            <a:endParaRPr lang="es-MX" sz="3200" b="1"/>
          </a:p>
        </p:txBody>
      </p:sp>
      <p:sp>
        <p:nvSpPr>
          <p:cNvPr id="44" name="Text 42"/>
          <p:cNvSpPr/>
          <p:nvPr/>
        </p:nvSpPr>
        <p:spPr>
          <a:xfrm>
            <a:off x="4471416" y="3191256"/>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5–10</a:t>
            </a:r>
            <a:endParaRPr lang="en-US" sz="1100" b="1" dirty="0"/>
          </a:p>
        </p:txBody>
      </p:sp>
      <p:sp>
        <p:nvSpPr>
          <p:cNvPr id="45" name="Shape 43"/>
          <p:cNvSpPr/>
          <p:nvPr/>
        </p:nvSpPr>
        <p:spPr>
          <a:xfrm>
            <a:off x="5715000" y="3118104"/>
            <a:ext cx="2743200" cy="384048"/>
          </a:xfrm>
          <a:prstGeom prst="rect">
            <a:avLst/>
          </a:prstGeom>
          <a:solidFill>
            <a:srgbClr val="F3EFE9"/>
          </a:solidFill>
          <a:ln w="3810">
            <a:solidFill>
              <a:srgbClr val="D8CDC2"/>
            </a:solidFill>
            <a:prstDash val="solid"/>
          </a:ln>
        </p:spPr>
        <p:txBody>
          <a:bodyPr/>
          <a:lstStyle/>
          <a:p>
            <a:endParaRPr lang="es-MX" sz="3200" b="1"/>
          </a:p>
        </p:txBody>
      </p:sp>
      <p:sp>
        <p:nvSpPr>
          <p:cNvPr id="46" name="Text 44"/>
          <p:cNvSpPr/>
          <p:nvPr/>
        </p:nvSpPr>
        <p:spPr>
          <a:xfrm>
            <a:off x="5751576" y="3191256"/>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APIs, persistencia y trazabilidad</a:t>
            </a:r>
            <a:endParaRPr lang="en-US" sz="1100" b="1" dirty="0"/>
          </a:p>
        </p:txBody>
      </p:sp>
      <p:sp>
        <p:nvSpPr>
          <p:cNvPr id="47" name="Shape 45"/>
          <p:cNvSpPr/>
          <p:nvPr/>
        </p:nvSpPr>
        <p:spPr>
          <a:xfrm>
            <a:off x="502920" y="3602736"/>
            <a:ext cx="2011680" cy="384048"/>
          </a:xfrm>
          <a:prstGeom prst="rect">
            <a:avLst/>
          </a:prstGeom>
          <a:solidFill>
            <a:srgbClr val="FFFFFF"/>
          </a:solidFill>
          <a:ln w="3810">
            <a:solidFill>
              <a:srgbClr val="D8CDC2"/>
            </a:solidFill>
            <a:prstDash val="solid"/>
          </a:ln>
        </p:spPr>
        <p:txBody>
          <a:bodyPr/>
          <a:lstStyle/>
          <a:p>
            <a:endParaRPr lang="es-MX" sz="3200" b="1"/>
          </a:p>
        </p:txBody>
      </p:sp>
      <p:sp>
        <p:nvSpPr>
          <p:cNvPr id="48" name="Text 46"/>
          <p:cNvSpPr/>
          <p:nvPr/>
        </p:nvSpPr>
        <p:spPr>
          <a:xfrm>
            <a:off x="539496" y="3675888"/>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Frontend responsive</a:t>
            </a:r>
            <a:endParaRPr lang="en-US" sz="1100" b="1" dirty="0"/>
          </a:p>
        </p:txBody>
      </p:sp>
      <p:sp>
        <p:nvSpPr>
          <p:cNvPr id="49" name="Shape 47"/>
          <p:cNvSpPr/>
          <p:nvPr/>
        </p:nvSpPr>
        <p:spPr>
          <a:xfrm>
            <a:off x="2743200" y="3602736"/>
            <a:ext cx="1417320" cy="384048"/>
          </a:xfrm>
          <a:prstGeom prst="rect">
            <a:avLst/>
          </a:prstGeom>
          <a:solidFill>
            <a:srgbClr val="FFFFFF"/>
          </a:solidFill>
          <a:ln w="3810">
            <a:solidFill>
              <a:srgbClr val="D8CDC2"/>
            </a:solidFill>
            <a:prstDash val="solid"/>
          </a:ln>
        </p:spPr>
        <p:txBody>
          <a:bodyPr/>
          <a:lstStyle/>
          <a:p>
            <a:endParaRPr lang="es-MX" sz="3200" b="1"/>
          </a:p>
        </p:txBody>
      </p:sp>
      <p:sp>
        <p:nvSpPr>
          <p:cNvPr id="50" name="Text 48"/>
          <p:cNvSpPr/>
          <p:nvPr/>
        </p:nvSpPr>
        <p:spPr>
          <a:xfrm>
            <a:off x="2779776" y="3675888"/>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Pablo</a:t>
            </a:r>
            <a:endParaRPr lang="en-US" sz="1100" b="1" dirty="0"/>
          </a:p>
        </p:txBody>
      </p:sp>
      <p:sp>
        <p:nvSpPr>
          <p:cNvPr id="51" name="Shape 49"/>
          <p:cNvSpPr/>
          <p:nvPr/>
        </p:nvSpPr>
        <p:spPr>
          <a:xfrm>
            <a:off x="4434840" y="3602736"/>
            <a:ext cx="1005840" cy="384048"/>
          </a:xfrm>
          <a:prstGeom prst="rect">
            <a:avLst/>
          </a:prstGeom>
          <a:solidFill>
            <a:srgbClr val="FFFFFF"/>
          </a:solidFill>
          <a:ln w="3810">
            <a:solidFill>
              <a:srgbClr val="D8CDC2"/>
            </a:solidFill>
            <a:prstDash val="solid"/>
          </a:ln>
        </p:spPr>
        <p:txBody>
          <a:bodyPr/>
          <a:lstStyle/>
          <a:p>
            <a:endParaRPr lang="es-MX" sz="3200" b="1"/>
          </a:p>
        </p:txBody>
      </p:sp>
      <p:sp>
        <p:nvSpPr>
          <p:cNvPr id="52" name="Text 50"/>
          <p:cNvSpPr/>
          <p:nvPr/>
        </p:nvSpPr>
        <p:spPr>
          <a:xfrm>
            <a:off x="4471416" y="3675888"/>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5–10</a:t>
            </a:r>
            <a:endParaRPr lang="en-US" sz="1100" b="1" dirty="0"/>
          </a:p>
        </p:txBody>
      </p:sp>
      <p:sp>
        <p:nvSpPr>
          <p:cNvPr id="53" name="Shape 51"/>
          <p:cNvSpPr/>
          <p:nvPr/>
        </p:nvSpPr>
        <p:spPr>
          <a:xfrm>
            <a:off x="5715000" y="3602736"/>
            <a:ext cx="2743200" cy="384048"/>
          </a:xfrm>
          <a:prstGeom prst="rect">
            <a:avLst/>
          </a:prstGeom>
          <a:solidFill>
            <a:srgbClr val="FFFFFF"/>
          </a:solidFill>
          <a:ln w="3810">
            <a:solidFill>
              <a:srgbClr val="D8CDC2"/>
            </a:solidFill>
            <a:prstDash val="solid"/>
          </a:ln>
        </p:spPr>
        <p:txBody>
          <a:bodyPr/>
          <a:lstStyle/>
          <a:p>
            <a:endParaRPr lang="es-MX" sz="3200" b="1"/>
          </a:p>
        </p:txBody>
      </p:sp>
      <p:sp>
        <p:nvSpPr>
          <p:cNvPr id="54" name="Text 52"/>
          <p:cNvSpPr/>
          <p:nvPr/>
        </p:nvSpPr>
        <p:spPr>
          <a:xfrm>
            <a:off x="5751576" y="3675888"/>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Interfaces PC/celular</a:t>
            </a:r>
            <a:endParaRPr lang="en-US" sz="1100" b="1" dirty="0"/>
          </a:p>
        </p:txBody>
      </p:sp>
      <p:sp>
        <p:nvSpPr>
          <p:cNvPr id="55" name="Shape 53"/>
          <p:cNvSpPr/>
          <p:nvPr/>
        </p:nvSpPr>
        <p:spPr>
          <a:xfrm>
            <a:off x="502920" y="4087368"/>
            <a:ext cx="2011680" cy="384048"/>
          </a:xfrm>
          <a:prstGeom prst="rect">
            <a:avLst/>
          </a:prstGeom>
          <a:solidFill>
            <a:srgbClr val="F3EFE9"/>
          </a:solidFill>
          <a:ln w="3810">
            <a:solidFill>
              <a:srgbClr val="D8CDC2"/>
            </a:solidFill>
            <a:prstDash val="solid"/>
          </a:ln>
        </p:spPr>
        <p:txBody>
          <a:bodyPr/>
          <a:lstStyle/>
          <a:p>
            <a:endParaRPr lang="es-MX" sz="3200" b="1"/>
          </a:p>
        </p:txBody>
      </p:sp>
      <p:sp>
        <p:nvSpPr>
          <p:cNvPr id="56" name="Text 54"/>
          <p:cNvSpPr/>
          <p:nvPr/>
        </p:nvSpPr>
        <p:spPr>
          <a:xfrm>
            <a:off x="539496" y="4160520"/>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Integración y métricas</a:t>
            </a:r>
            <a:endParaRPr lang="en-US" sz="1100" b="1" dirty="0"/>
          </a:p>
        </p:txBody>
      </p:sp>
      <p:sp>
        <p:nvSpPr>
          <p:cNvPr id="57" name="Shape 55"/>
          <p:cNvSpPr/>
          <p:nvPr/>
        </p:nvSpPr>
        <p:spPr>
          <a:xfrm>
            <a:off x="2743200" y="4087368"/>
            <a:ext cx="1417320" cy="384048"/>
          </a:xfrm>
          <a:prstGeom prst="rect">
            <a:avLst/>
          </a:prstGeom>
          <a:solidFill>
            <a:srgbClr val="F3EFE9"/>
          </a:solidFill>
          <a:ln w="3810">
            <a:solidFill>
              <a:srgbClr val="D8CDC2"/>
            </a:solidFill>
            <a:prstDash val="solid"/>
          </a:ln>
        </p:spPr>
        <p:txBody>
          <a:bodyPr/>
          <a:lstStyle/>
          <a:p>
            <a:endParaRPr lang="es-MX" sz="3200" b="1"/>
          </a:p>
        </p:txBody>
      </p:sp>
      <p:sp>
        <p:nvSpPr>
          <p:cNvPr id="58" name="Text 56"/>
          <p:cNvSpPr/>
          <p:nvPr/>
        </p:nvSpPr>
        <p:spPr>
          <a:xfrm>
            <a:off x="2779776" y="4160520"/>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Mauricio + Pablo</a:t>
            </a:r>
            <a:endParaRPr lang="en-US" sz="1100" b="1" dirty="0"/>
          </a:p>
        </p:txBody>
      </p:sp>
      <p:sp>
        <p:nvSpPr>
          <p:cNvPr id="59" name="Shape 57"/>
          <p:cNvSpPr/>
          <p:nvPr/>
        </p:nvSpPr>
        <p:spPr>
          <a:xfrm>
            <a:off x="4434840" y="4087368"/>
            <a:ext cx="1005840" cy="384048"/>
          </a:xfrm>
          <a:prstGeom prst="rect">
            <a:avLst/>
          </a:prstGeom>
          <a:solidFill>
            <a:srgbClr val="F3EFE9"/>
          </a:solidFill>
          <a:ln w="3810">
            <a:solidFill>
              <a:srgbClr val="D8CDC2"/>
            </a:solidFill>
            <a:prstDash val="solid"/>
          </a:ln>
        </p:spPr>
        <p:txBody>
          <a:bodyPr/>
          <a:lstStyle/>
          <a:p>
            <a:endParaRPr lang="es-MX" sz="3200" b="1"/>
          </a:p>
        </p:txBody>
      </p:sp>
      <p:sp>
        <p:nvSpPr>
          <p:cNvPr id="60" name="Text 58"/>
          <p:cNvSpPr/>
          <p:nvPr/>
        </p:nvSpPr>
        <p:spPr>
          <a:xfrm>
            <a:off x="4471416" y="4160520"/>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9–12</a:t>
            </a:r>
            <a:endParaRPr lang="en-US" sz="1100" b="1" dirty="0"/>
          </a:p>
        </p:txBody>
      </p:sp>
      <p:sp>
        <p:nvSpPr>
          <p:cNvPr id="61" name="Shape 59"/>
          <p:cNvSpPr/>
          <p:nvPr/>
        </p:nvSpPr>
        <p:spPr>
          <a:xfrm>
            <a:off x="5715000" y="4087368"/>
            <a:ext cx="2743200" cy="384048"/>
          </a:xfrm>
          <a:prstGeom prst="rect">
            <a:avLst/>
          </a:prstGeom>
          <a:solidFill>
            <a:srgbClr val="F3EFE9"/>
          </a:solidFill>
          <a:ln w="3810">
            <a:solidFill>
              <a:srgbClr val="D8CDC2"/>
            </a:solidFill>
            <a:prstDash val="solid"/>
          </a:ln>
        </p:spPr>
        <p:txBody>
          <a:bodyPr/>
          <a:lstStyle/>
          <a:p>
            <a:endParaRPr lang="es-MX" sz="3200" b="1"/>
          </a:p>
        </p:txBody>
      </p:sp>
      <p:sp>
        <p:nvSpPr>
          <p:cNvPr id="62" name="Text 60"/>
          <p:cNvSpPr/>
          <p:nvPr/>
        </p:nvSpPr>
        <p:spPr>
          <a:xfrm>
            <a:off x="5751576" y="4160520"/>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Cálculos e indicadores</a:t>
            </a:r>
            <a:endParaRPr lang="en-US" sz="1100" b="1" dirty="0"/>
          </a:p>
        </p:txBody>
      </p:sp>
      <p:sp>
        <p:nvSpPr>
          <p:cNvPr id="63" name="Shape 61"/>
          <p:cNvSpPr/>
          <p:nvPr/>
        </p:nvSpPr>
        <p:spPr>
          <a:xfrm>
            <a:off x="502920" y="4572000"/>
            <a:ext cx="2011680" cy="384048"/>
          </a:xfrm>
          <a:prstGeom prst="rect">
            <a:avLst/>
          </a:prstGeom>
          <a:solidFill>
            <a:srgbClr val="FFFFFF"/>
          </a:solidFill>
          <a:ln w="3810">
            <a:solidFill>
              <a:srgbClr val="D8CDC2"/>
            </a:solidFill>
            <a:prstDash val="solid"/>
          </a:ln>
        </p:spPr>
        <p:txBody>
          <a:bodyPr/>
          <a:lstStyle/>
          <a:p>
            <a:endParaRPr lang="es-MX" sz="3200" b="1"/>
          </a:p>
        </p:txBody>
      </p:sp>
      <p:sp>
        <p:nvSpPr>
          <p:cNvPr id="64" name="Text 62"/>
          <p:cNvSpPr/>
          <p:nvPr/>
        </p:nvSpPr>
        <p:spPr>
          <a:xfrm>
            <a:off x="539496" y="4645152"/>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Pruebas y validación</a:t>
            </a:r>
            <a:endParaRPr lang="en-US" sz="1100" b="1" dirty="0"/>
          </a:p>
        </p:txBody>
      </p:sp>
      <p:sp>
        <p:nvSpPr>
          <p:cNvPr id="65" name="Shape 63"/>
          <p:cNvSpPr/>
          <p:nvPr/>
        </p:nvSpPr>
        <p:spPr>
          <a:xfrm>
            <a:off x="2743200" y="4572000"/>
            <a:ext cx="1417320" cy="384048"/>
          </a:xfrm>
          <a:prstGeom prst="rect">
            <a:avLst/>
          </a:prstGeom>
          <a:solidFill>
            <a:srgbClr val="FFFFFF"/>
          </a:solidFill>
          <a:ln w="3810">
            <a:solidFill>
              <a:srgbClr val="D8CDC2"/>
            </a:solidFill>
            <a:prstDash val="solid"/>
          </a:ln>
        </p:spPr>
        <p:txBody>
          <a:bodyPr/>
          <a:lstStyle/>
          <a:p>
            <a:endParaRPr lang="es-MX" sz="3200" b="1"/>
          </a:p>
        </p:txBody>
      </p:sp>
      <p:sp>
        <p:nvSpPr>
          <p:cNvPr id="66" name="Text 64"/>
          <p:cNvSpPr/>
          <p:nvPr/>
        </p:nvSpPr>
        <p:spPr>
          <a:xfrm>
            <a:off x="2779776" y="4645152"/>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Javier + equipo</a:t>
            </a:r>
            <a:endParaRPr lang="en-US" sz="1100" b="1" dirty="0"/>
          </a:p>
        </p:txBody>
      </p:sp>
      <p:sp>
        <p:nvSpPr>
          <p:cNvPr id="67" name="Shape 65"/>
          <p:cNvSpPr/>
          <p:nvPr/>
        </p:nvSpPr>
        <p:spPr>
          <a:xfrm>
            <a:off x="4434840" y="4572000"/>
            <a:ext cx="1005840" cy="384048"/>
          </a:xfrm>
          <a:prstGeom prst="rect">
            <a:avLst/>
          </a:prstGeom>
          <a:solidFill>
            <a:srgbClr val="FFFFFF"/>
          </a:solidFill>
          <a:ln w="3810">
            <a:solidFill>
              <a:srgbClr val="D8CDC2"/>
            </a:solidFill>
            <a:prstDash val="solid"/>
          </a:ln>
        </p:spPr>
        <p:txBody>
          <a:bodyPr/>
          <a:lstStyle/>
          <a:p>
            <a:endParaRPr lang="es-MX" sz="3200" b="1"/>
          </a:p>
        </p:txBody>
      </p:sp>
      <p:sp>
        <p:nvSpPr>
          <p:cNvPr id="68" name="Text 66"/>
          <p:cNvSpPr/>
          <p:nvPr/>
        </p:nvSpPr>
        <p:spPr>
          <a:xfrm>
            <a:off x="4471416" y="4645152"/>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12–15</a:t>
            </a:r>
            <a:endParaRPr lang="en-US" sz="1100" b="1" dirty="0"/>
          </a:p>
        </p:txBody>
      </p:sp>
      <p:sp>
        <p:nvSpPr>
          <p:cNvPr id="69" name="Shape 67"/>
          <p:cNvSpPr/>
          <p:nvPr/>
        </p:nvSpPr>
        <p:spPr>
          <a:xfrm>
            <a:off x="5715000" y="4572000"/>
            <a:ext cx="2743200" cy="384048"/>
          </a:xfrm>
          <a:prstGeom prst="rect">
            <a:avLst/>
          </a:prstGeom>
          <a:solidFill>
            <a:srgbClr val="FFFFFF"/>
          </a:solidFill>
          <a:ln w="3810">
            <a:solidFill>
              <a:srgbClr val="D8CDC2"/>
            </a:solidFill>
            <a:prstDash val="solid"/>
          </a:ln>
        </p:spPr>
        <p:txBody>
          <a:bodyPr/>
          <a:lstStyle/>
          <a:p>
            <a:endParaRPr lang="es-MX" sz="3200" b="1"/>
          </a:p>
        </p:txBody>
      </p:sp>
      <p:sp>
        <p:nvSpPr>
          <p:cNvPr id="70" name="Text 68"/>
          <p:cNvSpPr/>
          <p:nvPr/>
        </p:nvSpPr>
        <p:spPr>
          <a:xfrm>
            <a:off x="5751576" y="4645152"/>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Casos, feedback y ajustes</a:t>
            </a:r>
            <a:endParaRPr lang="en-US" sz="1100" b="1" dirty="0"/>
          </a:p>
        </p:txBody>
      </p:sp>
      <p:sp>
        <p:nvSpPr>
          <p:cNvPr id="71" name="Shape 69"/>
          <p:cNvSpPr/>
          <p:nvPr/>
        </p:nvSpPr>
        <p:spPr>
          <a:xfrm>
            <a:off x="502920" y="5056632"/>
            <a:ext cx="2011680" cy="384048"/>
          </a:xfrm>
          <a:prstGeom prst="rect">
            <a:avLst/>
          </a:prstGeom>
          <a:solidFill>
            <a:srgbClr val="F3EFE9"/>
          </a:solidFill>
          <a:ln w="3810">
            <a:solidFill>
              <a:srgbClr val="D8CDC2"/>
            </a:solidFill>
            <a:prstDash val="solid"/>
          </a:ln>
        </p:spPr>
        <p:txBody>
          <a:bodyPr/>
          <a:lstStyle/>
          <a:p>
            <a:endParaRPr lang="es-MX" sz="3200" b="1"/>
          </a:p>
        </p:txBody>
      </p:sp>
      <p:sp>
        <p:nvSpPr>
          <p:cNvPr id="72" name="Text 70"/>
          <p:cNvSpPr/>
          <p:nvPr/>
        </p:nvSpPr>
        <p:spPr>
          <a:xfrm>
            <a:off x="539496" y="5129784"/>
            <a:ext cx="193852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Cierre y entrega</a:t>
            </a:r>
            <a:endParaRPr lang="en-US" sz="1100" b="1" dirty="0"/>
          </a:p>
        </p:txBody>
      </p:sp>
      <p:sp>
        <p:nvSpPr>
          <p:cNvPr id="73" name="Shape 71"/>
          <p:cNvSpPr/>
          <p:nvPr/>
        </p:nvSpPr>
        <p:spPr>
          <a:xfrm>
            <a:off x="2743200" y="5056632"/>
            <a:ext cx="1417320" cy="384048"/>
          </a:xfrm>
          <a:prstGeom prst="rect">
            <a:avLst/>
          </a:prstGeom>
          <a:solidFill>
            <a:srgbClr val="F3EFE9"/>
          </a:solidFill>
          <a:ln w="3810">
            <a:solidFill>
              <a:srgbClr val="D8CDC2"/>
            </a:solidFill>
            <a:prstDash val="solid"/>
          </a:ln>
        </p:spPr>
        <p:txBody>
          <a:bodyPr/>
          <a:lstStyle/>
          <a:p>
            <a:endParaRPr lang="es-MX" sz="3200" b="1"/>
          </a:p>
        </p:txBody>
      </p:sp>
      <p:sp>
        <p:nvSpPr>
          <p:cNvPr id="74" name="Text 72"/>
          <p:cNvSpPr/>
          <p:nvPr/>
        </p:nvSpPr>
        <p:spPr>
          <a:xfrm>
            <a:off x="2779776" y="5129784"/>
            <a:ext cx="134416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Equipo completo</a:t>
            </a:r>
            <a:endParaRPr lang="en-US" sz="1100" b="1" dirty="0"/>
          </a:p>
        </p:txBody>
      </p:sp>
      <p:sp>
        <p:nvSpPr>
          <p:cNvPr id="75" name="Shape 73"/>
          <p:cNvSpPr/>
          <p:nvPr/>
        </p:nvSpPr>
        <p:spPr>
          <a:xfrm>
            <a:off x="4434840" y="5056632"/>
            <a:ext cx="1005840" cy="384048"/>
          </a:xfrm>
          <a:prstGeom prst="rect">
            <a:avLst/>
          </a:prstGeom>
          <a:solidFill>
            <a:srgbClr val="F3EFE9"/>
          </a:solidFill>
          <a:ln w="3810">
            <a:solidFill>
              <a:srgbClr val="D8CDC2"/>
            </a:solidFill>
            <a:prstDash val="solid"/>
          </a:ln>
        </p:spPr>
        <p:txBody>
          <a:bodyPr/>
          <a:lstStyle/>
          <a:p>
            <a:endParaRPr lang="es-MX" sz="3200" b="1"/>
          </a:p>
        </p:txBody>
      </p:sp>
      <p:sp>
        <p:nvSpPr>
          <p:cNvPr id="76" name="Text 74"/>
          <p:cNvSpPr/>
          <p:nvPr/>
        </p:nvSpPr>
        <p:spPr>
          <a:xfrm>
            <a:off x="4471416" y="5129784"/>
            <a:ext cx="93268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Sem. 15–18</a:t>
            </a:r>
            <a:endParaRPr lang="en-US" sz="1100" b="1" dirty="0"/>
          </a:p>
        </p:txBody>
      </p:sp>
      <p:sp>
        <p:nvSpPr>
          <p:cNvPr id="77" name="Shape 75"/>
          <p:cNvSpPr/>
          <p:nvPr/>
        </p:nvSpPr>
        <p:spPr>
          <a:xfrm>
            <a:off x="5715000" y="5056632"/>
            <a:ext cx="2743200" cy="384048"/>
          </a:xfrm>
          <a:prstGeom prst="rect">
            <a:avLst/>
          </a:prstGeom>
          <a:solidFill>
            <a:srgbClr val="F3EFE9"/>
          </a:solidFill>
          <a:ln w="3810">
            <a:solidFill>
              <a:srgbClr val="D8CDC2"/>
            </a:solidFill>
            <a:prstDash val="solid"/>
          </a:ln>
        </p:spPr>
        <p:txBody>
          <a:bodyPr/>
          <a:lstStyle/>
          <a:p>
            <a:endParaRPr lang="es-MX" sz="3200" b="1"/>
          </a:p>
        </p:txBody>
      </p:sp>
      <p:sp>
        <p:nvSpPr>
          <p:cNvPr id="78" name="Text 76"/>
          <p:cNvSpPr/>
          <p:nvPr/>
        </p:nvSpPr>
        <p:spPr>
          <a:xfrm>
            <a:off x="5751576" y="5129784"/>
            <a:ext cx="2670048" cy="219456"/>
          </a:xfrm>
          <a:prstGeom prst="rect">
            <a:avLst/>
          </a:prstGeom>
          <a:noFill/>
          <a:ln/>
        </p:spPr>
        <p:txBody>
          <a:bodyPr wrap="square" lIns="1016" tIns="1016" rIns="1016" bIns="1016" rtlCol="0" anchor="t">
            <a:normAutofit/>
          </a:bodyPr>
          <a:lstStyle/>
          <a:p>
            <a:pPr marL="0" indent="0" algn="l">
              <a:buNone/>
            </a:pPr>
            <a:r>
              <a:rPr lang="en-US" sz="1100" b="1" dirty="0">
                <a:solidFill>
                  <a:srgbClr val="25211E"/>
                </a:solidFill>
                <a:latin typeface="Aptos" pitchFamily="34" charset="0"/>
                <a:ea typeface="Aptos" pitchFamily="34" charset="-122"/>
                <a:cs typeface="Aptos" pitchFamily="34" charset="-120"/>
              </a:rPr>
              <a:t>Documentación y presentación</a:t>
            </a:r>
            <a:endParaRPr lang="en-US" sz="11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2EC"/>
        </a:solidFill>
        <a:effectLst/>
      </p:bgPr>
    </p:bg>
    <p:spTree>
      <p:nvGrpSpPr>
        <p:cNvPr id="1" name=""/>
        <p:cNvGrpSpPr/>
        <p:nvPr/>
      </p:nvGrpSpPr>
      <p:grpSpPr>
        <a:xfrm>
          <a:off x="0" y="0"/>
          <a:ext cx="0" cy="0"/>
          <a:chOff x="0" y="0"/>
          <a:chExt cx="0" cy="0"/>
        </a:xfrm>
      </p:grpSpPr>
      <p:sp>
        <p:nvSpPr>
          <p:cNvPr id="2" name="Text 0"/>
          <p:cNvSpPr/>
          <p:nvPr/>
        </p:nvSpPr>
        <p:spPr>
          <a:xfrm>
            <a:off x="502920" y="411480"/>
            <a:ext cx="7955280" cy="411480"/>
          </a:xfrm>
          <a:prstGeom prst="rect">
            <a:avLst/>
          </a:prstGeom>
          <a:noFill/>
          <a:ln/>
        </p:spPr>
        <p:txBody>
          <a:bodyPr wrap="square" lIns="0" tIns="0" rIns="0" bIns="0" rtlCol="0" anchor="ctr"/>
          <a:lstStyle/>
          <a:p>
            <a:pPr marL="0" indent="0">
              <a:buNone/>
            </a:pPr>
            <a:r>
              <a:rPr lang="en-US" sz="2700" b="1" dirty="0">
                <a:solidFill>
                  <a:srgbClr val="25211E"/>
                </a:solidFill>
                <a:latin typeface="Aptos Display" pitchFamily="34" charset="0"/>
                <a:ea typeface="Aptos Display" pitchFamily="34" charset="-122"/>
                <a:cs typeface="Aptos Display" pitchFamily="34" charset="-120"/>
              </a:rPr>
              <a:t>Gestión de riesgos</a:t>
            </a:r>
            <a:endParaRPr lang="en-US" sz="2700" dirty="0"/>
          </a:p>
        </p:txBody>
      </p:sp>
      <p:sp>
        <p:nvSpPr>
          <p:cNvPr id="3" name="Text 1"/>
          <p:cNvSpPr/>
          <p:nvPr/>
        </p:nvSpPr>
        <p:spPr>
          <a:xfrm>
            <a:off x="530352" y="868680"/>
            <a:ext cx="7635240" cy="292608"/>
          </a:xfrm>
          <a:prstGeom prst="rect">
            <a:avLst/>
          </a:prstGeom>
          <a:noFill/>
          <a:ln/>
        </p:spPr>
        <p:txBody>
          <a:bodyPr wrap="square" lIns="0" tIns="0" rIns="0" bIns="0" rtlCol="0" anchor="ctr"/>
          <a:lstStyle/>
          <a:p>
            <a:pPr marL="0" indent="0">
              <a:buNone/>
            </a:pPr>
            <a:r>
              <a:rPr lang="en-US" sz="1050" dirty="0">
                <a:solidFill>
                  <a:srgbClr val="635950"/>
                </a:solidFill>
                <a:latin typeface="Aptos" pitchFamily="34" charset="0"/>
                <a:ea typeface="Aptos" pitchFamily="34" charset="-122"/>
                <a:cs typeface="Aptos" pitchFamily="34" charset="-120"/>
              </a:rPr>
              <a:t>Eventos críticos y planes de mitigación.</a:t>
            </a:r>
            <a:endParaRPr lang="en-US" sz="1050" dirty="0"/>
          </a:p>
        </p:txBody>
      </p:sp>
      <p:sp>
        <p:nvSpPr>
          <p:cNvPr id="4" name="Shape 2"/>
          <p:cNvSpPr/>
          <p:nvPr/>
        </p:nvSpPr>
        <p:spPr>
          <a:xfrm>
            <a:off x="502920" y="6473952"/>
            <a:ext cx="8138160" cy="0"/>
          </a:xfrm>
          <a:prstGeom prst="line">
            <a:avLst/>
          </a:prstGeom>
          <a:noFill/>
          <a:ln w="7620">
            <a:solidFill>
              <a:srgbClr val="D8CDC2"/>
            </a:solidFill>
            <a:prstDash val="solid"/>
          </a:ln>
        </p:spPr>
        <p:txBody>
          <a:bodyPr/>
          <a:lstStyle/>
          <a:p>
            <a:endParaRPr lang="es-MX"/>
          </a:p>
        </p:txBody>
      </p:sp>
      <p:sp>
        <p:nvSpPr>
          <p:cNvPr id="5" name="Text 3"/>
          <p:cNvSpPr/>
          <p:nvPr/>
        </p:nvSpPr>
        <p:spPr>
          <a:xfrm>
            <a:off x="502920" y="6556248"/>
            <a:ext cx="6126480" cy="164592"/>
          </a:xfrm>
          <a:prstGeom prst="rect">
            <a:avLst/>
          </a:prstGeom>
          <a:noFill/>
          <a:ln/>
        </p:spPr>
        <p:txBody>
          <a:bodyPr wrap="square" lIns="0" tIns="0" rIns="0" bIns="0" rtlCol="0" anchor="ctr"/>
          <a:lstStyle/>
          <a:p>
            <a:pPr marL="0" indent="0">
              <a:buNone/>
            </a:pPr>
            <a:r>
              <a:rPr lang="en-US" sz="78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780" dirty="0"/>
          </a:p>
        </p:txBody>
      </p:sp>
      <p:sp>
        <p:nvSpPr>
          <p:cNvPr id="6" name="Text 4"/>
          <p:cNvSpPr/>
          <p:nvPr/>
        </p:nvSpPr>
        <p:spPr>
          <a:xfrm>
            <a:off x="8183880" y="6537960"/>
            <a:ext cx="457200" cy="201168"/>
          </a:xfrm>
          <a:prstGeom prst="rect">
            <a:avLst/>
          </a:prstGeom>
          <a:noFill/>
          <a:ln/>
        </p:spPr>
        <p:txBody>
          <a:bodyPr wrap="square" lIns="0" tIns="0" rIns="0" bIns="0" rtlCol="0" anchor="ctr"/>
          <a:lstStyle/>
          <a:p>
            <a:pPr marL="0" indent="0" algn="r">
              <a:buNone/>
            </a:pPr>
            <a:r>
              <a:rPr lang="en-US" sz="850" b="1" dirty="0">
                <a:solidFill>
                  <a:srgbClr val="482816"/>
                </a:solidFill>
                <a:latin typeface="Aptos" pitchFamily="34" charset="0"/>
                <a:ea typeface="Aptos" pitchFamily="34" charset="-122"/>
                <a:cs typeface="Aptos" pitchFamily="34" charset="-120"/>
              </a:rPr>
              <a:t>13</a:t>
            </a:r>
            <a:endParaRPr lang="en-US" sz="850" dirty="0"/>
          </a:p>
        </p:txBody>
      </p:sp>
      <p:sp>
        <p:nvSpPr>
          <p:cNvPr id="7" name="Shape 5"/>
          <p:cNvSpPr/>
          <p:nvPr/>
        </p:nvSpPr>
        <p:spPr>
          <a:xfrm>
            <a:off x="594360" y="132588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8" name="Shape 6"/>
          <p:cNvSpPr/>
          <p:nvPr/>
        </p:nvSpPr>
        <p:spPr>
          <a:xfrm>
            <a:off x="594360" y="132588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9" name="Text 7"/>
          <p:cNvSpPr/>
          <p:nvPr/>
        </p:nvSpPr>
        <p:spPr>
          <a:xfrm>
            <a:off x="758952" y="143560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Disponibilidad de usuarios</a:t>
            </a:r>
            <a:endParaRPr lang="en-US" sz="1600" dirty="0"/>
          </a:p>
        </p:txBody>
      </p:sp>
      <p:sp>
        <p:nvSpPr>
          <p:cNvPr id="10" name="Text 8"/>
          <p:cNvSpPr/>
          <p:nvPr/>
        </p:nvSpPr>
        <p:spPr>
          <a:xfrm>
            <a:off x="758952" y="170992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Calendarizar sesiones breves y preparar preguntas/escenarios antes de cada reunión.</a:t>
            </a:r>
            <a:endParaRPr lang="en-US" sz="1200" dirty="0"/>
          </a:p>
        </p:txBody>
      </p:sp>
      <p:sp>
        <p:nvSpPr>
          <p:cNvPr id="11" name="Shape 9"/>
          <p:cNvSpPr/>
          <p:nvPr/>
        </p:nvSpPr>
        <p:spPr>
          <a:xfrm>
            <a:off x="4754880" y="132588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12" name="Shape 10"/>
          <p:cNvSpPr/>
          <p:nvPr/>
        </p:nvSpPr>
        <p:spPr>
          <a:xfrm>
            <a:off x="4754880" y="132588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13" name="Text 11"/>
          <p:cNvSpPr/>
          <p:nvPr/>
        </p:nvSpPr>
        <p:spPr>
          <a:xfrm>
            <a:off x="4919472" y="143560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Datos históricos incompletos</a:t>
            </a:r>
            <a:endParaRPr lang="en-US" sz="1600" dirty="0"/>
          </a:p>
        </p:txBody>
      </p:sp>
      <p:sp>
        <p:nvSpPr>
          <p:cNvPr id="14" name="Text 12"/>
          <p:cNvSpPr/>
          <p:nvPr/>
        </p:nvSpPr>
        <p:spPr>
          <a:xfrm>
            <a:off x="4919472" y="170992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No inventar montos; levantar línea base inicial durante el piloto.</a:t>
            </a:r>
            <a:endParaRPr lang="en-US" sz="1200" dirty="0"/>
          </a:p>
        </p:txBody>
      </p:sp>
      <p:sp>
        <p:nvSpPr>
          <p:cNvPr id="15" name="Shape 13"/>
          <p:cNvSpPr/>
          <p:nvPr/>
        </p:nvSpPr>
        <p:spPr>
          <a:xfrm>
            <a:off x="594360" y="274320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16" name="Shape 14"/>
          <p:cNvSpPr/>
          <p:nvPr/>
        </p:nvSpPr>
        <p:spPr>
          <a:xfrm>
            <a:off x="594360" y="274320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17" name="Text 15"/>
          <p:cNvSpPr/>
          <p:nvPr/>
        </p:nvSpPr>
        <p:spPr>
          <a:xfrm>
            <a:off x="758952" y="285292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Cambios de alcance</a:t>
            </a:r>
            <a:endParaRPr lang="en-US" sz="1600" dirty="0"/>
          </a:p>
        </p:txBody>
      </p:sp>
      <p:sp>
        <p:nvSpPr>
          <p:cNvPr id="18" name="Text 16"/>
          <p:cNvSpPr/>
          <p:nvPr/>
        </p:nvSpPr>
        <p:spPr>
          <a:xfrm>
            <a:off x="758952" y="312724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Priorizar MVP y registrar cambios en backlog antes de comprometer nuevas funciones.</a:t>
            </a:r>
            <a:endParaRPr lang="en-US" sz="1200" dirty="0"/>
          </a:p>
        </p:txBody>
      </p:sp>
      <p:sp>
        <p:nvSpPr>
          <p:cNvPr id="19" name="Shape 17"/>
          <p:cNvSpPr/>
          <p:nvPr/>
        </p:nvSpPr>
        <p:spPr>
          <a:xfrm>
            <a:off x="4754880" y="274320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0" name="Shape 18"/>
          <p:cNvSpPr/>
          <p:nvPr/>
        </p:nvSpPr>
        <p:spPr>
          <a:xfrm>
            <a:off x="4754880" y="274320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21" name="Text 19"/>
          <p:cNvSpPr/>
          <p:nvPr/>
        </p:nvSpPr>
        <p:spPr>
          <a:xfrm>
            <a:off x="4919472" y="285292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Baja adopción</a:t>
            </a:r>
            <a:endParaRPr lang="en-US" sz="1600" dirty="0"/>
          </a:p>
        </p:txBody>
      </p:sp>
      <p:sp>
        <p:nvSpPr>
          <p:cNvPr id="22" name="Text 20"/>
          <p:cNvSpPr/>
          <p:nvPr/>
        </p:nvSpPr>
        <p:spPr>
          <a:xfrm>
            <a:off x="4919472" y="312724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Capacitación por rol, formularios simples y ajustes según feedback.</a:t>
            </a:r>
            <a:endParaRPr lang="en-US" sz="1200" dirty="0"/>
          </a:p>
        </p:txBody>
      </p:sp>
      <p:sp>
        <p:nvSpPr>
          <p:cNvPr id="23" name="Shape 21"/>
          <p:cNvSpPr/>
          <p:nvPr/>
        </p:nvSpPr>
        <p:spPr>
          <a:xfrm>
            <a:off x="594360" y="416052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4" name="Shape 22"/>
          <p:cNvSpPr/>
          <p:nvPr/>
        </p:nvSpPr>
        <p:spPr>
          <a:xfrm>
            <a:off x="594360" y="416052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25" name="Text 23"/>
          <p:cNvSpPr/>
          <p:nvPr/>
        </p:nvSpPr>
        <p:spPr>
          <a:xfrm>
            <a:off x="758952" y="427024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Inconsistencias en datos</a:t>
            </a:r>
            <a:endParaRPr lang="en-US" sz="1600" dirty="0"/>
          </a:p>
        </p:txBody>
      </p:sp>
      <p:sp>
        <p:nvSpPr>
          <p:cNvPr id="26" name="Text 24"/>
          <p:cNvSpPr/>
          <p:nvPr/>
        </p:nvSpPr>
        <p:spPr>
          <a:xfrm>
            <a:off x="758952" y="454456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Usar datos controlados, validaciones y revisión cruzada antes de pruebas.</a:t>
            </a:r>
            <a:endParaRPr lang="en-US" sz="1200" dirty="0"/>
          </a:p>
        </p:txBody>
      </p:sp>
      <p:sp>
        <p:nvSpPr>
          <p:cNvPr id="27" name="Shape 25"/>
          <p:cNvSpPr/>
          <p:nvPr/>
        </p:nvSpPr>
        <p:spPr>
          <a:xfrm>
            <a:off x="4754880" y="4160520"/>
            <a:ext cx="3749040" cy="932688"/>
          </a:xfrm>
          <a:prstGeom prst="roundRect">
            <a:avLst>
              <a:gd name="adj" fmla="val 5882"/>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000"/>
          </a:p>
        </p:txBody>
      </p:sp>
      <p:sp>
        <p:nvSpPr>
          <p:cNvPr id="28" name="Shape 26"/>
          <p:cNvSpPr/>
          <p:nvPr/>
        </p:nvSpPr>
        <p:spPr>
          <a:xfrm>
            <a:off x="4754880" y="4160520"/>
            <a:ext cx="54864" cy="932688"/>
          </a:xfrm>
          <a:prstGeom prst="rect">
            <a:avLst/>
          </a:prstGeom>
          <a:solidFill>
            <a:srgbClr val="C87B73"/>
          </a:solidFill>
          <a:ln w="12700">
            <a:solidFill>
              <a:srgbClr val="C87B73"/>
            </a:solidFill>
            <a:prstDash val="solid"/>
          </a:ln>
        </p:spPr>
        <p:txBody>
          <a:bodyPr/>
          <a:lstStyle/>
          <a:p>
            <a:endParaRPr lang="es-MX" sz="2000"/>
          </a:p>
        </p:txBody>
      </p:sp>
      <p:sp>
        <p:nvSpPr>
          <p:cNvPr id="29" name="Text 27"/>
          <p:cNvSpPr/>
          <p:nvPr/>
        </p:nvSpPr>
        <p:spPr>
          <a:xfrm>
            <a:off x="4919472" y="4270248"/>
            <a:ext cx="3493008" cy="219456"/>
          </a:xfrm>
          <a:prstGeom prst="rect">
            <a:avLst/>
          </a:prstGeom>
          <a:noFill/>
          <a:ln/>
        </p:spPr>
        <p:txBody>
          <a:bodyPr wrap="square" lIns="1016" tIns="1016" rIns="1016" bIns="1016" rtlCol="0" anchor="t">
            <a:noAutofit/>
          </a:bodyPr>
          <a:lstStyle/>
          <a:p>
            <a:pPr marL="0" indent="0" algn="l">
              <a:buNone/>
            </a:pPr>
            <a:r>
              <a:rPr lang="en-US" sz="1600" b="1" dirty="0">
                <a:solidFill>
                  <a:srgbClr val="C87B73"/>
                </a:solidFill>
                <a:latin typeface="Aptos" pitchFamily="34" charset="0"/>
                <a:ea typeface="Aptos" pitchFamily="34" charset="-122"/>
                <a:cs typeface="Aptos" pitchFamily="34" charset="-120"/>
              </a:rPr>
              <a:t>Sobrecarga técnica</a:t>
            </a:r>
            <a:endParaRPr lang="en-US" sz="1600" dirty="0"/>
          </a:p>
        </p:txBody>
      </p:sp>
      <p:sp>
        <p:nvSpPr>
          <p:cNvPr id="30" name="Text 28"/>
          <p:cNvSpPr/>
          <p:nvPr/>
        </p:nvSpPr>
        <p:spPr>
          <a:xfrm>
            <a:off x="4919472" y="4544568"/>
            <a:ext cx="3493008" cy="438912"/>
          </a:xfrm>
          <a:prstGeom prst="rect">
            <a:avLst/>
          </a:prstGeom>
          <a:noFill/>
          <a:ln/>
        </p:spPr>
        <p:txBody>
          <a:bodyPr wrap="square" lIns="1016" tIns="1016" rIns="1016" bIns="1016" rtlCol="0" anchor="t">
            <a:normAutofit/>
          </a:bodyPr>
          <a:lstStyle/>
          <a:p>
            <a:pPr marL="0" indent="0" algn="l">
              <a:buNone/>
            </a:pPr>
            <a:r>
              <a:rPr lang="en-US" sz="1200" dirty="0">
                <a:solidFill>
                  <a:srgbClr val="25211E"/>
                </a:solidFill>
                <a:latin typeface="Aptos" pitchFamily="34" charset="0"/>
                <a:ea typeface="Aptos" pitchFamily="34" charset="-122"/>
                <a:cs typeface="Aptos" pitchFamily="34" charset="-120"/>
              </a:rPr>
              <a:t>Evitar IA, SII, cámaras inteligentes o integraciones fuera del alcance.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2EC"/>
        </a:solidFill>
        <a:effectLst/>
      </p:bgPr>
    </p:bg>
    <p:spTree>
      <p:nvGrpSpPr>
        <p:cNvPr id="1" name=""/>
        <p:cNvGrpSpPr/>
        <p:nvPr/>
      </p:nvGrpSpPr>
      <p:grpSpPr>
        <a:xfrm>
          <a:off x="0" y="0"/>
          <a:ext cx="0" cy="0"/>
          <a:chOff x="0" y="0"/>
          <a:chExt cx="0" cy="0"/>
        </a:xfrm>
      </p:grpSpPr>
      <p:pic>
        <p:nvPicPr>
          <p:cNvPr id="2" name="Image 0" descr="/mnt/data/ppt_media/ppt/media/image30.png"/>
          <p:cNvPicPr>
            <a:picLocks noChangeAspect="1"/>
          </p:cNvPicPr>
          <p:nvPr/>
        </p:nvPicPr>
        <p:blipFill>
          <a:blip r:embed="rId3"/>
          <a:srcRect t="5000" r="49623" b="5000"/>
          <a:stretch/>
        </p:blipFill>
        <p:spPr>
          <a:xfrm>
            <a:off x="6583680" y="0"/>
            <a:ext cx="2560320" cy="6858000"/>
          </a:xfrm>
          <a:prstGeom prst="rect">
            <a:avLst/>
          </a:prstGeom>
        </p:spPr>
      </p:pic>
      <p:sp>
        <p:nvSpPr>
          <p:cNvPr id="3" name="Text 0"/>
          <p:cNvSpPr/>
          <p:nvPr/>
        </p:nvSpPr>
        <p:spPr>
          <a:xfrm>
            <a:off x="502920" y="411480"/>
            <a:ext cx="5394960" cy="411480"/>
          </a:xfrm>
          <a:prstGeom prst="rect">
            <a:avLst/>
          </a:prstGeom>
          <a:noFill/>
          <a:ln/>
        </p:spPr>
        <p:txBody>
          <a:bodyPr wrap="square" lIns="1016" tIns="1016" rIns="1016" bIns="1016" rtlCol="0" anchor="t">
            <a:normAutofit lnSpcReduction="10000"/>
          </a:bodyPr>
          <a:lstStyle/>
          <a:p>
            <a:pPr marL="0" indent="0" algn="l">
              <a:buNone/>
            </a:pPr>
            <a:r>
              <a:rPr lang="en-US" sz="2700" b="1" dirty="0">
                <a:solidFill>
                  <a:srgbClr val="25211E"/>
                </a:solidFill>
                <a:latin typeface="Aptos Display" pitchFamily="34" charset="0"/>
                <a:ea typeface="Aptos Display" pitchFamily="34" charset="-122"/>
                <a:cs typeface="Aptos Display" pitchFamily="34" charset="-120"/>
              </a:rPr>
              <a:t>Entregables y cierre</a:t>
            </a:r>
            <a:endParaRPr lang="en-US" sz="2700" dirty="0"/>
          </a:p>
        </p:txBody>
      </p:sp>
      <p:sp>
        <p:nvSpPr>
          <p:cNvPr id="4" name="Text 1"/>
          <p:cNvSpPr/>
          <p:nvPr/>
        </p:nvSpPr>
        <p:spPr>
          <a:xfrm>
            <a:off x="530352" y="868680"/>
            <a:ext cx="5212080" cy="292608"/>
          </a:xfrm>
          <a:prstGeom prst="rect">
            <a:avLst/>
          </a:prstGeom>
          <a:noFill/>
          <a:ln/>
        </p:spPr>
        <p:txBody>
          <a:bodyPr wrap="square" lIns="1016" tIns="1016" rIns="1016" bIns="1016" rtlCol="0" anchor="t">
            <a:normAutofit fontScale="92500"/>
          </a:bodyPr>
          <a:lstStyle/>
          <a:p>
            <a:pPr marL="0" indent="0" algn="l">
              <a:buNone/>
            </a:pPr>
            <a:r>
              <a:rPr lang="en-US" sz="1400" dirty="0">
                <a:solidFill>
                  <a:srgbClr val="635950"/>
                </a:solidFill>
                <a:latin typeface="Aptos" pitchFamily="34" charset="0"/>
                <a:ea typeface="Aptos" pitchFamily="34" charset="-122"/>
                <a:cs typeface="Aptos" pitchFamily="34" charset="-120"/>
              </a:rPr>
              <a:t>Evidencias concretas para demostrar el avance y éxito final del proyecto.</a:t>
            </a:r>
            <a:endParaRPr lang="en-US" sz="1400" dirty="0"/>
          </a:p>
        </p:txBody>
      </p:sp>
      <p:sp>
        <p:nvSpPr>
          <p:cNvPr id="5" name="Shape 2"/>
          <p:cNvSpPr/>
          <p:nvPr/>
        </p:nvSpPr>
        <p:spPr>
          <a:xfrm>
            <a:off x="502920" y="6473952"/>
            <a:ext cx="5486400" cy="0"/>
          </a:xfrm>
          <a:prstGeom prst="line">
            <a:avLst/>
          </a:prstGeom>
          <a:noFill/>
          <a:ln w="7620">
            <a:solidFill>
              <a:srgbClr val="D8CDC2"/>
            </a:solidFill>
            <a:prstDash val="solid"/>
          </a:ln>
        </p:spPr>
        <p:txBody>
          <a:bodyPr/>
          <a:lstStyle/>
          <a:p>
            <a:endParaRPr lang="es-MX" sz="2400"/>
          </a:p>
        </p:txBody>
      </p:sp>
      <p:sp>
        <p:nvSpPr>
          <p:cNvPr id="6" name="Text 3"/>
          <p:cNvSpPr/>
          <p:nvPr/>
        </p:nvSpPr>
        <p:spPr>
          <a:xfrm>
            <a:off x="502920" y="6556248"/>
            <a:ext cx="4754880" cy="164592"/>
          </a:xfrm>
          <a:prstGeom prst="rect">
            <a:avLst/>
          </a:prstGeom>
          <a:noFill/>
          <a:ln/>
        </p:spPr>
        <p:txBody>
          <a:bodyPr wrap="square" lIns="0" tIns="0" rIns="0" bIns="0" rtlCol="0" anchor="ctr"/>
          <a:lstStyle/>
          <a:p>
            <a:pPr marL="0" indent="0">
              <a:buNone/>
            </a:pPr>
            <a:r>
              <a:rPr lang="en-US" sz="900" dirty="0">
                <a:solidFill>
                  <a:srgbClr val="635950"/>
                </a:solidFill>
                <a:latin typeface="Aptos" pitchFamily="34" charset="0"/>
                <a:ea typeface="Aptos" pitchFamily="34" charset="-122"/>
                <a:cs typeface="Aptos" pitchFamily="34" charset="-120"/>
              </a:rPr>
              <a:t>Proyecto Capstone · Ingeniería en Informática · Duoc UC Sede Maipú</a:t>
            </a:r>
            <a:endParaRPr lang="en-US" sz="900" dirty="0"/>
          </a:p>
        </p:txBody>
      </p:sp>
      <p:sp>
        <p:nvSpPr>
          <p:cNvPr id="7" name="Text 4"/>
          <p:cNvSpPr/>
          <p:nvPr/>
        </p:nvSpPr>
        <p:spPr>
          <a:xfrm>
            <a:off x="5715000" y="6537960"/>
            <a:ext cx="457200" cy="201168"/>
          </a:xfrm>
          <a:prstGeom prst="rect">
            <a:avLst/>
          </a:prstGeom>
          <a:noFill/>
          <a:ln/>
        </p:spPr>
        <p:txBody>
          <a:bodyPr wrap="square" lIns="0" tIns="0" rIns="0" bIns="0" rtlCol="0" anchor="ctr"/>
          <a:lstStyle/>
          <a:p>
            <a:pPr marL="0" indent="0" algn="r">
              <a:buNone/>
            </a:pPr>
            <a:r>
              <a:rPr lang="en-US" sz="1000" b="1" dirty="0">
                <a:solidFill>
                  <a:srgbClr val="482816"/>
                </a:solidFill>
                <a:latin typeface="Aptos" pitchFamily="34" charset="0"/>
                <a:ea typeface="Aptos" pitchFamily="34" charset="-122"/>
                <a:cs typeface="Aptos" pitchFamily="34" charset="-120"/>
              </a:rPr>
              <a:t>14</a:t>
            </a:r>
            <a:endParaRPr lang="en-US" sz="1000" dirty="0"/>
          </a:p>
        </p:txBody>
      </p:sp>
      <p:sp>
        <p:nvSpPr>
          <p:cNvPr id="8" name="Shape 5"/>
          <p:cNvSpPr/>
          <p:nvPr/>
        </p:nvSpPr>
        <p:spPr>
          <a:xfrm>
            <a:off x="594360" y="1325880"/>
            <a:ext cx="4983480" cy="1371600"/>
          </a:xfrm>
          <a:prstGeom prst="roundRect">
            <a:avLst>
              <a:gd name="adj" fmla="val 4000"/>
            </a:avLst>
          </a:prstGeom>
          <a:solidFill>
            <a:srgbClr val="FFFFFF"/>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9" name="Shape 6"/>
          <p:cNvSpPr/>
          <p:nvPr/>
        </p:nvSpPr>
        <p:spPr>
          <a:xfrm>
            <a:off x="594360" y="1325880"/>
            <a:ext cx="54864" cy="1371600"/>
          </a:xfrm>
          <a:prstGeom prst="rect">
            <a:avLst/>
          </a:prstGeom>
          <a:solidFill>
            <a:srgbClr val="482816"/>
          </a:solidFill>
          <a:ln w="12700">
            <a:solidFill>
              <a:srgbClr val="482816"/>
            </a:solidFill>
            <a:prstDash val="solid"/>
          </a:ln>
        </p:spPr>
        <p:txBody>
          <a:bodyPr/>
          <a:lstStyle/>
          <a:p>
            <a:endParaRPr lang="es-MX" sz="2400"/>
          </a:p>
        </p:txBody>
      </p:sp>
      <p:sp>
        <p:nvSpPr>
          <p:cNvPr id="10" name="Text 7"/>
          <p:cNvSpPr/>
          <p:nvPr/>
        </p:nvSpPr>
        <p:spPr>
          <a:xfrm>
            <a:off x="758952" y="1435608"/>
            <a:ext cx="472744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Avance</a:t>
            </a:r>
            <a:endParaRPr lang="en-US" b="1" dirty="0"/>
          </a:p>
        </p:txBody>
      </p:sp>
      <p:sp>
        <p:nvSpPr>
          <p:cNvPr id="11" name="Text 8"/>
          <p:cNvSpPr/>
          <p:nvPr/>
        </p:nvSpPr>
        <p:spPr>
          <a:xfrm>
            <a:off x="758952" y="1709928"/>
            <a:ext cx="4727448" cy="877824"/>
          </a:xfrm>
          <a:prstGeom prst="rect">
            <a:avLst/>
          </a:prstGeom>
          <a:noFill/>
          <a:ln/>
        </p:spPr>
        <p:txBody>
          <a:bodyPr wrap="square" lIns="1016" tIns="1016" rIns="1016" bIns="1016" rtlCol="0" anchor="t">
            <a:normAutofit/>
          </a:bodyPr>
          <a:lstStyle/>
          <a:p>
            <a:pPr marL="0" indent="0" algn="l">
              <a:buNone/>
            </a:pPr>
            <a:r>
              <a:rPr lang="en-US" sz="1400" b="1" dirty="0">
                <a:solidFill>
                  <a:srgbClr val="25211E"/>
                </a:solidFill>
                <a:latin typeface="Aptos" pitchFamily="34" charset="0"/>
                <a:ea typeface="Aptos" pitchFamily="34" charset="-122"/>
                <a:cs typeface="Aptos" pitchFamily="34" charset="-120"/>
              </a:rPr>
              <a:t>Documento de requerimientos y prototipo de interfaces principales.</a:t>
            </a:r>
            <a:endParaRPr lang="en-US" sz="1400" b="1" dirty="0"/>
          </a:p>
          <a:p>
            <a:pPr marL="0" indent="0" algn="l">
              <a:buNone/>
            </a:pPr>
            <a:endParaRPr lang="en-US" sz="1400" b="1" dirty="0"/>
          </a:p>
          <a:p>
            <a:pPr marL="0" indent="0" algn="l">
              <a:buNone/>
            </a:pPr>
            <a:r>
              <a:rPr lang="en-US" sz="1400" b="1" dirty="0">
                <a:solidFill>
                  <a:srgbClr val="25211E"/>
                </a:solidFill>
                <a:latin typeface="Aptos" pitchFamily="34" charset="0"/>
                <a:ea typeface="Aptos" pitchFamily="34" charset="-122"/>
                <a:cs typeface="Aptos" pitchFamily="34" charset="-120"/>
              </a:rPr>
              <a:t>Modelo de datos y arquitectura inicial.</a:t>
            </a:r>
            <a:endParaRPr lang="en-US" sz="1400" b="1" dirty="0"/>
          </a:p>
        </p:txBody>
      </p:sp>
      <p:sp>
        <p:nvSpPr>
          <p:cNvPr id="12" name="Shape 9"/>
          <p:cNvSpPr/>
          <p:nvPr/>
        </p:nvSpPr>
        <p:spPr>
          <a:xfrm>
            <a:off x="594360" y="2971800"/>
            <a:ext cx="4983480" cy="1371600"/>
          </a:xfrm>
          <a:prstGeom prst="roundRect">
            <a:avLst>
              <a:gd name="adj" fmla="val 4000"/>
            </a:avLst>
          </a:prstGeom>
          <a:solidFill>
            <a:srgbClr val="E7F3DE"/>
          </a:solidFill>
          <a:ln w="12700">
            <a:solidFill>
              <a:srgbClr val="FFFFFF">
                <a:alpha val="0"/>
              </a:srgbClr>
            </a:solidFill>
            <a:prstDash val="solid"/>
          </a:ln>
          <a:effectLst>
            <a:outerShdw blurRad="25400" dist="50800" dir="2700000" algn="bl" rotWithShape="0">
              <a:srgbClr val="B7AA9B">
                <a:alpha val="18000"/>
              </a:srgbClr>
            </a:outerShdw>
          </a:effectLst>
        </p:spPr>
        <p:txBody>
          <a:bodyPr/>
          <a:lstStyle/>
          <a:p>
            <a:endParaRPr lang="es-MX" sz="2400"/>
          </a:p>
        </p:txBody>
      </p:sp>
      <p:sp>
        <p:nvSpPr>
          <p:cNvPr id="13" name="Shape 10"/>
          <p:cNvSpPr/>
          <p:nvPr/>
        </p:nvSpPr>
        <p:spPr>
          <a:xfrm>
            <a:off x="594360" y="2971800"/>
            <a:ext cx="54864" cy="1371600"/>
          </a:xfrm>
          <a:prstGeom prst="rect">
            <a:avLst/>
          </a:prstGeom>
          <a:solidFill>
            <a:srgbClr val="482816"/>
          </a:solidFill>
          <a:ln w="12700">
            <a:solidFill>
              <a:srgbClr val="482816"/>
            </a:solidFill>
            <a:prstDash val="solid"/>
          </a:ln>
        </p:spPr>
        <p:txBody>
          <a:bodyPr/>
          <a:lstStyle/>
          <a:p>
            <a:endParaRPr lang="es-MX" sz="2400"/>
          </a:p>
        </p:txBody>
      </p:sp>
      <p:sp>
        <p:nvSpPr>
          <p:cNvPr id="14" name="Text 11"/>
          <p:cNvSpPr/>
          <p:nvPr/>
        </p:nvSpPr>
        <p:spPr>
          <a:xfrm>
            <a:off x="758952" y="3081528"/>
            <a:ext cx="4727448" cy="219456"/>
          </a:xfrm>
          <a:prstGeom prst="rect">
            <a:avLst/>
          </a:prstGeom>
          <a:noFill/>
          <a:ln/>
        </p:spPr>
        <p:txBody>
          <a:bodyPr wrap="square" lIns="1016" tIns="1016" rIns="1016" bIns="1016" rtlCol="0" anchor="t">
            <a:noAutofit/>
          </a:bodyPr>
          <a:lstStyle/>
          <a:p>
            <a:pPr marL="0" indent="0" algn="l">
              <a:buNone/>
            </a:pPr>
            <a:r>
              <a:rPr lang="en-US" b="1" dirty="0">
                <a:solidFill>
                  <a:srgbClr val="482816"/>
                </a:solidFill>
                <a:latin typeface="Aptos" pitchFamily="34" charset="0"/>
                <a:ea typeface="Aptos" pitchFamily="34" charset="-122"/>
                <a:cs typeface="Aptos" pitchFamily="34" charset="-120"/>
              </a:rPr>
              <a:t>Final</a:t>
            </a:r>
            <a:endParaRPr lang="en-US" dirty="0"/>
          </a:p>
        </p:txBody>
      </p:sp>
      <p:sp>
        <p:nvSpPr>
          <p:cNvPr id="15" name="Text 12"/>
          <p:cNvSpPr/>
          <p:nvPr/>
        </p:nvSpPr>
        <p:spPr>
          <a:xfrm>
            <a:off x="758952" y="3355848"/>
            <a:ext cx="4727448" cy="877824"/>
          </a:xfrm>
          <a:prstGeom prst="rect">
            <a:avLst/>
          </a:prstGeom>
          <a:noFill/>
          <a:ln/>
        </p:spPr>
        <p:txBody>
          <a:bodyPr wrap="square" lIns="1016" tIns="1016" rIns="1016" bIns="1016" rtlCol="0" anchor="t">
            <a:normAutofit/>
          </a:bodyPr>
          <a:lstStyle/>
          <a:p>
            <a:pPr marL="0" indent="0" algn="l">
              <a:buNone/>
            </a:pPr>
            <a:r>
              <a:rPr lang="en-US" sz="1400" b="1" dirty="0">
                <a:solidFill>
                  <a:srgbClr val="25211E"/>
                </a:solidFill>
                <a:latin typeface="Aptos" pitchFamily="34" charset="0"/>
                <a:ea typeface="Aptos" pitchFamily="34" charset="-122"/>
                <a:cs typeface="Aptos" pitchFamily="34" charset="-120"/>
              </a:rPr>
              <a:t>Sistema web funcional con módulos priorizados.</a:t>
            </a:r>
            <a:endParaRPr lang="en-US" sz="1400" b="1" dirty="0"/>
          </a:p>
          <a:p>
            <a:pPr marL="0" indent="0" algn="l">
              <a:buNone/>
            </a:pPr>
            <a:endParaRPr lang="en-US" sz="1400" b="1" dirty="0"/>
          </a:p>
          <a:p>
            <a:pPr marL="0" indent="0" algn="l">
              <a:buNone/>
            </a:pPr>
            <a:r>
              <a:rPr lang="en-US" sz="1400" b="1" dirty="0">
                <a:solidFill>
                  <a:srgbClr val="25211E"/>
                </a:solidFill>
                <a:latin typeface="Aptos" pitchFamily="34" charset="0"/>
                <a:ea typeface="Aptos" pitchFamily="34" charset="-122"/>
                <a:cs typeface="Aptos" pitchFamily="34" charset="-120"/>
              </a:rPr>
              <a:t>Pruebas, métricas, validación con usuario, incidencias y mejoras aplicadas.</a:t>
            </a:r>
            <a:endParaRPr lang="en-US" sz="1400" b="1" dirty="0"/>
          </a:p>
        </p:txBody>
      </p:sp>
      <p:sp>
        <p:nvSpPr>
          <p:cNvPr id="16" name="Text 13"/>
          <p:cNvSpPr/>
          <p:nvPr/>
        </p:nvSpPr>
        <p:spPr>
          <a:xfrm>
            <a:off x="594360" y="4892040"/>
            <a:ext cx="1005840" cy="320040"/>
          </a:xfrm>
          <a:prstGeom prst="rect">
            <a:avLst/>
          </a:prstGeom>
          <a:noFill/>
          <a:ln/>
        </p:spPr>
        <p:txBody>
          <a:bodyPr wrap="square" lIns="1016" tIns="1016" rIns="1016" bIns="1016" rtlCol="0" anchor="t">
            <a:noAutofit/>
          </a:bodyPr>
          <a:lstStyle/>
          <a:p>
            <a:pPr marL="0" indent="0" algn="l">
              <a:buNone/>
            </a:pPr>
            <a:r>
              <a:rPr lang="en-US" sz="2400" b="1" dirty="0">
                <a:solidFill>
                  <a:srgbClr val="482816"/>
                </a:solidFill>
                <a:latin typeface="Aptos" pitchFamily="34" charset="0"/>
                <a:ea typeface="Aptos" pitchFamily="34" charset="-122"/>
                <a:cs typeface="Aptos" pitchFamily="34" charset="-120"/>
              </a:rPr>
              <a:t>Cierre</a:t>
            </a:r>
            <a:endParaRPr lang="en-US" sz="2400" dirty="0"/>
          </a:p>
        </p:txBody>
      </p:sp>
      <p:sp>
        <p:nvSpPr>
          <p:cNvPr id="17" name="Text 14"/>
          <p:cNvSpPr/>
          <p:nvPr/>
        </p:nvSpPr>
        <p:spPr>
          <a:xfrm>
            <a:off x="594360" y="5321808"/>
            <a:ext cx="4846320" cy="658368"/>
          </a:xfrm>
          <a:prstGeom prst="rect">
            <a:avLst/>
          </a:prstGeom>
          <a:noFill/>
          <a:ln/>
        </p:spPr>
        <p:txBody>
          <a:bodyPr wrap="square" lIns="1016" tIns="1016" rIns="1016" bIns="1016" rtlCol="0" anchor="t">
            <a:normAutofit fontScale="92500"/>
          </a:bodyPr>
          <a:lstStyle/>
          <a:p>
            <a:pPr marL="0" indent="0" algn="l">
              <a:buNone/>
            </a:pPr>
            <a:r>
              <a:rPr lang="en-US" sz="1400" b="1" i="1" dirty="0">
                <a:solidFill>
                  <a:srgbClr val="25211E"/>
                </a:solidFill>
                <a:latin typeface="Aptos" pitchFamily="34" charset="0"/>
                <a:ea typeface="Aptos" pitchFamily="34" charset="-122"/>
                <a:cs typeface="Aptos" pitchFamily="34" charset="-120"/>
              </a:rPr>
              <a:t>La solución busca transformar registros manuales y dispersos en información centralizada, medible y trazable para apoyar el control de mercadería y la toma de decisiones.</a:t>
            </a:r>
            <a:endParaRPr lang="en-US" sz="1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367</TotalTime>
  <Words>1734</Words>
  <Application>Microsoft Office PowerPoint</Application>
  <PresentationFormat>Presentación en pantalla (4:3)</PresentationFormat>
  <Paragraphs>273</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Aptos</vt:lpstr>
      <vt:lpstr>Aptos Display</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 - Sede Maipú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y trazabilidad de mercadería en panadería</dc:title>
  <dc:subject>Proyecto Capstone - Opportunity Canvas actualizado</dc:subject>
  <dc:creator>Mauricio Ortega / Javier Molina / Pablo Gonzalez</dc:creator>
  <cp:lastModifiedBy>javier molina</cp:lastModifiedBy>
  <cp:revision>8</cp:revision>
  <dcterms:created xsi:type="dcterms:W3CDTF">2026-09-05T01:51:15Z</dcterms:created>
  <dcterms:modified xsi:type="dcterms:W3CDTF">2026-09-07T02:08:10Z</dcterms:modified>
</cp:coreProperties>
</file>